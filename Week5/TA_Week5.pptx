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83" r:id="rId3"/>
    <p:sldId id="284" r:id="rId4"/>
    <p:sldId id="278" r:id="rId5"/>
    <p:sldId id="259" r:id="rId6"/>
    <p:sldId id="258" r:id="rId7"/>
    <p:sldId id="326" r:id="rId8"/>
    <p:sldId id="327" r:id="rId9"/>
    <p:sldId id="328" r:id="rId10"/>
    <p:sldId id="323" r:id="rId11"/>
    <p:sldId id="324" r:id="rId12"/>
    <p:sldId id="273"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5" d="100"/>
          <a:sy n="135" d="100"/>
        </p:scale>
        <p:origin x="108"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1" Type="http://schemas.openxmlformats.org/officeDocument/2006/relationships/hyperlink" Target="https://www.litcharts.com/literary-devices-and-terms/motif" TargetMode="External"/></Relationships>
</file>

<file path=ppt/diagrams/_rels/drawing1.xml.rels><?xml version="1.0" encoding="UTF-8" standalone="yes"?>
<Relationships xmlns="http://schemas.openxmlformats.org/package/2006/relationships"><Relationship Id="rId1" Type="http://schemas.openxmlformats.org/officeDocument/2006/relationships/hyperlink" Target="https://www.litcharts.com/literary-devices-and-terms/motif" TargetMode="Externa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FB04E0D-456B-48F5-A2A4-6ECE1B9A8EE8}"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F9088CB9-1E8F-414C-8849-09DB9D827312}">
      <dgm:prSet/>
      <dgm:spPr/>
      <dgm:t>
        <a:bodyPr/>
        <a:lstStyle/>
        <a:p>
          <a:r>
            <a:rPr lang="en-CA"/>
            <a:t>All works of literature have themes. The same work can have multiple themes, and many different works explore the same or similar themes.</a:t>
          </a:r>
          <a:endParaRPr lang="en-US"/>
        </a:p>
      </dgm:t>
    </dgm:pt>
    <dgm:pt modelId="{E558FCDE-1210-4C3E-918E-BF3E1609AF19}" type="parTrans" cxnId="{DA506EB2-9A4D-45A5-B56F-8D1407767616}">
      <dgm:prSet/>
      <dgm:spPr/>
      <dgm:t>
        <a:bodyPr/>
        <a:lstStyle/>
        <a:p>
          <a:endParaRPr lang="en-US"/>
        </a:p>
      </dgm:t>
    </dgm:pt>
    <dgm:pt modelId="{1BE71DF3-0EF3-49E6-9764-CD87692C3847}" type="sibTrans" cxnId="{DA506EB2-9A4D-45A5-B56F-8D1407767616}">
      <dgm:prSet/>
      <dgm:spPr/>
      <dgm:t>
        <a:bodyPr/>
        <a:lstStyle/>
        <a:p>
          <a:endParaRPr lang="en-US"/>
        </a:p>
      </dgm:t>
    </dgm:pt>
    <dgm:pt modelId="{D4118A1E-283B-4363-BF47-4F9F380738EF}">
      <dgm:prSet/>
      <dgm:spPr/>
      <dgm:t>
        <a:bodyPr/>
        <a:lstStyle/>
        <a:p>
          <a:r>
            <a:rPr lang="en-CA"/>
            <a:t>Themes are sometimes divided into </a:t>
          </a:r>
          <a:r>
            <a:rPr lang="en-CA" i="1"/>
            <a:t>thematic concepts</a:t>
          </a:r>
          <a:r>
            <a:rPr lang="en-CA"/>
            <a:t> and </a:t>
          </a:r>
          <a:r>
            <a:rPr lang="en-CA" i="1"/>
            <a:t>thematic statements</a:t>
          </a:r>
          <a:r>
            <a:rPr lang="en-CA"/>
            <a:t>. A work's thematic concept is the broader topic it touches upon (love, forgiveness, pain, etc.) while its thematic statement is what the work says about that topic. For example, the thematic concept of a romance novel might be </a:t>
          </a:r>
          <a:r>
            <a:rPr lang="en-CA" i="1"/>
            <a:t>love, </a:t>
          </a:r>
          <a:r>
            <a:rPr lang="en-CA"/>
            <a:t>and, depending on what happens in the story, its thematic statement might be that "Love is blind," or that "You can't buy love</a:t>
          </a:r>
          <a:r>
            <a:rPr lang="en-CA" i="1"/>
            <a:t>.</a:t>
          </a:r>
          <a:r>
            <a:rPr lang="en-CA"/>
            <a:t>"</a:t>
          </a:r>
          <a:endParaRPr lang="en-US"/>
        </a:p>
      </dgm:t>
    </dgm:pt>
    <dgm:pt modelId="{981DF012-E9D9-45D0-A1CF-5D761F4873C1}" type="parTrans" cxnId="{8FC34B7B-A139-4646-953E-2CC3CE5DF062}">
      <dgm:prSet/>
      <dgm:spPr/>
      <dgm:t>
        <a:bodyPr/>
        <a:lstStyle/>
        <a:p>
          <a:endParaRPr lang="en-US"/>
        </a:p>
      </dgm:t>
    </dgm:pt>
    <dgm:pt modelId="{FDCF3E81-2DF1-4E97-97E7-DC7F09E1B134}" type="sibTrans" cxnId="{8FC34B7B-A139-4646-953E-2CC3CE5DF062}">
      <dgm:prSet/>
      <dgm:spPr/>
      <dgm:t>
        <a:bodyPr/>
        <a:lstStyle/>
        <a:p>
          <a:endParaRPr lang="en-US"/>
        </a:p>
      </dgm:t>
    </dgm:pt>
    <dgm:pt modelId="{66902CA1-BA65-4A63-B04B-056B2C05404C}">
      <dgm:prSet/>
      <dgm:spPr/>
      <dgm:t>
        <a:bodyPr/>
        <a:lstStyle/>
        <a:p>
          <a:r>
            <a:rPr lang="en-CA"/>
            <a:t>Themes are almost never stated explicitly. Oftentimes you can identify a work's themes by looking for a repeating symbol, </a:t>
          </a:r>
          <a:r>
            <a:rPr lang="en-CA" b="1">
              <a:hlinkClick xmlns:r="http://schemas.openxmlformats.org/officeDocument/2006/relationships" r:id="rId1"/>
            </a:rPr>
            <a:t>motif</a:t>
          </a:r>
          <a:r>
            <a:rPr lang="en-CA"/>
            <a:t>, or phrase that appears again and again throughout a story, since it often signals a recurring concept or idea.</a:t>
          </a:r>
          <a:endParaRPr lang="en-US"/>
        </a:p>
      </dgm:t>
    </dgm:pt>
    <dgm:pt modelId="{8255147E-EB26-4F92-A6BF-CACDB8D9BFE0}" type="parTrans" cxnId="{D4E01CFA-88F8-4A24-BE68-AF2C072692EC}">
      <dgm:prSet/>
      <dgm:spPr/>
      <dgm:t>
        <a:bodyPr/>
        <a:lstStyle/>
        <a:p>
          <a:endParaRPr lang="en-US"/>
        </a:p>
      </dgm:t>
    </dgm:pt>
    <dgm:pt modelId="{96D41F81-0C71-4E75-90CC-25E5B6E2649F}" type="sibTrans" cxnId="{D4E01CFA-88F8-4A24-BE68-AF2C072692EC}">
      <dgm:prSet/>
      <dgm:spPr/>
      <dgm:t>
        <a:bodyPr/>
        <a:lstStyle/>
        <a:p>
          <a:endParaRPr lang="en-US"/>
        </a:p>
      </dgm:t>
    </dgm:pt>
    <dgm:pt modelId="{E0A9C6CB-8912-4F4B-939E-E66787A04095}" type="pres">
      <dgm:prSet presAssocID="{7FB04E0D-456B-48F5-A2A4-6ECE1B9A8EE8}" presName="linear" presStyleCnt="0">
        <dgm:presLayoutVars>
          <dgm:animLvl val="lvl"/>
          <dgm:resizeHandles val="exact"/>
        </dgm:presLayoutVars>
      </dgm:prSet>
      <dgm:spPr/>
    </dgm:pt>
    <dgm:pt modelId="{7997F069-AF9E-5B4F-BEC0-79A50F15EA0F}" type="pres">
      <dgm:prSet presAssocID="{F9088CB9-1E8F-414C-8849-09DB9D827312}" presName="parentText" presStyleLbl="node1" presStyleIdx="0" presStyleCnt="3">
        <dgm:presLayoutVars>
          <dgm:chMax val="0"/>
          <dgm:bulletEnabled val="1"/>
        </dgm:presLayoutVars>
      </dgm:prSet>
      <dgm:spPr/>
    </dgm:pt>
    <dgm:pt modelId="{C4417040-0F5B-254E-B684-BCB87561D172}" type="pres">
      <dgm:prSet presAssocID="{1BE71DF3-0EF3-49E6-9764-CD87692C3847}" presName="spacer" presStyleCnt="0"/>
      <dgm:spPr/>
    </dgm:pt>
    <dgm:pt modelId="{72BBC166-AFEA-F544-9FFB-DC72E6A882E7}" type="pres">
      <dgm:prSet presAssocID="{D4118A1E-283B-4363-BF47-4F9F380738EF}" presName="parentText" presStyleLbl="node1" presStyleIdx="1" presStyleCnt="3">
        <dgm:presLayoutVars>
          <dgm:chMax val="0"/>
          <dgm:bulletEnabled val="1"/>
        </dgm:presLayoutVars>
      </dgm:prSet>
      <dgm:spPr/>
    </dgm:pt>
    <dgm:pt modelId="{33E498A4-0C53-F445-AC01-D378949696F9}" type="pres">
      <dgm:prSet presAssocID="{FDCF3E81-2DF1-4E97-97E7-DC7F09E1B134}" presName="spacer" presStyleCnt="0"/>
      <dgm:spPr/>
    </dgm:pt>
    <dgm:pt modelId="{D2DA16D1-E4CC-1042-B507-1ABCAAA1FEC7}" type="pres">
      <dgm:prSet presAssocID="{66902CA1-BA65-4A63-B04B-056B2C05404C}" presName="parentText" presStyleLbl="node1" presStyleIdx="2" presStyleCnt="3">
        <dgm:presLayoutVars>
          <dgm:chMax val="0"/>
          <dgm:bulletEnabled val="1"/>
        </dgm:presLayoutVars>
      </dgm:prSet>
      <dgm:spPr/>
    </dgm:pt>
  </dgm:ptLst>
  <dgm:cxnLst>
    <dgm:cxn modelId="{637A4532-30CF-B84D-96FE-5BDFBAD1FDB0}" type="presOf" srcId="{7FB04E0D-456B-48F5-A2A4-6ECE1B9A8EE8}" destId="{E0A9C6CB-8912-4F4B-939E-E66787A04095}" srcOrd="0" destOrd="0" presId="urn:microsoft.com/office/officeart/2005/8/layout/vList2"/>
    <dgm:cxn modelId="{6F9AC86F-3B0D-9E41-8B56-A3E041489E6E}" type="presOf" srcId="{D4118A1E-283B-4363-BF47-4F9F380738EF}" destId="{72BBC166-AFEA-F544-9FFB-DC72E6A882E7}" srcOrd="0" destOrd="0" presId="urn:microsoft.com/office/officeart/2005/8/layout/vList2"/>
    <dgm:cxn modelId="{8FC34B7B-A139-4646-953E-2CC3CE5DF062}" srcId="{7FB04E0D-456B-48F5-A2A4-6ECE1B9A8EE8}" destId="{D4118A1E-283B-4363-BF47-4F9F380738EF}" srcOrd="1" destOrd="0" parTransId="{981DF012-E9D9-45D0-A1CF-5D761F4873C1}" sibTransId="{FDCF3E81-2DF1-4E97-97E7-DC7F09E1B134}"/>
    <dgm:cxn modelId="{153FE084-A537-4A46-A543-98CB8A5A6DA5}" type="presOf" srcId="{F9088CB9-1E8F-414C-8849-09DB9D827312}" destId="{7997F069-AF9E-5B4F-BEC0-79A50F15EA0F}" srcOrd="0" destOrd="0" presId="urn:microsoft.com/office/officeart/2005/8/layout/vList2"/>
    <dgm:cxn modelId="{9525C095-EF10-F049-A92F-5DEA8270AAAC}" type="presOf" srcId="{66902CA1-BA65-4A63-B04B-056B2C05404C}" destId="{D2DA16D1-E4CC-1042-B507-1ABCAAA1FEC7}" srcOrd="0" destOrd="0" presId="urn:microsoft.com/office/officeart/2005/8/layout/vList2"/>
    <dgm:cxn modelId="{DA506EB2-9A4D-45A5-B56F-8D1407767616}" srcId="{7FB04E0D-456B-48F5-A2A4-6ECE1B9A8EE8}" destId="{F9088CB9-1E8F-414C-8849-09DB9D827312}" srcOrd="0" destOrd="0" parTransId="{E558FCDE-1210-4C3E-918E-BF3E1609AF19}" sibTransId="{1BE71DF3-0EF3-49E6-9764-CD87692C3847}"/>
    <dgm:cxn modelId="{D4E01CFA-88F8-4A24-BE68-AF2C072692EC}" srcId="{7FB04E0D-456B-48F5-A2A4-6ECE1B9A8EE8}" destId="{66902CA1-BA65-4A63-B04B-056B2C05404C}" srcOrd="2" destOrd="0" parTransId="{8255147E-EB26-4F92-A6BF-CACDB8D9BFE0}" sibTransId="{96D41F81-0C71-4E75-90CC-25E5B6E2649F}"/>
    <dgm:cxn modelId="{75DA1F1F-69D5-7C48-A7BC-BCF10ECEE4C4}" type="presParOf" srcId="{E0A9C6CB-8912-4F4B-939E-E66787A04095}" destId="{7997F069-AF9E-5B4F-BEC0-79A50F15EA0F}" srcOrd="0" destOrd="0" presId="urn:microsoft.com/office/officeart/2005/8/layout/vList2"/>
    <dgm:cxn modelId="{FF344946-445D-6D4C-8975-1A5666076B37}" type="presParOf" srcId="{E0A9C6CB-8912-4F4B-939E-E66787A04095}" destId="{C4417040-0F5B-254E-B684-BCB87561D172}" srcOrd="1" destOrd="0" presId="urn:microsoft.com/office/officeart/2005/8/layout/vList2"/>
    <dgm:cxn modelId="{C5C0D495-AA8F-D343-B2B5-64F9C5F99B17}" type="presParOf" srcId="{E0A9C6CB-8912-4F4B-939E-E66787A04095}" destId="{72BBC166-AFEA-F544-9FFB-DC72E6A882E7}" srcOrd="2" destOrd="0" presId="urn:microsoft.com/office/officeart/2005/8/layout/vList2"/>
    <dgm:cxn modelId="{331366AC-53CD-9D42-9C8F-62C7E8E6ADFD}" type="presParOf" srcId="{E0A9C6CB-8912-4F4B-939E-E66787A04095}" destId="{33E498A4-0C53-F445-AC01-D378949696F9}" srcOrd="3" destOrd="0" presId="urn:microsoft.com/office/officeart/2005/8/layout/vList2"/>
    <dgm:cxn modelId="{3699933A-81F3-7F4B-9156-A193E8B1EA94}" type="presParOf" srcId="{E0A9C6CB-8912-4F4B-939E-E66787A04095}" destId="{D2DA16D1-E4CC-1042-B507-1ABCAAA1FEC7}"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E610D13-992F-4BAC-AAD6-FEA6B85787D3}" type="doc">
      <dgm:prSet loTypeId="urn:microsoft.com/office/officeart/2005/8/layout/default" loCatId="list" qsTypeId="urn:microsoft.com/office/officeart/2005/8/quickstyle/simple1" qsCatId="simple" csTypeId="urn:microsoft.com/office/officeart/2005/8/colors/colorful2" csCatId="colorful" phldr="1"/>
      <dgm:spPr/>
      <dgm:t>
        <a:bodyPr/>
        <a:lstStyle/>
        <a:p>
          <a:endParaRPr lang="en-US"/>
        </a:p>
      </dgm:t>
    </dgm:pt>
    <dgm:pt modelId="{CCFF98A3-8DA6-4E3E-B080-D8942B9624A2}">
      <dgm:prSet/>
      <dgm:spPr/>
      <dgm:t>
        <a:bodyPr/>
        <a:lstStyle/>
        <a:p>
          <a:r>
            <a:rPr lang="en-US" dirty="0"/>
            <a:t>We are going to read a passage from The Book of Phoenix</a:t>
          </a:r>
        </a:p>
      </dgm:t>
    </dgm:pt>
    <dgm:pt modelId="{B7005D6F-CFB8-481C-A156-059A0052CBC7}" type="parTrans" cxnId="{68627552-1174-4A7C-BB77-909340FDFD8D}">
      <dgm:prSet/>
      <dgm:spPr/>
      <dgm:t>
        <a:bodyPr/>
        <a:lstStyle/>
        <a:p>
          <a:endParaRPr lang="en-US"/>
        </a:p>
      </dgm:t>
    </dgm:pt>
    <dgm:pt modelId="{9971FD0E-DCC1-47A6-9CD0-9602E2DCB4D5}" type="sibTrans" cxnId="{68627552-1174-4A7C-BB77-909340FDFD8D}">
      <dgm:prSet/>
      <dgm:spPr/>
      <dgm:t>
        <a:bodyPr/>
        <a:lstStyle/>
        <a:p>
          <a:endParaRPr lang="en-US"/>
        </a:p>
      </dgm:t>
    </dgm:pt>
    <dgm:pt modelId="{01E060D7-06EC-4CD3-9DBE-6C83C3F78DA0}">
      <dgm:prSet/>
      <dgm:spPr/>
      <dgm:t>
        <a:bodyPr/>
        <a:lstStyle/>
        <a:p>
          <a:r>
            <a:rPr lang="en-US" dirty="0"/>
            <a:t>On your own, you are going to write out your first impressions about this passage – themes or anything else literary worth noting</a:t>
          </a:r>
        </a:p>
      </dgm:t>
    </dgm:pt>
    <dgm:pt modelId="{85FDAB57-621D-4F7A-8EA9-A927CBDD9291}" type="parTrans" cxnId="{0E4F87E9-066D-4F16-A2B3-94A0F866BCB2}">
      <dgm:prSet/>
      <dgm:spPr/>
      <dgm:t>
        <a:bodyPr/>
        <a:lstStyle/>
        <a:p>
          <a:endParaRPr lang="en-US"/>
        </a:p>
      </dgm:t>
    </dgm:pt>
    <dgm:pt modelId="{8061539C-84E2-4E52-A9DE-94CEB5886D90}" type="sibTrans" cxnId="{0E4F87E9-066D-4F16-A2B3-94A0F866BCB2}">
      <dgm:prSet/>
      <dgm:spPr/>
      <dgm:t>
        <a:bodyPr/>
        <a:lstStyle/>
        <a:p>
          <a:endParaRPr lang="en-US"/>
        </a:p>
      </dgm:t>
    </dgm:pt>
    <dgm:pt modelId="{32D7C816-08BA-4998-B949-873FD481A41F}">
      <dgm:prSet/>
      <dgm:spPr/>
      <dgm:t>
        <a:bodyPr/>
        <a:lstStyle/>
        <a:p>
          <a:r>
            <a:rPr lang="en-US" dirty="0"/>
            <a:t>You are going to create a small evidence chart (as per the Acheson reading)</a:t>
          </a:r>
        </a:p>
      </dgm:t>
    </dgm:pt>
    <dgm:pt modelId="{7F71DE8E-A800-490B-8C6C-0CFABF47D7F4}" type="parTrans" cxnId="{02B46753-D3AD-4177-9CFE-AC704E380F61}">
      <dgm:prSet/>
      <dgm:spPr/>
      <dgm:t>
        <a:bodyPr/>
        <a:lstStyle/>
        <a:p>
          <a:endParaRPr lang="en-US"/>
        </a:p>
      </dgm:t>
    </dgm:pt>
    <dgm:pt modelId="{24A78837-BA5D-4CB0-9205-40020A033F04}" type="sibTrans" cxnId="{02B46753-D3AD-4177-9CFE-AC704E380F61}">
      <dgm:prSet/>
      <dgm:spPr/>
      <dgm:t>
        <a:bodyPr/>
        <a:lstStyle/>
        <a:p>
          <a:endParaRPr lang="en-US"/>
        </a:p>
      </dgm:t>
    </dgm:pt>
    <dgm:pt modelId="{6ACCCB0E-F9FE-CA4F-9C7E-E78CF95ED2CF}" type="pres">
      <dgm:prSet presAssocID="{5E610D13-992F-4BAC-AAD6-FEA6B85787D3}" presName="diagram" presStyleCnt="0">
        <dgm:presLayoutVars>
          <dgm:dir/>
          <dgm:resizeHandles val="exact"/>
        </dgm:presLayoutVars>
      </dgm:prSet>
      <dgm:spPr/>
    </dgm:pt>
    <dgm:pt modelId="{04550C8C-9DCF-A94E-B19F-722B8773E110}" type="pres">
      <dgm:prSet presAssocID="{CCFF98A3-8DA6-4E3E-B080-D8942B9624A2}" presName="node" presStyleLbl="node1" presStyleIdx="0" presStyleCnt="3">
        <dgm:presLayoutVars>
          <dgm:bulletEnabled val="1"/>
        </dgm:presLayoutVars>
      </dgm:prSet>
      <dgm:spPr/>
    </dgm:pt>
    <dgm:pt modelId="{635B9C5E-A4ED-5648-9560-F7279EBCAB82}" type="pres">
      <dgm:prSet presAssocID="{9971FD0E-DCC1-47A6-9CD0-9602E2DCB4D5}" presName="sibTrans" presStyleCnt="0"/>
      <dgm:spPr/>
    </dgm:pt>
    <dgm:pt modelId="{D9FBED50-3178-A54F-9B7B-27E1AB441D18}" type="pres">
      <dgm:prSet presAssocID="{01E060D7-06EC-4CD3-9DBE-6C83C3F78DA0}" presName="node" presStyleLbl="node1" presStyleIdx="1" presStyleCnt="3">
        <dgm:presLayoutVars>
          <dgm:bulletEnabled val="1"/>
        </dgm:presLayoutVars>
      </dgm:prSet>
      <dgm:spPr/>
    </dgm:pt>
    <dgm:pt modelId="{FB45FEE5-C843-4C49-B471-111B8AEC35B7}" type="pres">
      <dgm:prSet presAssocID="{8061539C-84E2-4E52-A9DE-94CEB5886D90}" presName="sibTrans" presStyleCnt="0"/>
      <dgm:spPr/>
    </dgm:pt>
    <dgm:pt modelId="{CC28BDF7-90E8-974A-808F-F6F071685891}" type="pres">
      <dgm:prSet presAssocID="{32D7C816-08BA-4998-B949-873FD481A41F}" presName="node" presStyleLbl="node1" presStyleIdx="2" presStyleCnt="3">
        <dgm:presLayoutVars>
          <dgm:bulletEnabled val="1"/>
        </dgm:presLayoutVars>
      </dgm:prSet>
      <dgm:spPr/>
    </dgm:pt>
  </dgm:ptLst>
  <dgm:cxnLst>
    <dgm:cxn modelId="{3F59C118-AABD-904A-A322-9214F3FDC36C}" type="presOf" srcId="{5E610D13-992F-4BAC-AAD6-FEA6B85787D3}" destId="{6ACCCB0E-F9FE-CA4F-9C7E-E78CF95ED2CF}" srcOrd="0" destOrd="0" presId="urn:microsoft.com/office/officeart/2005/8/layout/default"/>
    <dgm:cxn modelId="{F11B8962-896F-204C-819D-3E2340B14177}" type="presOf" srcId="{01E060D7-06EC-4CD3-9DBE-6C83C3F78DA0}" destId="{D9FBED50-3178-A54F-9B7B-27E1AB441D18}" srcOrd="0" destOrd="0" presId="urn:microsoft.com/office/officeart/2005/8/layout/default"/>
    <dgm:cxn modelId="{426F4466-6563-5245-914E-7A5E78516ED9}" type="presOf" srcId="{CCFF98A3-8DA6-4E3E-B080-D8942B9624A2}" destId="{04550C8C-9DCF-A94E-B19F-722B8773E110}" srcOrd="0" destOrd="0" presId="urn:microsoft.com/office/officeart/2005/8/layout/default"/>
    <dgm:cxn modelId="{68627552-1174-4A7C-BB77-909340FDFD8D}" srcId="{5E610D13-992F-4BAC-AAD6-FEA6B85787D3}" destId="{CCFF98A3-8DA6-4E3E-B080-D8942B9624A2}" srcOrd="0" destOrd="0" parTransId="{B7005D6F-CFB8-481C-A156-059A0052CBC7}" sibTransId="{9971FD0E-DCC1-47A6-9CD0-9602E2DCB4D5}"/>
    <dgm:cxn modelId="{02B46753-D3AD-4177-9CFE-AC704E380F61}" srcId="{5E610D13-992F-4BAC-AAD6-FEA6B85787D3}" destId="{32D7C816-08BA-4998-B949-873FD481A41F}" srcOrd="2" destOrd="0" parTransId="{7F71DE8E-A800-490B-8C6C-0CFABF47D7F4}" sibTransId="{24A78837-BA5D-4CB0-9205-40020A033F04}"/>
    <dgm:cxn modelId="{F04A9D86-C6D7-994F-B2F4-1AA80781A8E7}" type="presOf" srcId="{32D7C816-08BA-4998-B949-873FD481A41F}" destId="{CC28BDF7-90E8-974A-808F-F6F071685891}" srcOrd="0" destOrd="0" presId="urn:microsoft.com/office/officeart/2005/8/layout/default"/>
    <dgm:cxn modelId="{0E4F87E9-066D-4F16-A2B3-94A0F866BCB2}" srcId="{5E610D13-992F-4BAC-AAD6-FEA6B85787D3}" destId="{01E060D7-06EC-4CD3-9DBE-6C83C3F78DA0}" srcOrd="1" destOrd="0" parTransId="{85FDAB57-621D-4F7A-8EA9-A927CBDD9291}" sibTransId="{8061539C-84E2-4E52-A9DE-94CEB5886D90}"/>
    <dgm:cxn modelId="{4A9901ED-114F-7849-8CFE-192B797883FD}" type="presParOf" srcId="{6ACCCB0E-F9FE-CA4F-9C7E-E78CF95ED2CF}" destId="{04550C8C-9DCF-A94E-B19F-722B8773E110}" srcOrd="0" destOrd="0" presId="urn:microsoft.com/office/officeart/2005/8/layout/default"/>
    <dgm:cxn modelId="{D6AF55C7-FAA6-AC43-AF07-427B28A47F18}" type="presParOf" srcId="{6ACCCB0E-F9FE-CA4F-9C7E-E78CF95ED2CF}" destId="{635B9C5E-A4ED-5648-9560-F7279EBCAB82}" srcOrd="1" destOrd="0" presId="urn:microsoft.com/office/officeart/2005/8/layout/default"/>
    <dgm:cxn modelId="{56E98759-5902-D942-A586-2FF8048DC65D}" type="presParOf" srcId="{6ACCCB0E-F9FE-CA4F-9C7E-E78CF95ED2CF}" destId="{D9FBED50-3178-A54F-9B7B-27E1AB441D18}" srcOrd="2" destOrd="0" presId="urn:microsoft.com/office/officeart/2005/8/layout/default"/>
    <dgm:cxn modelId="{E6538810-31B9-594A-BF06-DBDC638AE9E0}" type="presParOf" srcId="{6ACCCB0E-F9FE-CA4F-9C7E-E78CF95ED2CF}" destId="{FB45FEE5-C843-4C49-B471-111B8AEC35B7}" srcOrd="3" destOrd="0" presId="urn:microsoft.com/office/officeart/2005/8/layout/default"/>
    <dgm:cxn modelId="{9D31740F-1743-EB44-8187-BD09EDB9C727}" type="presParOf" srcId="{6ACCCB0E-F9FE-CA4F-9C7E-E78CF95ED2CF}" destId="{CC28BDF7-90E8-974A-808F-F6F071685891}" srcOrd="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97F069-AF9E-5B4F-BEC0-79A50F15EA0F}">
      <dsp:nvSpPr>
        <dsp:cNvPr id="0" name=""/>
        <dsp:cNvSpPr/>
      </dsp:nvSpPr>
      <dsp:spPr>
        <a:xfrm>
          <a:off x="0" y="175807"/>
          <a:ext cx="5000125" cy="1223234"/>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CA" sz="1200" kern="1200"/>
            <a:t>All works of literature have themes. The same work can have multiple themes, and many different works explore the same or similar themes.</a:t>
          </a:r>
          <a:endParaRPr lang="en-US" sz="1200" kern="1200"/>
        </a:p>
      </dsp:txBody>
      <dsp:txXfrm>
        <a:off x="59713" y="235520"/>
        <a:ext cx="4880699" cy="1103808"/>
      </dsp:txXfrm>
    </dsp:sp>
    <dsp:sp modelId="{72BBC166-AFEA-F544-9FFB-DC72E6A882E7}">
      <dsp:nvSpPr>
        <dsp:cNvPr id="0" name=""/>
        <dsp:cNvSpPr/>
      </dsp:nvSpPr>
      <dsp:spPr>
        <a:xfrm>
          <a:off x="0" y="1433602"/>
          <a:ext cx="5000125" cy="1223234"/>
        </a:xfrm>
        <a:prstGeom prst="roundRect">
          <a:avLst/>
        </a:prstGeom>
        <a:gradFill rotWithShape="0">
          <a:gsLst>
            <a:gs pos="0">
              <a:schemeClr val="accent2">
                <a:hueOff val="-727682"/>
                <a:satOff val="-41964"/>
                <a:lumOff val="4314"/>
                <a:alphaOff val="0"/>
                <a:satMod val="103000"/>
                <a:lumMod val="102000"/>
                <a:tint val="94000"/>
              </a:schemeClr>
            </a:gs>
            <a:gs pos="50000">
              <a:schemeClr val="accent2">
                <a:hueOff val="-727682"/>
                <a:satOff val="-41964"/>
                <a:lumOff val="4314"/>
                <a:alphaOff val="0"/>
                <a:satMod val="110000"/>
                <a:lumMod val="100000"/>
                <a:shade val="100000"/>
              </a:schemeClr>
            </a:gs>
            <a:gs pos="100000">
              <a:schemeClr val="accent2">
                <a:hueOff val="-727682"/>
                <a:satOff val="-41964"/>
                <a:lumOff val="431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CA" sz="1200" kern="1200"/>
            <a:t>Themes are sometimes divided into </a:t>
          </a:r>
          <a:r>
            <a:rPr lang="en-CA" sz="1200" i="1" kern="1200"/>
            <a:t>thematic concepts</a:t>
          </a:r>
          <a:r>
            <a:rPr lang="en-CA" sz="1200" kern="1200"/>
            <a:t> and </a:t>
          </a:r>
          <a:r>
            <a:rPr lang="en-CA" sz="1200" i="1" kern="1200"/>
            <a:t>thematic statements</a:t>
          </a:r>
          <a:r>
            <a:rPr lang="en-CA" sz="1200" kern="1200"/>
            <a:t>. A work's thematic concept is the broader topic it touches upon (love, forgiveness, pain, etc.) while its thematic statement is what the work says about that topic. For example, the thematic concept of a romance novel might be </a:t>
          </a:r>
          <a:r>
            <a:rPr lang="en-CA" sz="1200" i="1" kern="1200"/>
            <a:t>love, </a:t>
          </a:r>
          <a:r>
            <a:rPr lang="en-CA" sz="1200" kern="1200"/>
            <a:t>and, depending on what happens in the story, its thematic statement might be that "Love is blind," or that "You can't buy love</a:t>
          </a:r>
          <a:r>
            <a:rPr lang="en-CA" sz="1200" i="1" kern="1200"/>
            <a:t>.</a:t>
          </a:r>
          <a:r>
            <a:rPr lang="en-CA" sz="1200" kern="1200"/>
            <a:t>"</a:t>
          </a:r>
          <a:endParaRPr lang="en-US" sz="1200" kern="1200"/>
        </a:p>
      </dsp:txBody>
      <dsp:txXfrm>
        <a:off x="59713" y="1493315"/>
        <a:ext cx="4880699" cy="1103808"/>
      </dsp:txXfrm>
    </dsp:sp>
    <dsp:sp modelId="{D2DA16D1-E4CC-1042-B507-1ABCAAA1FEC7}">
      <dsp:nvSpPr>
        <dsp:cNvPr id="0" name=""/>
        <dsp:cNvSpPr/>
      </dsp:nvSpPr>
      <dsp:spPr>
        <a:xfrm>
          <a:off x="0" y="2691397"/>
          <a:ext cx="5000125" cy="1223234"/>
        </a:xfrm>
        <a:prstGeom prst="roundRect">
          <a:avLst/>
        </a:prstGeom>
        <a:gradFill rotWithShape="0">
          <a:gsLst>
            <a:gs pos="0">
              <a:schemeClr val="accent2">
                <a:hueOff val="-1455363"/>
                <a:satOff val="-83928"/>
                <a:lumOff val="8628"/>
                <a:alphaOff val="0"/>
                <a:satMod val="103000"/>
                <a:lumMod val="102000"/>
                <a:tint val="94000"/>
              </a:schemeClr>
            </a:gs>
            <a:gs pos="50000">
              <a:schemeClr val="accent2">
                <a:hueOff val="-1455363"/>
                <a:satOff val="-83928"/>
                <a:lumOff val="8628"/>
                <a:alphaOff val="0"/>
                <a:satMod val="110000"/>
                <a:lumMod val="100000"/>
                <a:shade val="100000"/>
              </a:schemeClr>
            </a:gs>
            <a:gs pos="100000">
              <a:schemeClr val="accent2">
                <a:hueOff val="-1455363"/>
                <a:satOff val="-83928"/>
                <a:lumOff val="8628"/>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CA" sz="1200" kern="1200"/>
            <a:t>Themes are almost never stated explicitly. Oftentimes you can identify a work's themes by looking for a repeating symbol, </a:t>
          </a:r>
          <a:r>
            <a:rPr lang="en-CA" sz="1200" b="1" kern="1200">
              <a:hlinkClick xmlns:r="http://schemas.openxmlformats.org/officeDocument/2006/relationships" r:id="rId1"/>
            </a:rPr>
            <a:t>motif</a:t>
          </a:r>
          <a:r>
            <a:rPr lang="en-CA" sz="1200" kern="1200"/>
            <a:t>, or phrase that appears again and again throughout a story, since it often signals a recurring concept or idea.</a:t>
          </a:r>
          <a:endParaRPr lang="en-US" sz="1200" kern="1200"/>
        </a:p>
      </dsp:txBody>
      <dsp:txXfrm>
        <a:off x="59713" y="2751110"/>
        <a:ext cx="4880699" cy="110380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550C8C-9DCF-A94E-B19F-722B8773E110}">
      <dsp:nvSpPr>
        <dsp:cNvPr id="0" name=""/>
        <dsp:cNvSpPr/>
      </dsp:nvSpPr>
      <dsp:spPr>
        <a:xfrm>
          <a:off x="0" y="803938"/>
          <a:ext cx="2561210" cy="1536726"/>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We are going to read a passage from The Book of Phoenix</a:t>
          </a:r>
        </a:p>
      </dsp:txBody>
      <dsp:txXfrm>
        <a:off x="0" y="803938"/>
        <a:ext cx="2561210" cy="1536726"/>
      </dsp:txXfrm>
    </dsp:sp>
    <dsp:sp modelId="{D9FBED50-3178-A54F-9B7B-27E1AB441D18}">
      <dsp:nvSpPr>
        <dsp:cNvPr id="0" name=""/>
        <dsp:cNvSpPr/>
      </dsp:nvSpPr>
      <dsp:spPr>
        <a:xfrm>
          <a:off x="2817330" y="803938"/>
          <a:ext cx="2561210" cy="1536726"/>
        </a:xfrm>
        <a:prstGeom prst="rect">
          <a:avLst/>
        </a:prstGeom>
        <a:solidFill>
          <a:schemeClr val="accent2">
            <a:hueOff val="-727682"/>
            <a:satOff val="-41964"/>
            <a:lumOff val="4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On your own, you are going to write out your first impressions about this passage – themes or anything else literary worth noting</a:t>
          </a:r>
        </a:p>
      </dsp:txBody>
      <dsp:txXfrm>
        <a:off x="2817330" y="803938"/>
        <a:ext cx="2561210" cy="1536726"/>
      </dsp:txXfrm>
    </dsp:sp>
    <dsp:sp modelId="{CC28BDF7-90E8-974A-808F-F6F071685891}">
      <dsp:nvSpPr>
        <dsp:cNvPr id="0" name=""/>
        <dsp:cNvSpPr/>
      </dsp:nvSpPr>
      <dsp:spPr>
        <a:xfrm>
          <a:off x="5634662" y="803938"/>
          <a:ext cx="2561210" cy="1536726"/>
        </a:xfrm>
        <a:prstGeom prst="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You are going to create a small evidence chart (as per the Acheson reading)</a:t>
          </a:r>
        </a:p>
      </dsp:txBody>
      <dsp:txXfrm>
        <a:off x="5634662" y="803938"/>
        <a:ext cx="2561210" cy="153672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41313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47B822-A592-6CEE-84C6-B9DBE23C06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0F920E-AEB6-C90D-90C8-6C9DC1F729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92BCC7-7C91-CD8D-62B6-78589349053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7807A15-A46D-2DAA-D0CA-7115030C54F0}"/>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4716527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B0277-584A-E636-ED6D-0BC085124E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2163DF-A6CC-F56D-1147-665B15DD42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7A5932-A764-835E-5664-4E62C61D2FB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038130-1806-B16D-F1C2-D309818323B3}"/>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7880633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A3FF3-0EB4-73F9-3CE5-0A48D71FA0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61DD7F-5284-E574-0899-0C54B3F72B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AA3412-FBFD-DED5-D90C-B4A34EC958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DB2FEB-2270-81B7-01FD-897934098131}"/>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5038219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-10 minute writing prompt</a:t>
            </a:r>
          </a:p>
          <a:p>
            <a:r>
              <a:rPr lang="en-US" dirty="0"/>
              <a:t>Phoenix Themes – confinement/freedom, self-identity, liberation, evolution, Storytelling (this is a story within a story), and technology</a:t>
            </a:r>
          </a:p>
          <a:p>
            <a:endParaRPr lang="en-US" dirty="0"/>
          </a:p>
          <a:p>
            <a:r>
              <a:rPr lang="en-US" dirty="0"/>
              <a:t>Babel Main ideas – the universe is ultimately unknowable; some understanding spurs on the desire to find out more; Related to the ‘Tower of Babel’ story from the Bible wherein god splits humans into different places and gives them different languages so that they stop trying to work together to create things that rival god.</a:t>
            </a:r>
          </a:p>
          <a:p>
            <a:r>
              <a:rPr lang="en-US" dirty="0"/>
              <a:t>Babel Themes: Seeking; Belief vs. Disbelief; Religious conflict; Geometric ‘perfection’; Meaning vs. meaninglessness; structure of knowledge (we must know one thing before we can know another); limits to human conception</a:t>
            </a:r>
          </a:p>
          <a:p>
            <a:endParaRPr lang="en-US" dirty="0"/>
          </a:p>
        </p:txBody>
      </p:sp>
      <p:sp>
        <p:nvSpPr>
          <p:cNvPr id="4" name="Slide Number Placeholder 3"/>
          <p:cNvSpPr>
            <a:spLocks noGrp="1"/>
          </p:cNvSpPr>
          <p:nvPr>
            <p:ph type="sldNum" sz="quarter" idx="5"/>
          </p:nvPr>
        </p:nvSpPr>
        <p:spPr/>
        <p:txBody>
          <a:bodyPr/>
          <a:lstStyle/>
          <a:p>
            <a:fld id="{37061242-7FE9-4242-8AB1-E961F21F8E49}" type="slidenum">
              <a:rPr lang="en-US" smtClean="0"/>
              <a:t>6</a:t>
            </a:fld>
            <a:endParaRPr lang="en-US"/>
          </a:p>
        </p:txBody>
      </p:sp>
    </p:spTree>
    <p:extLst>
      <p:ext uri="{BB962C8B-B14F-4D97-AF65-F5344CB8AC3E}">
        <p14:creationId xmlns:p14="http://schemas.microsoft.com/office/powerpoint/2010/main" val="34850879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266D38A-0E40-4849-B809-6766167723DC}" type="slidenum">
              <a:rPr lang="en-US" smtClean="0"/>
              <a:t>7</a:t>
            </a:fld>
            <a:endParaRPr lang="en-US"/>
          </a:p>
        </p:txBody>
      </p:sp>
    </p:spTree>
    <p:extLst>
      <p:ext uri="{BB962C8B-B14F-4D97-AF65-F5344CB8AC3E}">
        <p14:creationId xmlns:p14="http://schemas.microsoft.com/office/powerpoint/2010/main" val="23647429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266D38A-0E40-4849-B809-6766167723DC}" type="slidenum">
              <a:rPr lang="en-US" smtClean="0"/>
              <a:t>8</a:t>
            </a:fld>
            <a:endParaRPr lang="en-US"/>
          </a:p>
        </p:txBody>
      </p:sp>
    </p:spTree>
    <p:extLst>
      <p:ext uri="{BB962C8B-B14F-4D97-AF65-F5344CB8AC3E}">
        <p14:creationId xmlns:p14="http://schemas.microsoft.com/office/powerpoint/2010/main" val="18066215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228600" indent="-228600">
              <a:buAutoNum type="arabicParenR"/>
            </a:pPr>
            <a:endParaRPr lang="en-US" dirty="0"/>
          </a:p>
        </p:txBody>
      </p:sp>
      <p:sp>
        <p:nvSpPr>
          <p:cNvPr id="4" name="Slide Number Placeholder 3"/>
          <p:cNvSpPr>
            <a:spLocks noGrp="1"/>
          </p:cNvSpPr>
          <p:nvPr>
            <p:ph type="sldNum" sz="quarter" idx="5"/>
          </p:nvPr>
        </p:nvSpPr>
        <p:spPr/>
        <p:txBody>
          <a:bodyPr/>
          <a:lstStyle/>
          <a:p>
            <a:fld id="{37061242-7FE9-4242-8AB1-E961F21F8E49}" type="slidenum">
              <a:rPr lang="en-US" smtClean="0"/>
              <a:t>9</a:t>
            </a:fld>
            <a:endParaRPr lang="en-US"/>
          </a:p>
        </p:txBody>
      </p:sp>
    </p:spTree>
    <p:extLst>
      <p:ext uri="{BB962C8B-B14F-4D97-AF65-F5344CB8AC3E}">
        <p14:creationId xmlns:p14="http://schemas.microsoft.com/office/powerpoint/2010/main" val="9594442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this out, talk to your </a:t>
            </a:r>
            <a:r>
              <a:rPr lang="en-US" dirty="0" err="1"/>
              <a:t>neighbour</a:t>
            </a:r>
            <a:r>
              <a:rPr lang="en-US" dirty="0"/>
              <a:t> (groups of 2 or 3) and then we will discuss our findings as a class</a:t>
            </a:r>
          </a:p>
        </p:txBody>
      </p:sp>
      <p:sp>
        <p:nvSpPr>
          <p:cNvPr id="4" name="Slide Number Placeholder 3"/>
          <p:cNvSpPr>
            <a:spLocks noGrp="1"/>
          </p:cNvSpPr>
          <p:nvPr>
            <p:ph type="sldNum" sz="quarter" idx="5"/>
          </p:nvPr>
        </p:nvSpPr>
        <p:spPr/>
        <p:txBody>
          <a:bodyPr/>
          <a:lstStyle/>
          <a:p>
            <a:fld id="{F266D38A-0E40-4849-B809-6766167723DC}" type="slidenum">
              <a:rPr lang="en-US" smtClean="0"/>
              <a:t>11</a:t>
            </a:fld>
            <a:endParaRPr lang="en-US"/>
          </a:p>
        </p:txBody>
      </p:sp>
    </p:spTree>
    <p:extLst>
      <p:ext uri="{BB962C8B-B14F-4D97-AF65-F5344CB8AC3E}">
        <p14:creationId xmlns:p14="http://schemas.microsoft.com/office/powerpoint/2010/main" val="32577838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(Purdue OWL) is widely regarded as one of the most authoritative and practical academic writing resources available.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155E0-D6E8-6B26-079D-8E7FBAE745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148A163-7518-6309-C324-0325FA40B63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0470AE-19EA-B02E-CAC4-D0C0932E101D}"/>
              </a:ext>
            </a:extLst>
          </p:cNvPr>
          <p:cNvSpPr>
            <a:spLocks noGrp="1"/>
          </p:cNvSpPr>
          <p:nvPr>
            <p:ph type="dt" sz="half" idx="10"/>
          </p:nvPr>
        </p:nvSpPr>
        <p:spPr/>
        <p:txBody>
          <a:bodyPr/>
          <a:lstStyle/>
          <a:p>
            <a:fld id="{FFD397C1-E84A-9346-BFAA-3B0DFD18A9DE}" type="datetimeFigureOut">
              <a:rPr lang="en-US" smtClean="0"/>
              <a:t>2/4/2026</a:t>
            </a:fld>
            <a:endParaRPr lang="en-US"/>
          </a:p>
        </p:txBody>
      </p:sp>
      <p:sp>
        <p:nvSpPr>
          <p:cNvPr id="5" name="Footer Placeholder 4">
            <a:extLst>
              <a:ext uri="{FF2B5EF4-FFF2-40B4-BE49-F238E27FC236}">
                <a16:creationId xmlns:a16="http://schemas.microsoft.com/office/drawing/2014/main" id="{1695786C-0D94-65FA-F537-52C7EA2133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A84800-317F-B4D7-F18A-31B533FBB2A3}"/>
              </a:ext>
            </a:extLst>
          </p:cNvPr>
          <p:cNvSpPr>
            <a:spLocks noGrp="1"/>
          </p:cNvSpPr>
          <p:nvPr>
            <p:ph type="sldNum" sz="quarter" idx="12"/>
          </p:nvPr>
        </p:nvSpPr>
        <p:spPr/>
        <p:txBody>
          <a:bodyPr/>
          <a:lstStyle/>
          <a:p>
            <a:fld id="{45AC68A3-4988-554D-AA73-3ED5A28D05B4}" type="slidenum">
              <a:rPr lang="en-US" smtClean="0"/>
              <a:t>‹#›</a:t>
            </a:fld>
            <a:endParaRPr lang="en-US"/>
          </a:p>
        </p:txBody>
      </p:sp>
    </p:spTree>
    <p:extLst>
      <p:ext uri="{BB962C8B-B14F-4D97-AF65-F5344CB8AC3E}">
        <p14:creationId xmlns:p14="http://schemas.microsoft.com/office/powerpoint/2010/main" val="338808202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s://canvas.ubc.ca/courses/179607/files/43797021?wrap=1"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hyperlink" Target="https://docs.google.com/document/d/1ivRm3RtELvlMPR0EycmPy_Bzi0Rd1ZilCOF9LtZafDQ/edit?tab=t.0"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hyperlink" Target="https://owl.purdue.edu/"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243888" y="1131888"/>
            <a:ext cx="900112" cy="1131887"/>
          </a:xfrm>
          <a:prstGeom prst="rect">
            <a:avLst/>
          </a:prstGeom>
          <a:solidFill>
            <a:srgbClr val="002040"/>
          </a:solidFill>
          <a:ln/>
        </p:spPr>
        <p:txBody>
          <a:bodyPr/>
          <a:lstStyle/>
          <a:p>
            <a:endParaRPr lang="en-CA"/>
          </a:p>
        </p:txBody>
      </p:sp>
      <p:sp>
        <p:nvSpPr>
          <p:cNvPr id="4" name="Text 1"/>
          <p:cNvSpPr/>
          <p:nvPr/>
        </p:nvSpPr>
        <p:spPr>
          <a:xfrm>
            <a:off x="800100" y="3143249"/>
            <a:ext cx="6952284" cy="866775"/>
          </a:xfrm>
          <a:prstGeom prst="rect">
            <a:avLst/>
          </a:prstGeom>
          <a:noFill/>
          <a:ln/>
        </p:spPr>
        <p:txBody>
          <a:bodyPr wrap="square" rtlCol="0" anchor="ctr"/>
          <a:lstStyle/>
          <a:p>
            <a:pPr marL="0" indent="0" algn="l">
              <a:lnSpc>
                <a:spcPts val="2063"/>
              </a:lnSpc>
              <a:buNone/>
            </a:pPr>
            <a:r>
              <a:rPr lang="en-US" sz="1238">
                <a:solidFill>
                  <a:srgbClr val="002040">
                    <a:alpha val="99000"/>
                  </a:srgbClr>
                </a:solidFill>
                <a:latin typeface="Inter" pitchFamily="34" charset="0"/>
                <a:ea typeface="Inter" pitchFamily="34" charset="-122"/>
                <a:cs typeface="Inter" pitchFamily="34" charset="-120"/>
              </a:rPr>
              <a:t>Week 5 </a:t>
            </a:r>
            <a:r>
              <a:rPr lang="en-US" sz="1238" dirty="0">
                <a:solidFill>
                  <a:srgbClr val="002040">
                    <a:alpha val="99000"/>
                  </a:srgbClr>
                </a:solidFill>
                <a:latin typeface="Inter" pitchFamily="34" charset="0"/>
                <a:ea typeface="Inter" pitchFamily="34" charset="-122"/>
                <a:cs typeface="Inter" pitchFamily="34" charset="-120"/>
              </a:rPr>
              <a:t>Tutorial</a:t>
            </a:r>
            <a:endParaRPr lang="en-US" sz="1238" dirty="0"/>
          </a:p>
          <a:p>
            <a:pPr marL="0" indent="0" algn="l">
              <a:lnSpc>
                <a:spcPts val="2063"/>
              </a:lnSpc>
              <a:buNone/>
            </a:pPr>
            <a:r>
              <a:rPr lang="en-US" sz="1238" dirty="0">
                <a:solidFill>
                  <a:srgbClr val="002040">
                    <a:alpha val="99000"/>
                  </a:srgbClr>
                </a:solidFill>
                <a:latin typeface="Inter" pitchFamily="34" charset="0"/>
                <a:ea typeface="Inter" pitchFamily="34" charset="-122"/>
                <a:cs typeface="Inter" pitchFamily="34" charset="-120"/>
              </a:rPr>
              <a:t>Zhehao Sun</a:t>
            </a:r>
            <a:endParaRPr lang="en-US" sz="1238" dirty="0"/>
          </a:p>
          <a:p>
            <a:pPr>
              <a:lnSpc>
                <a:spcPts val="2063"/>
              </a:lnSpc>
            </a:pPr>
            <a:r>
              <a:rPr lang="en-US" sz="1238" dirty="0">
                <a:solidFill>
                  <a:srgbClr val="002040">
                    <a:alpha val="99000"/>
                  </a:srgbClr>
                </a:solidFill>
                <a:latin typeface="Inter" pitchFamily="34" charset="0"/>
                <a:ea typeface="Inter" pitchFamily="34" charset="-122"/>
                <a:cs typeface="Inter" pitchFamily="34" charset="-120"/>
              </a:rPr>
              <a:t>Contact: zhehao.sun@ubc.ca</a:t>
            </a:r>
            <a:endParaRPr lang="en-US" sz="1238" dirty="0"/>
          </a:p>
        </p:txBody>
      </p:sp>
      <p:sp>
        <p:nvSpPr>
          <p:cNvPr id="5" name="Text 2"/>
          <p:cNvSpPr/>
          <p:nvPr/>
        </p:nvSpPr>
        <p:spPr>
          <a:xfrm>
            <a:off x="809625" y="1133475"/>
            <a:ext cx="7891463" cy="1571625"/>
          </a:xfrm>
          <a:prstGeom prst="rect">
            <a:avLst/>
          </a:prstGeom>
          <a:noFill/>
          <a:ln/>
        </p:spPr>
        <p:txBody>
          <a:bodyPr wrap="square" rtlCol="0" anchor="ctr"/>
          <a:lstStyle/>
          <a:p>
            <a:pPr marL="0" indent="0" algn="l">
              <a:lnSpc>
                <a:spcPts val="4331"/>
              </a:lnSpc>
              <a:buNone/>
            </a:pPr>
            <a:r>
              <a:rPr lang="en-US" sz="2888" b="1" dirty="0">
                <a:solidFill>
                  <a:srgbClr val="0077C8">
                    <a:alpha val="99000"/>
                  </a:srgbClr>
                </a:solidFill>
                <a:latin typeface="Poppins" pitchFamily="34" charset="0"/>
                <a:ea typeface="Poppins" pitchFamily="34" charset="-122"/>
                <a:cs typeface="Poppins" pitchFamily="34" charset="-120"/>
              </a:rPr>
              <a:t>ENGL/ DIHU 155</a:t>
            </a:r>
            <a:endParaRPr lang="en-US" sz="2888" dirty="0"/>
          </a:p>
          <a:p>
            <a:pPr marL="0" indent="0" algn="l">
              <a:lnSpc>
                <a:spcPts val="4331"/>
              </a:lnSpc>
              <a:buNone/>
            </a:pPr>
            <a:r>
              <a:rPr lang="en-US" sz="2888" b="1" dirty="0">
                <a:solidFill>
                  <a:srgbClr val="0077C8">
                    <a:alpha val="99000"/>
                  </a:srgbClr>
                </a:solidFill>
                <a:latin typeface="Poppins" pitchFamily="34" charset="0"/>
                <a:ea typeface="Poppins" pitchFamily="34" charset="-122"/>
                <a:cs typeface="Poppins" pitchFamily="34" charset="-120"/>
              </a:rPr>
              <a:t>Reading, Writing, and Making with Technology in the Humanities</a:t>
            </a:r>
            <a:endParaRPr lang="en-US" sz="2888"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043ECE8B-6978-0514-F1CF-9066E625B37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82A142B-DDC8-1AA1-B8B0-AB02AB0D9617}"/>
              </a:ext>
            </a:extLst>
          </p:cNvPr>
          <p:cNvSpPr/>
          <p:nvPr/>
        </p:nvSpPr>
        <p:spPr>
          <a:xfrm rot="10800000">
            <a:off x="8586788" y="4729163"/>
            <a:ext cx="304800" cy="192087"/>
          </a:xfrm>
          <a:prstGeom prst="rect">
            <a:avLst/>
          </a:prstGeom>
          <a:noFill/>
          <a:ln/>
        </p:spPr>
        <p:txBody>
          <a:bodyPr/>
          <a:lstStyle/>
          <a:p>
            <a:endParaRPr lang="en-CA"/>
          </a:p>
        </p:txBody>
      </p:sp>
      <p:sp>
        <p:nvSpPr>
          <p:cNvPr id="3" name="Shape 1">
            <a:extLst>
              <a:ext uri="{FF2B5EF4-FFF2-40B4-BE49-F238E27FC236}">
                <a16:creationId xmlns:a16="http://schemas.microsoft.com/office/drawing/2014/main" id="{771DE183-E15E-0F1F-819C-65F3A12F2D0F}"/>
              </a:ext>
            </a:extLst>
          </p:cNvPr>
          <p:cNvSpPr/>
          <p:nvPr/>
        </p:nvSpPr>
        <p:spPr>
          <a:xfrm>
            <a:off x="8623" y="469004"/>
            <a:ext cx="9134748" cy="572700"/>
          </a:xfrm>
          <a:prstGeom prst="rect">
            <a:avLst/>
          </a:prstGeom>
          <a:noFill/>
          <a:ln/>
        </p:spPr>
        <p:txBody>
          <a:bodyPr/>
          <a:lstStyle/>
          <a:p>
            <a:endParaRPr lang="en-CA"/>
          </a:p>
        </p:txBody>
      </p:sp>
      <p:sp>
        <p:nvSpPr>
          <p:cNvPr id="4" name="Shape 2">
            <a:extLst>
              <a:ext uri="{FF2B5EF4-FFF2-40B4-BE49-F238E27FC236}">
                <a16:creationId xmlns:a16="http://schemas.microsoft.com/office/drawing/2014/main" id="{4C60D0A5-DFAE-6FC7-0140-DAF6048CDCA2}"/>
              </a:ext>
            </a:extLst>
          </p:cNvPr>
          <p:cNvSpPr/>
          <p:nvPr/>
        </p:nvSpPr>
        <p:spPr>
          <a:xfrm>
            <a:off x="639128" y="1046230"/>
            <a:ext cx="7863935" cy="3303392"/>
          </a:xfrm>
          <a:prstGeom prst="rect">
            <a:avLst/>
          </a:prstGeom>
          <a:noFill/>
          <a:ln/>
        </p:spPr>
        <p:txBody>
          <a:bodyPr/>
          <a:lstStyle/>
          <a:p>
            <a:endParaRPr lang="en-CA"/>
          </a:p>
        </p:txBody>
      </p:sp>
      <p:sp>
        <p:nvSpPr>
          <p:cNvPr id="5" name="Shape 3">
            <a:extLst>
              <a:ext uri="{FF2B5EF4-FFF2-40B4-BE49-F238E27FC236}">
                <a16:creationId xmlns:a16="http://schemas.microsoft.com/office/drawing/2014/main" id="{7462D11F-D5CC-FC2E-3CBF-5133D4276179}"/>
              </a:ext>
            </a:extLst>
          </p:cNvPr>
          <p:cNvSpPr/>
          <p:nvPr/>
        </p:nvSpPr>
        <p:spPr>
          <a:xfrm>
            <a:off x="639128" y="1046230"/>
            <a:ext cx="7863935" cy="3303392"/>
          </a:xfrm>
          <a:prstGeom prst="rect">
            <a:avLst/>
          </a:prstGeom>
          <a:noFill/>
          <a:ln/>
        </p:spPr>
        <p:txBody>
          <a:bodyPr/>
          <a:lstStyle/>
          <a:p>
            <a:endParaRPr lang="en-CA"/>
          </a:p>
        </p:txBody>
      </p:sp>
      <p:sp>
        <p:nvSpPr>
          <p:cNvPr id="6" name="Shape 4">
            <a:extLst>
              <a:ext uri="{FF2B5EF4-FFF2-40B4-BE49-F238E27FC236}">
                <a16:creationId xmlns:a16="http://schemas.microsoft.com/office/drawing/2014/main" id="{1C934349-F8FF-025F-8BF4-F768715C005F}"/>
              </a:ext>
            </a:extLst>
          </p:cNvPr>
          <p:cNvSpPr/>
          <p:nvPr/>
        </p:nvSpPr>
        <p:spPr>
          <a:xfrm>
            <a:off x="8623" y="469004"/>
            <a:ext cx="9134748" cy="572700"/>
          </a:xfrm>
          <a:prstGeom prst="rect">
            <a:avLst/>
          </a:prstGeom>
          <a:noFill/>
          <a:ln/>
        </p:spPr>
        <p:txBody>
          <a:bodyPr/>
          <a:lstStyle/>
          <a:p>
            <a:endParaRPr lang="en-CA"/>
          </a:p>
        </p:txBody>
      </p:sp>
      <p:sp>
        <p:nvSpPr>
          <p:cNvPr id="9" name="Text 6">
            <a:extLst>
              <a:ext uri="{FF2B5EF4-FFF2-40B4-BE49-F238E27FC236}">
                <a16:creationId xmlns:a16="http://schemas.microsoft.com/office/drawing/2014/main" id="{E8DF15AA-9408-C293-CA62-31D105DF0E0A}"/>
              </a:ext>
            </a:extLst>
          </p:cNvPr>
          <p:cNvSpPr/>
          <p:nvPr/>
        </p:nvSpPr>
        <p:spPr>
          <a:xfrm>
            <a:off x="8623" y="469004"/>
            <a:ext cx="9591948" cy="572700"/>
          </a:xfrm>
          <a:prstGeom prst="rect">
            <a:avLst/>
          </a:prstGeom>
          <a:noFill/>
          <a:ln/>
        </p:spPr>
        <p:txBody>
          <a:bodyPr wrap="square" rtlCol="0" anchor="ctr"/>
          <a:lstStyle/>
          <a:p>
            <a:pPr marL="0" indent="0" algn="ctr">
              <a:lnSpc>
                <a:spcPts val="3713"/>
              </a:lnSpc>
              <a:buNone/>
            </a:pPr>
            <a:r>
              <a:rPr lang="en-US" sz="2475" dirty="0">
                <a:solidFill>
                  <a:schemeClr val="tx1">
                    <a:lumMod val="85000"/>
                    <a:lumOff val="15000"/>
                  </a:schemeClr>
                </a:solidFill>
                <a:latin typeface="Poppins" pitchFamily="34" charset="0"/>
                <a:ea typeface="Poppins" pitchFamily="34" charset="-122"/>
                <a:cs typeface="Poppins" pitchFamily="34" charset="-120"/>
              </a:rPr>
              <a:t>Reminder</a:t>
            </a:r>
            <a:endParaRPr lang="en-US" sz="2475" dirty="0">
              <a:solidFill>
                <a:schemeClr val="tx1">
                  <a:lumMod val="85000"/>
                  <a:lumOff val="15000"/>
                </a:schemeClr>
              </a:solidFill>
            </a:endParaRPr>
          </a:p>
        </p:txBody>
      </p:sp>
      <p:pic>
        <p:nvPicPr>
          <p:cNvPr id="10" name="图片 9" descr="日程表&#10;&#10;AI 生成的内容可能不正确。">
            <a:extLst>
              <a:ext uri="{FF2B5EF4-FFF2-40B4-BE49-F238E27FC236}">
                <a16:creationId xmlns:a16="http://schemas.microsoft.com/office/drawing/2014/main" id="{5A33B7BD-727A-0940-3012-F3DCD60AE535}"/>
              </a:ext>
            </a:extLst>
          </p:cNvPr>
          <p:cNvPicPr>
            <a:picLocks noChangeAspect="1"/>
          </p:cNvPicPr>
          <p:nvPr/>
        </p:nvPicPr>
        <p:blipFill>
          <a:blip r:embed="rId3"/>
          <a:stretch>
            <a:fillRect/>
          </a:stretch>
        </p:blipFill>
        <p:spPr>
          <a:xfrm>
            <a:off x="1469308" y="1046230"/>
            <a:ext cx="6026603" cy="1839445"/>
          </a:xfrm>
          <a:prstGeom prst="rect">
            <a:avLst/>
          </a:prstGeom>
        </p:spPr>
      </p:pic>
      <p:sp>
        <p:nvSpPr>
          <p:cNvPr id="12" name="文本框 11">
            <a:extLst>
              <a:ext uri="{FF2B5EF4-FFF2-40B4-BE49-F238E27FC236}">
                <a16:creationId xmlns:a16="http://schemas.microsoft.com/office/drawing/2014/main" id="{7881A207-E53A-5640-2C33-67B8D3DFF9B8}"/>
              </a:ext>
            </a:extLst>
          </p:cNvPr>
          <p:cNvSpPr txBox="1"/>
          <p:nvPr/>
        </p:nvSpPr>
        <p:spPr>
          <a:xfrm>
            <a:off x="1325225" y="2612812"/>
            <a:ext cx="6491740" cy="2308324"/>
          </a:xfrm>
          <a:prstGeom prst="rect">
            <a:avLst/>
          </a:prstGeom>
          <a:noFill/>
        </p:spPr>
        <p:txBody>
          <a:bodyPr wrap="square">
            <a:spAutoFit/>
          </a:bodyPr>
          <a:lstStyle/>
          <a:p>
            <a:r>
              <a:rPr lang="en-US" sz="2000" dirty="0"/>
              <a:t>Essay Revisions must be completed in-person Tuesday or Wednesday of next week</a:t>
            </a:r>
          </a:p>
          <a:p>
            <a:pPr lvl="1"/>
            <a:r>
              <a:rPr lang="en-US" sz="1600" dirty="0"/>
              <a:t>February 10th and 11th from 10:00 am – 12:00 pm</a:t>
            </a:r>
          </a:p>
          <a:p>
            <a:endParaRPr lang="en-US" sz="1200" dirty="0"/>
          </a:p>
          <a:p>
            <a:r>
              <a:rPr lang="en-US" sz="1600" dirty="0"/>
              <a:t>Grade Contract renegotiation due week </a:t>
            </a:r>
            <a:r>
              <a:rPr lang="en-US" sz="1600" strike="sngStrike" dirty="0">
                <a:solidFill>
                  <a:schemeClr val="tx1">
                    <a:lumMod val="50000"/>
                    <a:lumOff val="50000"/>
                  </a:schemeClr>
                </a:solidFill>
              </a:rPr>
              <a:t>6</a:t>
            </a:r>
            <a:r>
              <a:rPr lang="en-US" sz="1600" dirty="0"/>
              <a:t> </a:t>
            </a:r>
            <a:r>
              <a:rPr lang="en-US" sz="1600" dirty="0">
                <a:solidFill>
                  <a:srgbClr val="FF0000"/>
                </a:solidFill>
              </a:rPr>
              <a:t>8</a:t>
            </a:r>
            <a:r>
              <a:rPr lang="en-US" sz="1600" dirty="0"/>
              <a:t> </a:t>
            </a:r>
          </a:p>
          <a:p>
            <a:r>
              <a:rPr lang="en-US" sz="1200" dirty="0"/>
              <a:t>You must rewrite this even if you are maintaining your current grade contract</a:t>
            </a:r>
          </a:p>
          <a:p>
            <a:pPr lvl="1"/>
            <a:r>
              <a:rPr lang="en-US" sz="1200" dirty="0"/>
              <a:t>You can change your grade beforehand – this can lead to lighter revisions on your essay</a:t>
            </a:r>
          </a:p>
          <a:p>
            <a:pPr lvl="1"/>
            <a:r>
              <a:rPr lang="en-US" sz="1200" dirty="0"/>
              <a:t>To renegotiate your grade early, reach out to myself and Dr. Murphy via canvas messenger.</a:t>
            </a:r>
          </a:p>
          <a:p>
            <a:pPr lvl="1"/>
            <a:endParaRPr lang="en-US" sz="1200" dirty="0"/>
          </a:p>
          <a:p>
            <a:pPr lvl="1"/>
            <a:r>
              <a:rPr lang="en-US" sz="1200" dirty="0"/>
              <a:t>Engagement assignments week 6</a:t>
            </a:r>
          </a:p>
        </p:txBody>
      </p:sp>
    </p:spTree>
    <p:extLst>
      <p:ext uri="{BB962C8B-B14F-4D97-AF65-F5344CB8AC3E}">
        <p14:creationId xmlns:p14="http://schemas.microsoft.com/office/powerpoint/2010/main" val="669254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2040"/>
        </a:solidFill>
        <a:effectLst/>
      </p:bgPr>
    </p:bg>
    <p:spTree>
      <p:nvGrpSpPr>
        <p:cNvPr id="1" name="">
          <a:extLst>
            <a:ext uri="{FF2B5EF4-FFF2-40B4-BE49-F238E27FC236}">
              <a16:creationId xmlns:a16="http://schemas.microsoft.com/office/drawing/2014/main" id="{7C6764E8-AC2B-B05B-AEB3-8816403A8DE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DEEDC9A-6905-3B63-B097-AEFF4926FC1B}"/>
              </a:ext>
            </a:extLst>
          </p:cNvPr>
          <p:cNvSpPr/>
          <p:nvPr/>
        </p:nvSpPr>
        <p:spPr>
          <a:xfrm rot="10800000">
            <a:off x="8586788" y="4729163"/>
            <a:ext cx="304800" cy="192087"/>
          </a:xfrm>
          <a:prstGeom prst="rect">
            <a:avLst/>
          </a:prstGeom>
          <a:noFill/>
          <a:ln/>
        </p:spPr>
        <p:txBody>
          <a:bodyPr/>
          <a:lstStyle/>
          <a:p>
            <a:endParaRPr lang="en-CA"/>
          </a:p>
        </p:txBody>
      </p:sp>
      <p:sp>
        <p:nvSpPr>
          <p:cNvPr id="3" name="Shape 1">
            <a:extLst>
              <a:ext uri="{FF2B5EF4-FFF2-40B4-BE49-F238E27FC236}">
                <a16:creationId xmlns:a16="http://schemas.microsoft.com/office/drawing/2014/main" id="{4E055416-68CC-3568-DA0A-724E80C87188}"/>
              </a:ext>
            </a:extLst>
          </p:cNvPr>
          <p:cNvSpPr/>
          <p:nvPr/>
        </p:nvSpPr>
        <p:spPr>
          <a:xfrm>
            <a:off x="8623" y="469004"/>
            <a:ext cx="9134748" cy="572700"/>
          </a:xfrm>
          <a:prstGeom prst="rect">
            <a:avLst/>
          </a:prstGeom>
          <a:noFill/>
          <a:ln/>
        </p:spPr>
        <p:txBody>
          <a:bodyPr/>
          <a:lstStyle/>
          <a:p>
            <a:endParaRPr lang="en-CA"/>
          </a:p>
        </p:txBody>
      </p:sp>
      <p:sp>
        <p:nvSpPr>
          <p:cNvPr id="4" name="Shape 2">
            <a:extLst>
              <a:ext uri="{FF2B5EF4-FFF2-40B4-BE49-F238E27FC236}">
                <a16:creationId xmlns:a16="http://schemas.microsoft.com/office/drawing/2014/main" id="{F44DAAEF-9534-16E9-B0AE-96ADB21C72F0}"/>
              </a:ext>
            </a:extLst>
          </p:cNvPr>
          <p:cNvSpPr/>
          <p:nvPr/>
        </p:nvSpPr>
        <p:spPr>
          <a:xfrm>
            <a:off x="639128" y="1046230"/>
            <a:ext cx="7863935" cy="3303392"/>
          </a:xfrm>
          <a:prstGeom prst="rect">
            <a:avLst/>
          </a:prstGeom>
          <a:noFill/>
          <a:ln/>
        </p:spPr>
        <p:txBody>
          <a:bodyPr/>
          <a:lstStyle/>
          <a:p>
            <a:endParaRPr lang="en-CA"/>
          </a:p>
        </p:txBody>
      </p:sp>
      <p:sp>
        <p:nvSpPr>
          <p:cNvPr id="5" name="Shape 3">
            <a:extLst>
              <a:ext uri="{FF2B5EF4-FFF2-40B4-BE49-F238E27FC236}">
                <a16:creationId xmlns:a16="http://schemas.microsoft.com/office/drawing/2014/main" id="{8F992845-A1C6-209C-BC51-0EF8E77CA49C}"/>
              </a:ext>
            </a:extLst>
          </p:cNvPr>
          <p:cNvSpPr/>
          <p:nvPr/>
        </p:nvSpPr>
        <p:spPr>
          <a:xfrm>
            <a:off x="639128" y="1046230"/>
            <a:ext cx="7863935" cy="3303392"/>
          </a:xfrm>
          <a:prstGeom prst="rect">
            <a:avLst/>
          </a:prstGeom>
          <a:noFill/>
          <a:ln/>
        </p:spPr>
        <p:txBody>
          <a:bodyPr/>
          <a:lstStyle/>
          <a:p>
            <a:endParaRPr lang="en-CA"/>
          </a:p>
        </p:txBody>
      </p:sp>
      <p:sp>
        <p:nvSpPr>
          <p:cNvPr id="6" name="Shape 4">
            <a:extLst>
              <a:ext uri="{FF2B5EF4-FFF2-40B4-BE49-F238E27FC236}">
                <a16:creationId xmlns:a16="http://schemas.microsoft.com/office/drawing/2014/main" id="{9EE9D832-606A-9824-3583-A1DA7FE22A80}"/>
              </a:ext>
            </a:extLst>
          </p:cNvPr>
          <p:cNvSpPr/>
          <p:nvPr/>
        </p:nvSpPr>
        <p:spPr>
          <a:xfrm>
            <a:off x="8623" y="469004"/>
            <a:ext cx="9134748" cy="572700"/>
          </a:xfrm>
          <a:prstGeom prst="rect">
            <a:avLst/>
          </a:prstGeom>
          <a:noFill/>
          <a:ln/>
        </p:spPr>
        <p:txBody>
          <a:bodyPr/>
          <a:lstStyle/>
          <a:p>
            <a:endParaRPr lang="en-CA"/>
          </a:p>
        </p:txBody>
      </p:sp>
      <p:sp>
        <p:nvSpPr>
          <p:cNvPr id="8" name="Text 5">
            <a:extLst>
              <a:ext uri="{FF2B5EF4-FFF2-40B4-BE49-F238E27FC236}">
                <a16:creationId xmlns:a16="http://schemas.microsoft.com/office/drawing/2014/main" id="{19E73599-31B2-8870-3E1E-C42E2F6A8DC3}"/>
              </a:ext>
            </a:extLst>
          </p:cNvPr>
          <p:cNvSpPr/>
          <p:nvPr/>
        </p:nvSpPr>
        <p:spPr>
          <a:xfrm>
            <a:off x="639128" y="1046230"/>
            <a:ext cx="8321135" cy="3303392"/>
          </a:xfrm>
          <a:prstGeom prst="rect">
            <a:avLst/>
          </a:prstGeom>
          <a:noFill/>
          <a:ln/>
        </p:spPr>
        <p:txBody>
          <a:bodyPr wrap="square" rtlCol="0" anchor="ctr"/>
          <a:lstStyle/>
          <a:p>
            <a:pPr>
              <a:lnSpc>
                <a:spcPts val="1694"/>
              </a:lnSpc>
            </a:pPr>
            <a:r>
              <a:rPr lang="en-US" sz="1400" b="1" dirty="0">
                <a:solidFill>
                  <a:srgbClr val="C00000">
                    <a:alpha val="99000"/>
                  </a:srgbClr>
                </a:solidFill>
                <a:latin typeface="Inter" pitchFamily="34" charset="0"/>
                <a:ea typeface="Inter" pitchFamily="34" charset="-122"/>
              </a:rPr>
              <a:t>Readings for Next Week</a:t>
            </a:r>
          </a:p>
          <a:p>
            <a:pPr>
              <a:lnSpc>
                <a:spcPts val="1694"/>
              </a:lnSpc>
            </a:pPr>
            <a:endParaRPr lang="en-US" sz="1400" b="1" dirty="0">
              <a:solidFill>
                <a:srgbClr val="C00000">
                  <a:alpha val="99000"/>
                </a:srgbClr>
              </a:solidFill>
              <a:latin typeface="Inter" pitchFamily="34" charset="0"/>
              <a:ea typeface="Inter" pitchFamily="34" charset="-122"/>
            </a:endParaRPr>
          </a:p>
          <a:p>
            <a:pPr marL="285750" indent="-228600" fontAlgn="ctr">
              <a:lnSpc>
                <a:spcPct val="90000"/>
              </a:lnSpc>
              <a:spcAft>
                <a:spcPts val="600"/>
              </a:spcAft>
              <a:buFont typeface="Arial" panose="020B0604020202020204" pitchFamily="34" charset="0"/>
              <a:buChar char="•"/>
            </a:pPr>
            <a:r>
              <a:rPr lang="en-US" sz="1400" dirty="0" err="1">
                <a:solidFill>
                  <a:schemeClr val="bg1"/>
                </a:solidFill>
              </a:rPr>
              <a:t>Okorafor</a:t>
            </a:r>
            <a:r>
              <a:rPr lang="en-US" sz="1400" dirty="0">
                <a:solidFill>
                  <a:schemeClr val="bg1"/>
                </a:solidFill>
              </a:rPr>
              <a:t>, </a:t>
            </a:r>
            <a:r>
              <a:rPr lang="en-US" sz="1400" dirty="0" err="1">
                <a:solidFill>
                  <a:schemeClr val="bg1"/>
                </a:solidFill>
              </a:rPr>
              <a:t>Nnedi</a:t>
            </a:r>
            <a:r>
              <a:rPr lang="en-US" sz="1400" dirty="0">
                <a:solidFill>
                  <a:schemeClr val="bg1"/>
                </a:solidFill>
              </a:rPr>
              <a:t>. </a:t>
            </a:r>
            <a:r>
              <a:rPr lang="en-US" sz="1400" i="1" dirty="0">
                <a:solidFill>
                  <a:schemeClr val="bg1"/>
                </a:solidFill>
              </a:rPr>
              <a:t>The Book of Phoenix.</a:t>
            </a:r>
            <a:r>
              <a:rPr lang="en-US" sz="1400" dirty="0">
                <a:solidFill>
                  <a:schemeClr val="bg1"/>
                </a:solidFill>
              </a:rPr>
              <a:t> (Read </a:t>
            </a:r>
            <a:r>
              <a:rPr lang="en-US" altLang="zh-CN" sz="1400" dirty="0">
                <a:solidFill>
                  <a:schemeClr val="bg1"/>
                </a:solidFill>
              </a:rPr>
              <a:t>Second</a:t>
            </a:r>
            <a:r>
              <a:rPr lang="en-US" sz="1400" dirty="0">
                <a:solidFill>
                  <a:schemeClr val="bg1"/>
                </a:solidFill>
              </a:rPr>
              <a:t> half by lecture.) </a:t>
            </a:r>
          </a:p>
          <a:p>
            <a:pPr marL="285750" indent="-228600" fontAlgn="ctr">
              <a:lnSpc>
                <a:spcPct val="90000"/>
              </a:lnSpc>
              <a:spcAft>
                <a:spcPts val="600"/>
              </a:spcAft>
              <a:buFont typeface="Arial" panose="020B0604020202020204" pitchFamily="34" charset="0"/>
              <a:buChar char="•"/>
            </a:pPr>
            <a:endParaRPr lang="en-US" sz="1400" i="1" dirty="0">
              <a:solidFill>
                <a:schemeClr val="bg1"/>
              </a:solidFill>
            </a:endParaRPr>
          </a:p>
          <a:p>
            <a:pPr marL="285750" indent="-228600" fontAlgn="ctr">
              <a:lnSpc>
                <a:spcPct val="90000"/>
              </a:lnSpc>
              <a:spcAft>
                <a:spcPts val="600"/>
              </a:spcAft>
              <a:buFont typeface="Arial" panose="020B0604020202020204" pitchFamily="34" charset="0"/>
              <a:buChar char="•"/>
            </a:pPr>
            <a:r>
              <a:rPr lang="en-US" i="1" dirty="0">
                <a:solidFill>
                  <a:schemeClr val="bg1">
                    <a:lumMod val="95000"/>
                  </a:schemeClr>
                </a:solidFill>
              </a:rPr>
              <a:t>They Say I Say</a:t>
            </a:r>
            <a:r>
              <a:rPr lang="en-US" dirty="0">
                <a:solidFill>
                  <a:schemeClr val="bg1">
                    <a:lumMod val="95000"/>
                  </a:schemeClr>
                </a:solidFill>
              </a:rPr>
              <a:t> Chapters 8 and 9 (Tying it all together)</a:t>
            </a:r>
            <a:endParaRPr lang="en-US" i="1" dirty="0">
              <a:solidFill>
                <a:schemeClr val="bg1">
                  <a:lumMod val="95000"/>
                </a:schemeClr>
              </a:solidFill>
            </a:endParaRPr>
          </a:p>
          <a:p>
            <a:pPr>
              <a:lnSpc>
                <a:spcPts val="1694"/>
              </a:lnSpc>
            </a:pPr>
            <a:endParaRPr lang="en-US" sz="1400" b="1" dirty="0">
              <a:solidFill>
                <a:srgbClr val="C00000">
                  <a:alpha val="99000"/>
                </a:srgbClr>
              </a:solidFill>
              <a:latin typeface="Inter" pitchFamily="34" charset="0"/>
              <a:ea typeface="Inter" pitchFamily="34" charset="-122"/>
            </a:endParaRPr>
          </a:p>
        </p:txBody>
      </p:sp>
      <p:sp>
        <p:nvSpPr>
          <p:cNvPr id="9" name="Text 6">
            <a:extLst>
              <a:ext uri="{FF2B5EF4-FFF2-40B4-BE49-F238E27FC236}">
                <a16:creationId xmlns:a16="http://schemas.microsoft.com/office/drawing/2014/main" id="{C11FC954-8C35-0BF4-7FFE-B2867B96B2B9}"/>
              </a:ext>
            </a:extLst>
          </p:cNvPr>
          <p:cNvSpPr/>
          <p:nvPr/>
        </p:nvSpPr>
        <p:spPr>
          <a:xfrm>
            <a:off x="8623" y="469004"/>
            <a:ext cx="9591948" cy="572700"/>
          </a:xfrm>
          <a:prstGeom prst="rect">
            <a:avLst/>
          </a:prstGeom>
          <a:noFill/>
          <a:ln/>
        </p:spPr>
        <p:txBody>
          <a:bodyPr wrap="square" rtlCol="0" anchor="ctr"/>
          <a:lstStyle/>
          <a:p>
            <a:pPr marL="0" indent="0" algn="ctr">
              <a:lnSpc>
                <a:spcPts val="3713"/>
              </a:lnSpc>
              <a:buNone/>
            </a:pPr>
            <a:r>
              <a:rPr lang="en-US" sz="2475" dirty="0">
                <a:solidFill>
                  <a:srgbClr val="BDE3FF">
                    <a:alpha val="99000"/>
                  </a:srgbClr>
                </a:solidFill>
                <a:latin typeface="Poppins" pitchFamily="34" charset="0"/>
                <a:ea typeface="Poppins" pitchFamily="34" charset="-122"/>
                <a:cs typeface="Poppins" pitchFamily="34" charset="-120"/>
              </a:rPr>
              <a:t>Reminder</a:t>
            </a:r>
            <a:endParaRPr lang="en-US" sz="2475" dirty="0"/>
          </a:p>
        </p:txBody>
      </p:sp>
    </p:spTree>
    <p:extLst>
      <p:ext uri="{BB962C8B-B14F-4D97-AF65-F5344CB8AC3E}">
        <p14:creationId xmlns:p14="http://schemas.microsoft.com/office/powerpoint/2010/main" val="23565260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2040"/>
        </a:solidFill>
        <a:effectLst/>
      </p:bgPr>
    </p:bg>
    <p:spTree>
      <p:nvGrpSpPr>
        <p:cNvPr id="1" name="">
          <a:extLst>
            <a:ext uri="{FF2B5EF4-FFF2-40B4-BE49-F238E27FC236}">
              <a16:creationId xmlns:a16="http://schemas.microsoft.com/office/drawing/2014/main" id="{6C027DDE-6820-A145-2B3C-3781D18CD3B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4A17DDC-99C8-1B86-A343-8EE7B902443A}"/>
              </a:ext>
            </a:extLst>
          </p:cNvPr>
          <p:cNvSpPr/>
          <p:nvPr/>
        </p:nvSpPr>
        <p:spPr>
          <a:xfrm rot="10800000">
            <a:off x="8586788" y="4729163"/>
            <a:ext cx="304800" cy="192087"/>
          </a:xfrm>
          <a:prstGeom prst="rect">
            <a:avLst/>
          </a:prstGeom>
          <a:noFill/>
          <a:ln/>
        </p:spPr>
        <p:txBody>
          <a:bodyPr/>
          <a:lstStyle/>
          <a:p>
            <a:endParaRPr lang="en-CA"/>
          </a:p>
        </p:txBody>
      </p:sp>
      <p:sp>
        <p:nvSpPr>
          <p:cNvPr id="3" name="Shape 1">
            <a:extLst>
              <a:ext uri="{FF2B5EF4-FFF2-40B4-BE49-F238E27FC236}">
                <a16:creationId xmlns:a16="http://schemas.microsoft.com/office/drawing/2014/main" id="{A9F655FF-4B32-B7F5-0A63-62644CE80420}"/>
              </a:ext>
            </a:extLst>
          </p:cNvPr>
          <p:cNvSpPr/>
          <p:nvPr/>
        </p:nvSpPr>
        <p:spPr>
          <a:xfrm>
            <a:off x="8623" y="469004"/>
            <a:ext cx="9134748" cy="572700"/>
          </a:xfrm>
          <a:prstGeom prst="rect">
            <a:avLst/>
          </a:prstGeom>
          <a:noFill/>
          <a:ln/>
        </p:spPr>
        <p:txBody>
          <a:bodyPr/>
          <a:lstStyle/>
          <a:p>
            <a:endParaRPr lang="en-CA"/>
          </a:p>
        </p:txBody>
      </p:sp>
      <p:sp>
        <p:nvSpPr>
          <p:cNvPr id="4" name="Shape 2">
            <a:extLst>
              <a:ext uri="{FF2B5EF4-FFF2-40B4-BE49-F238E27FC236}">
                <a16:creationId xmlns:a16="http://schemas.microsoft.com/office/drawing/2014/main" id="{E8C8CF53-E5FA-8720-11E1-8A1BAF9721A8}"/>
              </a:ext>
            </a:extLst>
          </p:cNvPr>
          <p:cNvSpPr/>
          <p:nvPr/>
        </p:nvSpPr>
        <p:spPr>
          <a:xfrm>
            <a:off x="639128" y="1046230"/>
            <a:ext cx="7863935" cy="3303392"/>
          </a:xfrm>
          <a:prstGeom prst="rect">
            <a:avLst/>
          </a:prstGeom>
          <a:noFill/>
          <a:ln/>
        </p:spPr>
        <p:txBody>
          <a:bodyPr/>
          <a:lstStyle/>
          <a:p>
            <a:endParaRPr lang="en-CA"/>
          </a:p>
        </p:txBody>
      </p:sp>
      <p:sp>
        <p:nvSpPr>
          <p:cNvPr id="5" name="Shape 3">
            <a:extLst>
              <a:ext uri="{FF2B5EF4-FFF2-40B4-BE49-F238E27FC236}">
                <a16:creationId xmlns:a16="http://schemas.microsoft.com/office/drawing/2014/main" id="{B6F360A3-283D-BFBE-A1B1-A6214385BBE0}"/>
              </a:ext>
            </a:extLst>
          </p:cNvPr>
          <p:cNvSpPr/>
          <p:nvPr/>
        </p:nvSpPr>
        <p:spPr>
          <a:xfrm>
            <a:off x="639128" y="1046230"/>
            <a:ext cx="7863935" cy="3303392"/>
          </a:xfrm>
          <a:prstGeom prst="rect">
            <a:avLst/>
          </a:prstGeom>
          <a:noFill/>
          <a:ln/>
        </p:spPr>
        <p:txBody>
          <a:bodyPr/>
          <a:lstStyle/>
          <a:p>
            <a:endParaRPr lang="en-CA"/>
          </a:p>
        </p:txBody>
      </p:sp>
      <p:sp>
        <p:nvSpPr>
          <p:cNvPr id="6" name="Shape 4">
            <a:extLst>
              <a:ext uri="{FF2B5EF4-FFF2-40B4-BE49-F238E27FC236}">
                <a16:creationId xmlns:a16="http://schemas.microsoft.com/office/drawing/2014/main" id="{9DC8CAAE-80BA-02C4-92F7-E64106876A14}"/>
              </a:ext>
            </a:extLst>
          </p:cNvPr>
          <p:cNvSpPr/>
          <p:nvPr/>
        </p:nvSpPr>
        <p:spPr>
          <a:xfrm>
            <a:off x="8623" y="469004"/>
            <a:ext cx="9134748" cy="572700"/>
          </a:xfrm>
          <a:prstGeom prst="rect">
            <a:avLst/>
          </a:prstGeom>
          <a:noFill/>
          <a:ln/>
        </p:spPr>
        <p:txBody>
          <a:bodyPr/>
          <a:lstStyle/>
          <a:p>
            <a:endParaRPr lang="en-CA"/>
          </a:p>
        </p:txBody>
      </p:sp>
      <p:sp>
        <p:nvSpPr>
          <p:cNvPr id="8" name="Text 5">
            <a:extLst>
              <a:ext uri="{FF2B5EF4-FFF2-40B4-BE49-F238E27FC236}">
                <a16:creationId xmlns:a16="http://schemas.microsoft.com/office/drawing/2014/main" id="{266A6997-B232-30A2-0B46-1D015B9826DE}"/>
              </a:ext>
            </a:extLst>
          </p:cNvPr>
          <p:cNvSpPr/>
          <p:nvPr/>
        </p:nvSpPr>
        <p:spPr>
          <a:xfrm>
            <a:off x="639128" y="1046230"/>
            <a:ext cx="8321135" cy="3303392"/>
          </a:xfrm>
          <a:prstGeom prst="rect">
            <a:avLst/>
          </a:prstGeom>
          <a:noFill/>
          <a:ln/>
        </p:spPr>
        <p:txBody>
          <a:bodyPr wrap="square" rtlCol="0" anchor="ctr"/>
          <a:lstStyle/>
          <a:p>
            <a:pPr>
              <a:lnSpc>
                <a:spcPts val="1694"/>
              </a:lnSpc>
            </a:pPr>
            <a:r>
              <a:rPr lang="en-US" sz="1400" b="1" dirty="0">
                <a:solidFill>
                  <a:srgbClr val="C00000">
                    <a:alpha val="99000"/>
                  </a:srgbClr>
                </a:solidFill>
                <a:latin typeface="Inter" pitchFamily="34" charset="0"/>
                <a:ea typeface="Inter" pitchFamily="34" charset="-122"/>
              </a:rPr>
              <a:t>Week 5 Reading</a:t>
            </a:r>
          </a:p>
          <a:p>
            <a:pPr>
              <a:lnSpc>
                <a:spcPts val="1694"/>
              </a:lnSpc>
            </a:pPr>
            <a:endParaRPr lang="en-US" sz="1400" b="1" dirty="0">
              <a:solidFill>
                <a:srgbClr val="C00000">
                  <a:alpha val="99000"/>
                </a:srgbClr>
              </a:solidFill>
              <a:latin typeface="Inter" pitchFamily="34" charset="0"/>
              <a:ea typeface="Inter" pitchFamily="34" charset="-122"/>
            </a:endParaRPr>
          </a:p>
          <a:p>
            <a:pPr marL="285750" indent="-228600" fontAlgn="ctr">
              <a:lnSpc>
                <a:spcPct val="90000"/>
              </a:lnSpc>
              <a:spcAft>
                <a:spcPts val="600"/>
              </a:spcAft>
              <a:buFont typeface="Arial" panose="020B0604020202020204" pitchFamily="34" charset="0"/>
              <a:buChar char="•"/>
            </a:pPr>
            <a:r>
              <a:rPr lang="en-US" sz="1400" dirty="0" err="1">
                <a:solidFill>
                  <a:schemeClr val="bg1"/>
                </a:solidFill>
              </a:rPr>
              <a:t>Okorafor</a:t>
            </a:r>
            <a:r>
              <a:rPr lang="en-US" sz="1400" dirty="0">
                <a:solidFill>
                  <a:schemeClr val="bg1"/>
                </a:solidFill>
              </a:rPr>
              <a:t>, </a:t>
            </a:r>
            <a:r>
              <a:rPr lang="en-US" sz="1400" dirty="0" err="1">
                <a:solidFill>
                  <a:schemeClr val="bg1"/>
                </a:solidFill>
              </a:rPr>
              <a:t>Nnedi</a:t>
            </a:r>
            <a:r>
              <a:rPr lang="en-US" sz="1400" dirty="0">
                <a:solidFill>
                  <a:schemeClr val="bg1"/>
                </a:solidFill>
              </a:rPr>
              <a:t>. </a:t>
            </a:r>
            <a:r>
              <a:rPr lang="en-US" sz="1400" i="1" dirty="0">
                <a:solidFill>
                  <a:schemeClr val="bg1"/>
                </a:solidFill>
              </a:rPr>
              <a:t>The Book of Phoenix.</a:t>
            </a:r>
            <a:r>
              <a:rPr lang="en-US" sz="1400" dirty="0">
                <a:solidFill>
                  <a:schemeClr val="bg1"/>
                </a:solidFill>
              </a:rPr>
              <a:t> (Read first half by lecture.) </a:t>
            </a:r>
          </a:p>
          <a:p>
            <a:pPr marL="285750" indent="-228600" fontAlgn="ctr">
              <a:lnSpc>
                <a:spcPct val="90000"/>
              </a:lnSpc>
              <a:spcAft>
                <a:spcPts val="600"/>
              </a:spcAft>
              <a:buFont typeface="Arial" panose="020B0604020202020204" pitchFamily="34" charset="0"/>
              <a:buChar char="•"/>
            </a:pPr>
            <a:endParaRPr lang="en-US" sz="1400" dirty="0">
              <a:solidFill>
                <a:schemeClr val="bg1"/>
              </a:solidFill>
            </a:endParaRPr>
          </a:p>
          <a:p>
            <a:pPr marL="285750" indent="-228600" fontAlgn="ctr">
              <a:lnSpc>
                <a:spcPct val="90000"/>
              </a:lnSpc>
              <a:spcAft>
                <a:spcPts val="600"/>
              </a:spcAft>
              <a:buFont typeface="Arial" panose="020B0604020202020204" pitchFamily="34" charset="0"/>
              <a:buChar char="•"/>
            </a:pPr>
            <a:r>
              <a:rPr lang="en-CA" sz="1400" dirty="0">
                <a:solidFill>
                  <a:schemeClr val="bg1"/>
                </a:solidFill>
              </a:rPr>
              <a:t>Jorge Luis Borges, “</a:t>
            </a:r>
            <a:r>
              <a:rPr lang="en-CA" sz="1400" dirty="0">
                <a:solidFill>
                  <a:schemeClr val="bg1"/>
                </a:solidFill>
                <a:hlinkClick r:id="rId3"/>
              </a:rPr>
              <a:t>The Library of Babel</a:t>
            </a:r>
            <a:r>
              <a:rPr lang="en-CA" sz="1400" dirty="0">
                <a:solidFill>
                  <a:schemeClr val="bg1"/>
                </a:solidFill>
              </a:rPr>
              <a:t>.” 1941</a:t>
            </a:r>
            <a:endParaRPr lang="en-US" sz="1400" b="1" dirty="0">
              <a:solidFill>
                <a:schemeClr val="bg1"/>
              </a:solidFill>
            </a:endParaRPr>
          </a:p>
          <a:p>
            <a:pPr>
              <a:lnSpc>
                <a:spcPts val="1694"/>
              </a:lnSpc>
            </a:pPr>
            <a:endParaRPr lang="en-US" sz="1400" b="1" dirty="0">
              <a:solidFill>
                <a:srgbClr val="C00000">
                  <a:alpha val="99000"/>
                </a:srgbClr>
              </a:solidFill>
              <a:latin typeface="Inter" pitchFamily="34" charset="0"/>
              <a:ea typeface="Inter" pitchFamily="34" charset="-122"/>
            </a:endParaRPr>
          </a:p>
        </p:txBody>
      </p:sp>
      <p:sp>
        <p:nvSpPr>
          <p:cNvPr id="9" name="Text 6">
            <a:extLst>
              <a:ext uri="{FF2B5EF4-FFF2-40B4-BE49-F238E27FC236}">
                <a16:creationId xmlns:a16="http://schemas.microsoft.com/office/drawing/2014/main" id="{A4627D39-DD00-1BF3-7524-2262051BD18D}"/>
              </a:ext>
            </a:extLst>
          </p:cNvPr>
          <p:cNvSpPr/>
          <p:nvPr/>
        </p:nvSpPr>
        <p:spPr>
          <a:xfrm>
            <a:off x="8623" y="469004"/>
            <a:ext cx="9591948" cy="572700"/>
          </a:xfrm>
          <a:prstGeom prst="rect">
            <a:avLst/>
          </a:prstGeom>
          <a:noFill/>
          <a:ln/>
        </p:spPr>
        <p:txBody>
          <a:bodyPr wrap="square" rtlCol="0" anchor="ctr"/>
          <a:lstStyle/>
          <a:p>
            <a:pPr marL="0" indent="0" algn="ctr">
              <a:lnSpc>
                <a:spcPts val="3713"/>
              </a:lnSpc>
              <a:buNone/>
            </a:pPr>
            <a:r>
              <a:rPr lang="en-US" sz="2475" dirty="0">
                <a:solidFill>
                  <a:srgbClr val="BDE3FF">
                    <a:alpha val="99000"/>
                  </a:srgbClr>
                </a:solidFill>
                <a:latin typeface="Poppins" pitchFamily="34" charset="0"/>
                <a:ea typeface="Poppins" pitchFamily="34" charset="-122"/>
                <a:cs typeface="Poppins" pitchFamily="34" charset="-120"/>
              </a:rPr>
              <a:t>Reminder</a:t>
            </a:r>
            <a:endParaRPr lang="en-US" sz="2475" dirty="0"/>
          </a:p>
        </p:txBody>
      </p:sp>
    </p:spTree>
    <p:extLst>
      <p:ext uri="{BB962C8B-B14F-4D97-AF65-F5344CB8AC3E}">
        <p14:creationId xmlns:p14="http://schemas.microsoft.com/office/powerpoint/2010/main" val="41654190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002040"/>
        </a:solidFill>
        <a:effectLst/>
      </p:bgPr>
    </p:bg>
    <p:spTree>
      <p:nvGrpSpPr>
        <p:cNvPr id="1" name=""/>
        <p:cNvGrpSpPr/>
        <p:nvPr/>
      </p:nvGrpSpPr>
      <p:grpSpPr>
        <a:xfrm>
          <a:off x="0" y="0"/>
          <a:ext cx="0" cy="0"/>
          <a:chOff x="0" y="0"/>
          <a:chExt cx="0" cy="0"/>
        </a:xfrm>
      </p:grpSpPr>
      <p:sp>
        <p:nvSpPr>
          <p:cNvPr id="2" name="Shape 0"/>
          <p:cNvSpPr/>
          <p:nvPr/>
        </p:nvSpPr>
        <p:spPr>
          <a:xfrm rot="10800000">
            <a:off x="8586788" y="4729163"/>
            <a:ext cx="304800" cy="192087"/>
          </a:xfrm>
          <a:prstGeom prst="rect">
            <a:avLst/>
          </a:prstGeom>
          <a:noFill/>
          <a:ln/>
        </p:spPr>
        <p:txBody>
          <a:bodyPr/>
          <a:lstStyle/>
          <a:p>
            <a:endParaRPr lang="en-CA"/>
          </a:p>
        </p:txBody>
      </p:sp>
      <p:sp>
        <p:nvSpPr>
          <p:cNvPr id="3" name="Shape 1"/>
          <p:cNvSpPr/>
          <p:nvPr/>
        </p:nvSpPr>
        <p:spPr>
          <a:xfrm>
            <a:off x="8623" y="469004"/>
            <a:ext cx="9134748" cy="572700"/>
          </a:xfrm>
          <a:prstGeom prst="rect">
            <a:avLst/>
          </a:prstGeom>
          <a:noFill/>
          <a:ln/>
        </p:spPr>
        <p:txBody>
          <a:bodyPr/>
          <a:lstStyle/>
          <a:p>
            <a:endParaRPr lang="en-CA"/>
          </a:p>
        </p:txBody>
      </p:sp>
      <p:sp>
        <p:nvSpPr>
          <p:cNvPr id="4" name="Shape 2"/>
          <p:cNvSpPr/>
          <p:nvPr/>
        </p:nvSpPr>
        <p:spPr>
          <a:xfrm>
            <a:off x="639128" y="1046230"/>
            <a:ext cx="7863935" cy="3303392"/>
          </a:xfrm>
          <a:prstGeom prst="rect">
            <a:avLst/>
          </a:prstGeom>
          <a:noFill/>
          <a:ln/>
        </p:spPr>
        <p:txBody>
          <a:bodyPr/>
          <a:lstStyle/>
          <a:p>
            <a:endParaRPr lang="en-CA"/>
          </a:p>
        </p:txBody>
      </p:sp>
      <p:sp>
        <p:nvSpPr>
          <p:cNvPr id="5" name="Shape 3"/>
          <p:cNvSpPr/>
          <p:nvPr/>
        </p:nvSpPr>
        <p:spPr>
          <a:xfrm>
            <a:off x="639128" y="1046230"/>
            <a:ext cx="7863935" cy="3303392"/>
          </a:xfrm>
          <a:prstGeom prst="rect">
            <a:avLst/>
          </a:prstGeom>
          <a:noFill/>
          <a:ln/>
        </p:spPr>
        <p:txBody>
          <a:bodyPr/>
          <a:lstStyle/>
          <a:p>
            <a:endParaRPr lang="en-CA"/>
          </a:p>
        </p:txBody>
      </p:sp>
      <p:sp>
        <p:nvSpPr>
          <p:cNvPr id="6" name="Shape 4"/>
          <p:cNvSpPr/>
          <p:nvPr/>
        </p:nvSpPr>
        <p:spPr>
          <a:xfrm>
            <a:off x="8623" y="469004"/>
            <a:ext cx="9134748" cy="572700"/>
          </a:xfrm>
          <a:prstGeom prst="rect">
            <a:avLst/>
          </a:prstGeom>
          <a:noFill/>
          <a:ln/>
        </p:spPr>
        <p:txBody>
          <a:bodyPr/>
          <a:lstStyle/>
          <a:p>
            <a:endParaRPr lang="en-CA"/>
          </a:p>
        </p:txBody>
      </p:sp>
      <p:pic>
        <p:nvPicPr>
          <p:cNvPr id="8" name="Image 1" descr="preencoded.png"/>
          <p:cNvPicPr>
            <a:picLocks noChangeAspect="1"/>
          </p:cNvPicPr>
          <p:nvPr/>
        </p:nvPicPr>
        <p:blipFill>
          <a:blip r:embed="rId3"/>
          <a:srcRect t="10886"/>
          <a:stretch>
            <a:fillRect/>
          </a:stretch>
        </p:blipFill>
        <p:spPr>
          <a:xfrm>
            <a:off x="3027180" y="1409550"/>
            <a:ext cx="4862066" cy="2642572"/>
          </a:xfrm>
          <a:prstGeom prst="rect">
            <a:avLst/>
          </a:prstGeom>
        </p:spPr>
      </p:pic>
      <p:sp>
        <p:nvSpPr>
          <p:cNvPr id="9" name="Text 5"/>
          <p:cNvSpPr/>
          <p:nvPr/>
        </p:nvSpPr>
        <p:spPr>
          <a:xfrm>
            <a:off x="639128" y="1046230"/>
            <a:ext cx="8321135" cy="3303392"/>
          </a:xfrm>
          <a:prstGeom prst="rect">
            <a:avLst/>
          </a:prstGeom>
          <a:noFill/>
          <a:ln/>
        </p:spPr>
        <p:txBody>
          <a:bodyPr wrap="square" rtlCol="0" anchor="ctr"/>
          <a:lstStyle/>
          <a:p>
            <a:pPr marL="0" indent="0" algn="l">
              <a:lnSpc>
                <a:spcPts val="2496"/>
              </a:lnSpc>
              <a:buNone/>
            </a:pPr>
            <a:r>
              <a:rPr lang="en-US" sz="2063" dirty="0">
                <a:solidFill>
                  <a:srgbClr val="BDE3FF">
                    <a:alpha val="99000"/>
                  </a:srgbClr>
                </a:solidFill>
                <a:latin typeface="Inter" pitchFamily="34" charset="0"/>
                <a:ea typeface="Inter" pitchFamily="34" charset="-122"/>
                <a:cs typeface="Inter" pitchFamily="34" charset="-120"/>
              </a:rPr>
              <a:t>Office Hours</a:t>
            </a:r>
          </a:p>
          <a:p>
            <a:pPr marL="0" indent="0" algn="l">
              <a:lnSpc>
                <a:spcPts val="2496"/>
              </a:lnSpc>
              <a:buNone/>
            </a:pPr>
            <a:endParaRPr lang="en-US" sz="2063" dirty="0">
              <a:solidFill>
                <a:srgbClr val="BDE3FF">
                  <a:alpha val="99000"/>
                </a:srgbClr>
              </a:solidFill>
              <a:latin typeface="Inter" pitchFamily="34" charset="0"/>
              <a:ea typeface="Inter" pitchFamily="34" charset="-122"/>
              <a:cs typeface="Inter" pitchFamily="34" charset="-120"/>
            </a:endParaRPr>
          </a:p>
          <a:p>
            <a:pPr marL="0" indent="0" algn="l">
              <a:lnSpc>
                <a:spcPts val="2496"/>
              </a:lnSpc>
              <a:buNone/>
            </a:pPr>
            <a:r>
              <a:rPr lang="en-US" sz="2063" dirty="0">
                <a:solidFill>
                  <a:srgbClr val="BDE3FF">
                    <a:alpha val="99000"/>
                  </a:srgbClr>
                </a:solidFill>
                <a:latin typeface="Inter" pitchFamily="34" charset="0"/>
                <a:ea typeface="Inter" pitchFamily="34" charset="-122"/>
                <a:hlinkClick r:id="rId4"/>
              </a:rPr>
              <a:t>Sign Up Sheet</a:t>
            </a:r>
            <a:endParaRPr lang="en-US" sz="2063" dirty="0"/>
          </a:p>
          <a:p>
            <a:pPr marL="0" indent="0" algn="l">
              <a:lnSpc>
                <a:spcPts val="1498"/>
              </a:lnSpc>
              <a:buNone/>
            </a:pPr>
            <a:endParaRPr lang="en-US" sz="1238" dirty="0">
              <a:solidFill>
                <a:srgbClr val="BDE3FF">
                  <a:alpha val="99000"/>
                </a:srgbClr>
              </a:solidFill>
              <a:latin typeface="Inter" pitchFamily="34" charset="0"/>
              <a:ea typeface="Inter" pitchFamily="34" charset="-122"/>
              <a:cs typeface="Inter" pitchFamily="34" charset="-120"/>
            </a:endParaRPr>
          </a:p>
          <a:p>
            <a:pPr marL="0" indent="0" algn="l">
              <a:lnSpc>
                <a:spcPts val="1498"/>
              </a:lnSpc>
              <a:buNone/>
            </a:pPr>
            <a:endParaRPr lang="en-US" sz="1238" dirty="0">
              <a:solidFill>
                <a:srgbClr val="BDE3FF">
                  <a:alpha val="99000"/>
                </a:srgbClr>
              </a:solidFill>
              <a:latin typeface="Inter" pitchFamily="34" charset="0"/>
              <a:ea typeface="Inter" pitchFamily="34" charset="-122"/>
              <a:cs typeface="Inter" pitchFamily="34" charset="-120"/>
            </a:endParaRPr>
          </a:p>
          <a:p>
            <a:pPr marL="0" indent="0" algn="l">
              <a:lnSpc>
                <a:spcPts val="1498"/>
              </a:lnSpc>
              <a:buNone/>
            </a:pPr>
            <a:r>
              <a:rPr lang="en-US" sz="1238" dirty="0">
                <a:solidFill>
                  <a:srgbClr val="BDE3FF">
                    <a:alpha val="99000"/>
                  </a:srgbClr>
                </a:solidFill>
                <a:latin typeface="Inter" pitchFamily="34" charset="0"/>
                <a:ea typeface="Inter" pitchFamily="34" charset="-122"/>
                <a:cs typeface="Inter" pitchFamily="34" charset="-120"/>
              </a:rPr>
              <a:t>Fridays 10:00 – 12:00</a:t>
            </a:r>
          </a:p>
          <a:p>
            <a:pPr marL="0" indent="0" algn="l">
              <a:lnSpc>
                <a:spcPts val="1498"/>
              </a:lnSpc>
              <a:buNone/>
            </a:pPr>
            <a:endParaRPr lang="en-US" sz="1238" dirty="0">
              <a:solidFill>
                <a:srgbClr val="BDE3FF">
                  <a:alpha val="99000"/>
                </a:srgbClr>
              </a:solidFill>
              <a:latin typeface="Inter" pitchFamily="34" charset="0"/>
              <a:ea typeface="Inter" pitchFamily="34" charset="-122"/>
            </a:endParaRPr>
          </a:p>
        </p:txBody>
      </p:sp>
      <p:sp>
        <p:nvSpPr>
          <p:cNvPr id="10" name="Text 6"/>
          <p:cNvSpPr/>
          <p:nvPr/>
        </p:nvSpPr>
        <p:spPr>
          <a:xfrm>
            <a:off x="8623" y="469004"/>
            <a:ext cx="9591948" cy="572700"/>
          </a:xfrm>
          <a:prstGeom prst="rect">
            <a:avLst/>
          </a:prstGeom>
          <a:noFill/>
          <a:ln/>
        </p:spPr>
        <p:txBody>
          <a:bodyPr wrap="square" rtlCol="0" anchor="ctr"/>
          <a:lstStyle/>
          <a:p>
            <a:pPr marL="0" indent="0" algn="ctr">
              <a:lnSpc>
                <a:spcPts val="3713"/>
              </a:lnSpc>
              <a:buNone/>
            </a:pPr>
            <a:r>
              <a:rPr lang="en-US" sz="2475" dirty="0">
                <a:solidFill>
                  <a:srgbClr val="BDE3FF">
                    <a:alpha val="99000"/>
                  </a:srgbClr>
                </a:solidFill>
                <a:latin typeface="Poppins" pitchFamily="34" charset="0"/>
                <a:ea typeface="Poppins" pitchFamily="34" charset="-122"/>
                <a:cs typeface="Poppins" pitchFamily="34" charset="-120"/>
              </a:rPr>
              <a:t>Reminder</a:t>
            </a:r>
            <a:endParaRPr lang="en-US" sz="247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2BD7AC51-568E-B175-1B98-9D073868B786}"/>
              </a:ext>
            </a:extLst>
          </p:cNvPr>
          <p:cNvSpPr>
            <a:spLocks noGrp="1"/>
          </p:cNvSpPr>
          <p:nvPr>
            <p:ph type="title"/>
          </p:nvPr>
        </p:nvSpPr>
        <p:spPr>
          <a:xfrm>
            <a:off x="350041" y="440142"/>
            <a:ext cx="6686249" cy="693149"/>
          </a:xfrm>
        </p:spPr>
        <p:txBody>
          <a:bodyPr vert="horz" lIns="68580" tIns="34290" rIns="68580" bIns="34290" rtlCol="0" anchor="b">
            <a:normAutofit fontScale="90000"/>
          </a:bodyPr>
          <a:lstStyle/>
          <a:p>
            <a:pPr algn="l"/>
            <a:r>
              <a:rPr lang="en-US" sz="3000" dirty="0"/>
              <a:t>10 Minutes Writing Prompts: </a:t>
            </a:r>
            <a:br>
              <a:rPr lang="en-US" sz="3000" dirty="0"/>
            </a:br>
            <a:r>
              <a:rPr lang="en-US" sz="3000" i="1" dirty="0"/>
              <a:t>The Book of Phoenix </a:t>
            </a:r>
            <a:r>
              <a:rPr lang="en-US" sz="3000" dirty="0"/>
              <a:t>&amp; </a:t>
            </a:r>
            <a:r>
              <a:rPr lang="en-US" sz="3000" i="1" dirty="0"/>
              <a:t>The Library of Babel</a:t>
            </a:r>
          </a:p>
        </p:txBody>
      </p:sp>
      <p:sp>
        <p:nvSpPr>
          <p:cNvPr id="3" name="Content Placeholder 2">
            <a:extLst>
              <a:ext uri="{FF2B5EF4-FFF2-40B4-BE49-F238E27FC236}">
                <a16:creationId xmlns:a16="http://schemas.microsoft.com/office/drawing/2014/main" id="{712DC3B6-A929-A67E-7E09-7027C4B20CA8}"/>
              </a:ext>
            </a:extLst>
          </p:cNvPr>
          <p:cNvSpPr>
            <a:spLocks noGrp="1"/>
          </p:cNvSpPr>
          <p:nvPr>
            <p:ph idx="1"/>
          </p:nvPr>
        </p:nvSpPr>
        <p:spPr>
          <a:xfrm>
            <a:off x="437782" y="878996"/>
            <a:ext cx="7609805" cy="4159535"/>
          </a:xfrm>
        </p:spPr>
        <p:txBody>
          <a:bodyPr anchor="ctr">
            <a:normAutofit/>
          </a:bodyPr>
          <a:lstStyle/>
          <a:p>
            <a:pPr marL="0" indent="0">
              <a:buNone/>
            </a:pPr>
            <a:r>
              <a:rPr lang="en-US" sz="1050" i="1" dirty="0"/>
              <a:t>The Book of Phoenix</a:t>
            </a:r>
          </a:p>
          <a:p>
            <a:r>
              <a:rPr lang="en-US" sz="1050" dirty="0"/>
              <a:t>What themes have you identified in the book so far?</a:t>
            </a:r>
          </a:p>
          <a:p>
            <a:r>
              <a:rPr lang="en-CA" sz="1050" dirty="0"/>
              <a:t>Identify the antagonists and protagonists in </a:t>
            </a:r>
            <a:r>
              <a:rPr lang="en-CA" sz="1050" i="1" dirty="0"/>
              <a:t>The Book of Phoenix </a:t>
            </a:r>
            <a:r>
              <a:rPr lang="en-CA" sz="1050" dirty="0"/>
              <a:t>and discuss their relationship</a:t>
            </a:r>
          </a:p>
          <a:p>
            <a:r>
              <a:rPr lang="en-CA" sz="1050" i="1" dirty="0"/>
              <a:t>The Book of Phoenix </a:t>
            </a:r>
            <a:r>
              <a:rPr lang="en-CA" sz="1050" dirty="0"/>
              <a:t>is described as a Sci-Fi. Are there any other genres that you believe it could fall under, and why? If not, why not?</a:t>
            </a:r>
          </a:p>
          <a:p>
            <a:pPr marL="0" indent="0">
              <a:buNone/>
            </a:pPr>
            <a:endParaRPr lang="en-CA" sz="750" dirty="0"/>
          </a:p>
          <a:p>
            <a:pPr marL="0" indent="0">
              <a:buNone/>
            </a:pPr>
            <a:r>
              <a:rPr lang="en-CA" sz="1050" i="1" dirty="0"/>
              <a:t>The Library of Babel</a:t>
            </a:r>
          </a:p>
          <a:p>
            <a:pPr lvl="0"/>
            <a:r>
              <a:rPr lang="en-US" sz="1050" dirty="0"/>
              <a:t>What themes have you identified in the story?</a:t>
            </a:r>
          </a:p>
          <a:p>
            <a:pPr lvl="0"/>
            <a:r>
              <a:rPr lang="en-US" sz="1050" dirty="0"/>
              <a:t>Can you think of any related stories or important cultural context for this work?</a:t>
            </a:r>
          </a:p>
          <a:p>
            <a:pPr lvl="0"/>
            <a:r>
              <a:rPr lang="en-US" sz="1050" dirty="0"/>
              <a:t>What is the setting? (Past or future? Physical design of the library) and what is the setting’s significance to the story or themes?</a:t>
            </a:r>
          </a:p>
          <a:p>
            <a:pPr marL="0" indent="0">
              <a:buNone/>
            </a:pPr>
            <a:endParaRPr lang="en-CA" sz="1050" i="1" dirty="0"/>
          </a:p>
          <a:p>
            <a:pPr marL="342900" lvl="1" indent="0">
              <a:buNone/>
            </a:pPr>
            <a:endParaRPr lang="en-US" sz="1050" dirty="0"/>
          </a:p>
        </p:txBody>
      </p:sp>
    </p:spTree>
    <p:extLst>
      <p:ext uri="{BB962C8B-B14F-4D97-AF65-F5344CB8AC3E}">
        <p14:creationId xmlns:p14="http://schemas.microsoft.com/office/powerpoint/2010/main" val="37038415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0788D-0B4D-294B-6639-CEC5DD1BD532}"/>
              </a:ext>
            </a:extLst>
          </p:cNvPr>
          <p:cNvSpPr>
            <a:spLocks noGrp="1"/>
          </p:cNvSpPr>
          <p:nvPr>
            <p:ph type="title"/>
          </p:nvPr>
        </p:nvSpPr>
        <p:spPr>
          <a:xfrm>
            <a:off x="571352" y="262647"/>
            <a:ext cx="3485178" cy="1218390"/>
          </a:xfrm>
        </p:spPr>
        <p:txBody>
          <a:bodyPr vert="horz" lIns="68580" tIns="34290" rIns="68580" bIns="34290" rtlCol="0" anchor="ctr">
            <a:normAutofit/>
          </a:bodyPr>
          <a:lstStyle/>
          <a:p>
            <a:r>
              <a:rPr lang="en-US" sz="3000" dirty="0"/>
              <a:t>What is a ‘theme’ in literature?</a:t>
            </a:r>
          </a:p>
        </p:txBody>
      </p:sp>
      <p:sp>
        <p:nvSpPr>
          <p:cNvPr id="5" name="TextBox 4">
            <a:extLst>
              <a:ext uri="{FF2B5EF4-FFF2-40B4-BE49-F238E27FC236}">
                <a16:creationId xmlns:a16="http://schemas.microsoft.com/office/drawing/2014/main" id="{47A34B1A-B3B9-9930-8A84-1C0BB6A03D20}"/>
              </a:ext>
            </a:extLst>
          </p:cNvPr>
          <p:cNvSpPr txBox="1"/>
          <p:nvPr/>
        </p:nvSpPr>
        <p:spPr>
          <a:xfrm>
            <a:off x="603017" y="4689630"/>
            <a:ext cx="4500271" cy="507831"/>
          </a:xfrm>
          <a:prstGeom prst="rect">
            <a:avLst/>
          </a:prstGeom>
          <a:noFill/>
        </p:spPr>
        <p:txBody>
          <a:bodyPr wrap="none" rtlCol="0">
            <a:spAutoFit/>
          </a:bodyPr>
          <a:lstStyle/>
          <a:p>
            <a:r>
              <a:rPr lang="en-CA" sz="1350" dirty="0"/>
              <a:t>“Theme” </a:t>
            </a:r>
            <a:r>
              <a:rPr lang="en-CA" sz="1350" i="1" dirty="0" err="1"/>
              <a:t>LitCharts</a:t>
            </a:r>
            <a:r>
              <a:rPr lang="en-CA" sz="1350" dirty="0"/>
              <a:t>, 30 January 2026, </a:t>
            </a:r>
          </a:p>
          <a:p>
            <a:r>
              <a:rPr lang="en-CA" sz="1350" dirty="0"/>
              <a:t>https://</a:t>
            </a:r>
            <a:r>
              <a:rPr lang="en-CA" sz="1350" dirty="0" err="1"/>
              <a:t>www.litcharts.com</a:t>
            </a:r>
            <a:r>
              <a:rPr lang="en-CA" sz="1350" dirty="0"/>
              <a:t>/literary-devices-and-terms/theme</a:t>
            </a:r>
          </a:p>
        </p:txBody>
      </p:sp>
      <p:sp>
        <p:nvSpPr>
          <p:cNvPr id="4" name="文本框 3">
            <a:extLst>
              <a:ext uri="{FF2B5EF4-FFF2-40B4-BE49-F238E27FC236}">
                <a16:creationId xmlns:a16="http://schemas.microsoft.com/office/drawing/2014/main" id="{BC5828AD-A9BE-3AAF-E530-A65A14E7625A}"/>
              </a:ext>
            </a:extLst>
          </p:cNvPr>
          <p:cNvSpPr txBox="1"/>
          <p:nvPr/>
        </p:nvSpPr>
        <p:spPr>
          <a:xfrm>
            <a:off x="670352" y="1429400"/>
            <a:ext cx="7232234" cy="1477328"/>
          </a:xfrm>
          <a:prstGeom prst="rect">
            <a:avLst/>
          </a:prstGeom>
          <a:noFill/>
        </p:spPr>
        <p:txBody>
          <a:bodyPr wrap="square">
            <a:spAutoFit/>
          </a:bodyPr>
          <a:lstStyle/>
          <a:p>
            <a:pPr lvl="0">
              <a:lnSpc>
                <a:spcPct val="100000"/>
              </a:lnSpc>
            </a:pPr>
            <a:r>
              <a:rPr lang="en-US" sz="1800" dirty="0"/>
              <a:t>A theme is a universal idea, lesson, or message explored throughout a work of literature. One key characteristic of literary themes is their universality, which is to say that themes are ideas that not only apply to the specific characters and events of a book or play, but also express broader truths about human experience that readers can apply to their own lives. </a:t>
            </a:r>
          </a:p>
        </p:txBody>
      </p:sp>
      <p:sp>
        <p:nvSpPr>
          <p:cNvPr id="7" name="内容占位符 6">
            <a:extLst>
              <a:ext uri="{FF2B5EF4-FFF2-40B4-BE49-F238E27FC236}">
                <a16:creationId xmlns:a16="http://schemas.microsoft.com/office/drawing/2014/main" id="{3D5F1282-3E99-8373-9E40-A9B4A1DF5631}"/>
              </a:ext>
            </a:extLst>
          </p:cNvPr>
          <p:cNvSpPr>
            <a:spLocks noGrp="1"/>
          </p:cNvSpPr>
          <p:nvPr>
            <p:ph idx="1"/>
          </p:nvPr>
        </p:nvSpPr>
        <p:spPr/>
        <p:txBody>
          <a:bodyPr/>
          <a:lstStyle/>
          <a:p>
            <a:r>
              <a:rPr lang="en-CA" dirty="0"/>
              <a:t> </a:t>
            </a:r>
          </a:p>
        </p:txBody>
      </p:sp>
      <p:sp>
        <p:nvSpPr>
          <p:cNvPr id="9" name="文本框 8">
            <a:extLst>
              <a:ext uri="{FF2B5EF4-FFF2-40B4-BE49-F238E27FC236}">
                <a16:creationId xmlns:a16="http://schemas.microsoft.com/office/drawing/2014/main" id="{412FD6BE-4994-0C06-8FB1-2247316465CF}"/>
              </a:ext>
            </a:extLst>
          </p:cNvPr>
          <p:cNvSpPr txBox="1"/>
          <p:nvPr/>
        </p:nvSpPr>
        <p:spPr>
          <a:xfrm>
            <a:off x="670352" y="3228233"/>
            <a:ext cx="7330206" cy="1200329"/>
          </a:xfrm>
          <a:prstGeom prst="rect">
            <a:avLst/>
          </a:prstGeom>
          <a:noFill/>
        </p:spPr>
        <p:txBody>
          <a:bodyPr wrap="square">
            <a:spAutoFit/>
          </a:bodyPr>
          <a:lstStyle/>
          <a:p>
            <a:pPr lvl="0">
              <a:lnSpc>
                <a:spcPct val="100000"/>
              </a:lnSpc>
            </a:pPr>
            <a:r>
              <a:rPr lang="en-US" sz="1800" dirty="0"/>
              <a:t>For example, John Steinbeck’s </a:t>
            </a:r>
            <a:r>
              <a:rPr lang="en-US" sz="1800" i="1" dirty="0"/>
              <a:t>The Grapes of Wrath </a:t>
            </a:r>
            <a:r>
              <a:rPr lang="en-US" sz="1800" dirty="0"/>
              <a:t>(about a family of tenant farmers who are displaced from their land in Oklahoma) is a book whose themes might be said to include the inhumanity of capitalism, as well as the vitality and necessity of family and friendship.</a:t>
            </a:r>
          </a:p>
        </p:txBody>
      </p:sp>
    </p:spTree>
    <p:extLst>
      <p:ext uri="{BB962C8B-B14F-4D97-AF65-F5344CB8AC3E}">
        <p14:creationId xmlns:p14="http://schemas.microsoft.com/office/powerpoint/2010/main" val="23883125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5FA85A-4189-802C-D30A-4FF3E9611025}"/>
              </a:ext>
            </a:extLst>
          </p:cNvPr>
          <p:cNvSpPr>
            <a:spLocks noGrp="1"/>
          </p:cNvSpPr>
          <p:nvPr>
            <p:ph type="title"/>
          </p:nvPr>
        </p:nvSpPr>
        <p:spPr>
          <a:xfrm>
            <a:off x="439859" y="1262818"/>
            <a:ext cx="2336449" cy="1797269"/>
          </a:xfrm>
        </p:spPr>
        <p:txBody>
          <a:bodyPr anchor="b">
            <a:normAutofit fontScale="90000"/>
          </a:bodyPr>
          <a:lstStyle/>
          <a:p>
            <a:pPr algn="r"/>
            <a:r>
              <a:rPr lang="en-CA" sz="3000" dirty="0">
                <a:solidFill>
                  <a:schemeClr val="tx1">
                    <a:lumMod val="65000"/>
                    <a:lumOff val="35000"/>
                  </a:schemeClr>
                </a:solidFill>
              </a:rPr>
              <a:t>Some additional key details about theme:</a:t>
            </a:r>
            <a:endParaRPr lang="en-US" sz="3000" dirty="0">
              <a:solidFill>
                <a:schemeClr val="tx1">
                  <a:lumMod val="65000"/>
                  <a:lumOff val="35000"/>
                </a:schemeClr>
              </a:solidFill>
            </a:endParaRPr>
          </a:p>
        </p:txBody>
      </p:sp>
      <p:graphicFrame>
        <p:nvGraphicFramePr>
          <p:cNvPr id="5" name="Content Placeholder 2">
            <a:extLst>
              <a:ext uri="{FF2B5EF4-FFF2-40B4-BE49-F238E27FC236}">
                <a16:creationId xmlns:a16="http://schemas.microsoft.com/office/drawing/2014/main" id="{8363C25B-A623-4854-67A6-B5744E11BC63}"/>
              </a:ext>
            </a:extLst>
          </p:cNvPr>
          <p:cNvGraphicFramePr>
            <a:graphicFrameLocks noGrp="1"/>
          </p:cNvGraphicFramePr>
          <p:nvPr>
            <p:ph idx="1"/>
          </p:nvPr>
        </p:nvGraphicFramePr>
        <p:xfrm>
          <a:off x="3678789" y="562830"/>
          <a:ext cx="5000125" cy="40904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Box 5">
            <a:extLst>
              <a:ext uri="{FF2B5EF4-FFF2-40B4-BE49-F238E27FC236}">
                <a16:creationId xmlns:a16="http://schemas.microsoft.com/office/drawing/2014/main" id="{B6459DCB-9F44-2BEC-0DB9-90F0AC9BB8A8}"/>
              </a:ext>
            </a:extLst>
          </p:cNvPr>
          <p:cNvSpPr txBox="1"/>
          <p:nvPr/>
        </p:nvSpPr>
        <p:spPr>
          <a:xfrm>
            <a:off x="3835253" y="4552137"/>
            <a:ext cx="4500271" cy="715581"/>
          </a:xfrm>
          <a:prstGeom prst="rect">
            <a:avLst/>
          </a:prstGeom>
          <a:noFill/>
        </p:spPr>
        <p:txBody>
          <a:bodyPr wrap="none" rtlCol="0">
            <a:spAutoFit/>
          </a:bodyPr>
          <a:lstStyle/>
          <a:p>
            <a:r>
              <a:rPr lang="en-CA" sz="1350" dirty="0"/>
              <a:t>“Theme” </a:t>
            </a:r>
            <a:r>
              <a:rPr lang="en-CA" sz="1350" i="1" dirty="0" err="1"/>
              <a:t>LitCharts</a:t>
            </a:r>
            <a:r>
              <a:rPr lang="en-CA" sz="1350" dirty="0"/>
              <a:t>, 30 January 2026, </a:t>
            </a:r>
          </a:p>
          <a:p>
            <a:r>
              <a:rPr lang="en-CA" sz="1350" dirty="0"/>
              <a:t>https://</a:t>
            </a:r>
            <a:r>
              <a:rPr lang="en-CA" sz="1350" dirty="0" err="1"/>
              <a:t>www.litcharts.com</a:t>
            </a:r>
            <a:r>
              <a:rPr lang="en-CA" sz="1350" dirty="0"/>
              <a:t>/literary-devices-and-terms/theme</a:t>
            </a:r>
          </a:p>
          <a:p>
            <a:endParaRPr lang="en-US" sz="1350" dirty="0"/>
          </a:p>
        </p:txBody>
      </p:sp>
    </p:spTree>
    <p:extLst>
      <p:ext uri="{BB962C8B-B14F-4D97-AF65-F5344CB8AC3E}">
        <p14:creationId xmlns:p14="http://schemas.microsoft.com/office/powerpoint/2010/main" val="40544630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DD783-BAA4-C222-8032-D23E8616BD2C}"/>
              </a:ext>
            </a:extLst>
          </p:cNvPr>
          <p:cNvSpPr>
            <a:spLocks noGrp="1"/>
          </p:cNvSpPr>
          <p:nvPr>
            <p:ph type="title"/>
          </p:nvPr>
        </p:nvSpPr>
        <p:spPr>
          <a:xfrm>
            <a:off x="1028698" y="261649"/>
            <a:ext cx="7533017" cy="658297"/>
          </a:xfrm>
        </p:spPr>
        <p:txBody>
          <a:bodyPr vert="horz" lIns="68580" tIns="34290" rIns="68580" bIns="34290" rtlCol="0" anchor="ctr">
            <a:noAutofit/>
          </a:bodyPr>
          <a:lstStyle/>
          <a:p>
            <a:r>
              <a:rPr lang="en-US" sz="1800" dirty="0">
                <a:solidFill>
                  <a:schemeClr val="tx1">
                    <a:lumMod val="65000"/>
                    <a:lumOff val="35000"/>
                  </a:schemeClr>
                </a:solidFill>
              </a:rPr>
              <a:t>‘Think – Pair – Share’ Activity – The Book of Phoenix</a:t>
            </a:r>
          </a:p>
        </p:txBody>
      </p:sp>
      <p:graphicFrame>
        <p:nvGraphicFramePr>
          <p:cNvPr id="42" name="TextBox 6">
            <a:extLst>
              <a:ext uri="{FF2B5EF4-FFF2-40B4-BE49-F238E27FC236}">
                <a16:creationId xmlns:a16="http://schemas.microsoft.com/office/drawing/2014/main" id="{55E580E3-89C2-35E9-1EEC-59E938224530}"/>
              </a:ext>
            </a:extLst>
          </p:cNvPr>
          <p:cNvGraphicFramePr/>
          <p:nvPr/>
        </p:nvGraphicFramePr>
        <p:xfrm>
          <a:off x="483042" y="1584435"/>
          <a:ext cx="8195872" cy="31446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105338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BB54F8-0905-9EDC-422E-9239F09ED8DD}"/>
              </a:ext>
            </a:extLst>
          </p:cNvPr>
          <p:cNvSpPr>
            <a:spLocks noGrp="1"/>
          </p:cNvSpPr>
          <p:nvPr>
            <p:ph idx="1"/>
          </p:nvPr>
        </p:nvSpPr>
        <p:spPr>
          <a:xfrm>
            <a:off x="1335975" y="124692"/>
            <a:ext cx="6526318" cy="4076623"/>
          </a:xfrm>
        </p:spPr>
        <p:txBody>
          <a:bodyPr>
            <a:noAutofit/>
          </a:bodyPr>
          <a:lstStyle/>
          <a:p>
            <a:pPr marL="0" indent="0">
              <a:buNone/>
            </a:pPr>
            <a:r>
              <a:rPr lang="en-US" sz="1800" dirty="0">
                <a:solidFill>
                  <a:schemeClr val="tx1">
                    <a:alpha val="80000"/>
                  </a:schemeClr>
                </a:solidFill>
              </a:rPr>
              <a:t>“One must stop time to listen to a story. The storyteller starts it again.</a:t>
            </a:r>
          </a:p>
          <a:p>
            <a:pPr marL="0" indent="0">
              <a:buNone/>
            </a:pPr>
            <a:r>
              <a:rPr lang="en-US" sz="1800" dirty="0">
                <a:solidFill>
                  <a:schemeClr val="tx1">
                    <a:alpha val="80000"/>
                  </a:schemeClr>
                </a:solidFill>
              </a:rPr>
              <a:t>	She starts it in her own place, in her own moment, in her own point of view. As long as you listen, she is in charge of your destiny. You and the storyteller share everything, even your existence. </a:t>
            </a:r>
          </a:p>
          <a:p>
            <a:pPr marL="0" indent="0">
              <a:buNone/>
            </a:pPr>
            <a:r>
              <a:rPr lang="en-US" sz="1800" dirty="0">
                <a:solidFill>
                  <a:schemeClr val="tx1">
                    <a:alpha val="80000"/>
                  </a:schemeClr>
                </a:solidFill>
              </a:rPr>
              <a:t>	Listen…</a:t>
            </a:r>
          </a:p>
          <a:p>
            <a:pPr marL="0" indent="0">
              <a:buNone/>
            </a:pPr>
            <a:r>
              <a:rPr lang="en-US" sz="1800" dirty="0">
                <a:solidFill>
                  <a:schemeClr val="tx1">
                    <a:alpha val="80000"/>
                  </a:schemeClr>
                </a:solidFill>
              </a:rPr>
              <a:t>	I started picking up the local accent. I could never fit in, so that wasn’t the reason. I just liked the sound of it. I missed my love Saeed, my friend Mmuo, the other Tower 7 prisoners who weren’t so nice to me. Speaking like the Ghanaians reminded me of them all. Plus, after all that had happened, it felt good to be different from what I had been, yet the same. That which was me would never change. That which was me could survive death. Over and over. </a:t>
            </a:r>
          </a:p>
          <a:p>
            <a:pPr marL="0" indent="0">
              <a:buNone/>
            </a:pPr>
            <a:r>
              <a:rPr lang="en-US" sz="1800" dirty="0">
                <a:solidFill>
                  <a:schemeClr val="tx1">
                    <a:alpha val="80000"/>
                  </a:schemeClr>
                </a:solidFill>
              </a:rPr>
              <a:t>	I was Phoenix.” </a:t>
            </a:r>
          </a:p>
        </p:txBody>
      </p:sp>
    </p:spTree>
    <p:extLst>
      <p:ext uri="{BB962C8B-B14F-4D97-AF65-F5344CB8AC3E}">
        <p14:creationId xmlns:p14="http://schemas.microsoft.com/office/powerpoint/2010/main" val="13031837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9832C13E-ABED-7B38-E3A4-74084460B539}"/>
              </a:ext>
            </a:extLst>
          </p:cNvPr>
          <p:cNvSpPr txBox="1"/>
          <p:nvPr/>
        </p:nvSpPr>
        <p:spPr>
          <a:xfrm>
            <a:off x="1561274" y="532646"/>
            <a:ext cx="6220162" cy="369332"/>
          </a:xfrm>
          <a:prstGeom prst="rect">
            <a:avLst/>
          </a:prstGeom>
          <a:noFill/>
        </p:spPr>
        <p:txBody>
          <a:bodyPr wrap="square" rtlCol="0">
            <a:spAutoFit/>
          </a:bodyPr>
          <a:lstStyle/>
          <a:p>
            <a:pPr algn="ctr"/>
            <a:r>
              <a:rPr lang="en-US" dirty="0">
                <a:solidFill>
                  <a:srgbClr val="FFC000"/>
                </a:solidFill>
              </a:rPr>
              <a:t>Evidence chart and first impressions from Acheson’s Examples</a:t>
            </a:r>
          </a:p>
        </p:txBody>
      </p:sp>
      <p:graphicFrame>
        <p:nvGraphicFramePr>
          <p:cNvPr id="2" name="表格 1">
            <a:extLst>
              <a:ext uri="{FF2B5EF4-FFF2-40B4-BE49-F238E27FC236}">
                <a16:creationId xmlns:a16="http://schemas.microsoft.com/office/drawing/2014/main" id="{AA7A22CD-12E3-71CB-5559-827F176A6D57}"/>
              </a:ext>
            </a:extLst>
          </p:cNvPr>
          <p:cNvGraphicFramePr>
            <a:graphicFrameLocks noGrp="1"/>
          </p:cNvGraphicFramePr>
          <p:nvPr>
            <p:extLst>
              <p:ext uri="{D42A27DB-BD31-4B8C-83A1-F6EECF244321}">
                <p14:modId xmlns:p14="http://schemas.microsoft.com/office/powerpoint/2010/main" val="3719732122"/>
              </p:ext>
            </p:extLst>
          </p:nvPr>
        </p:nvGraphicFramePr>
        <p:xfrm>
          <a:off x="477318" y="1369792"/>
          <a:ext cx="4129580" cy="2867810"/>
        </p:xfrm>
        <a:graphic>
          <a:graphicData uri="http://schemas.openxmlformats.org/drawingml/2006/table">
            <a:tbl>
              <a:tblPr/>
              <a:tblGrid>
                <a:gridCol w="825916">
                  <a:extLst>
                    <a:ext uri="{9D8B030D-6E8A-4147-A177-3AD203B41FA5}">
                      <a16:colId xmlns:a16="http://schemas.microsoft.com/office/drawing/2014/main" val="760128789"/>
                    </a:ext>
                  </a:extLst>
                </a:gridCol>
                <a:gridCol w="825916">
                  <a:extLst>
                    <a:ext uri="{9D8B030D-6E8A-4147-A177-3AD203B41FA5}">
                      <a16:colId xmlns:a16="http://schemas.microsoft.com/office/drawing/2014/main" val="823841311"/>
                    </a:ext>
                  </a:extLst>
                </a:gridCol>
                <a:gridCol w="825916">
                  <a:extLst>
                    <a:ext uri="{9D8B030D-6E8A-4147-A177-3AD203B41FA5}">
                      <a16:colId xmlns:a16="http://schemas.microsoft.com/office/drawing/2014/main" val="3992897672"/>
                    </a:ext>
                  </a:extLst>
                </a:gridCol>
                <a:gridCol w="825916">
                  <a:extLst>
                    <a:ext uri="{9D8B030D-6E8A-4147-A177-3AD203B41FA5}">
                      <a16:colId xmlns:a16="http://schemas.microsoft.com/office/drawing/2014/main" val="1899802006"/>
                    </a:ext>
                  </a:extLst>
                </a:gridCol>
                <a:gridCol w="825916">
                  <a:extLst>
                    <a:ext uri="{9D8B030D-6E8A-4147-A177-3AD203B41FA5}">
                      <a16:colId xmlns:a16="http://schemas.microsoft.com/office/drawing/2014/main" val="842941589"/>
                    </a:ext>
                  </a:extLst>
                </a:gridCol>
              </a:tblGrid>
              <a:tr h="324807">
                <a:tc>
                  <a:txBody>
                    <a:bodyPr/>
                    <a:lstStyle/>
                    <a:p>
                      <a:pPr algn="l">
                        <a:buNone/>
                      </a:pPr>
                      <a:endParaRPr lang="en-CA" sz="800" dirty="0">
                        <a:effectLst/>
                      </a:endParaRPr>
                    </a:p>
                  </a:txBody>
                  <a:tcPr marL="22530" marR="22530" marT="22530" marB="22530" anchor="ctr">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solidFill>
                      <a:srgbClr val="F2F2F2"/>
                    </a:solidFill>
                  </a:tcPr>
                </a:tc>
                <a:tc>
                  <a:txBody>
                    <a:bodyPr/>
                    <a:lstStyle/>
                    <a:p>
                      <a:pPr algn="l">
                        <a:buNone/>
                      </a:pPr>
                      <a:r>
                        <a:rPr lang="en-CA" sz="800">
                          <a:effectLst/>
                        </a:rPr>
                        <a:t>MATERIAL REALITY</a:t>
                      </a:r>
                    </a:p>
                  </a:txBody>
                  <a:tcPr marL="22530" marR="22530" marT="22530" marB="22530" anchor="ctr">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solidFill>
                      <a:srgbClr val="F2F2F2"/>
                    </a:solidFill>
                  </a:tcPr>
                </a:tc>
                <a:tc>
                  <a:txBody>
                    <a:bodyPr/>
                    <a:lstStyle/>
                    <a:p>
                      <a:pPr algn="l">
                        <a:buNone/>
                      </a:pPr>
                      <a:r>
                        <a:rPr lang="en-CA" sz="800">
                          <a:effectLst/>
                        </a:rPr>
                        <a:t>MARRIAGE</a:t>
                      </a:r>
                    </a:p>
                  </a:txBody>
                  <a:tcPr marL="22530" marR="22530" marT="22530" marB="22530" anchor="ctr">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solidFill>
                      <a:srgbClr val="F2F2F2"/>
                    </a:solidFill>
                  </a:tcPr>
                </a:tc>
                <a:tc>
                  <a:txBody>
                    <a:bodyPr/>
                    <a:lstStyle/>
                    <a:p>
                      <a:pPr algn="l">
                        <a:buNone/>
                      </a:pPr>
                      <a:r>
                        <a:rPr lang="en-CA" sz="800">
                          <a:effectLst/>
                        </a:rPr>
                        <a:t>SENSUOUSNESS</a:t>
                      </a:r>
                    </a:p>
                  </a:txBody>
                  <a:tcPr marL="22530" marR="22530" marT="22530" marB="22530" anchor="ctr">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solidFill>
                      <a:srgbClr val="F2F2F2"/>
                    </a:solidFill>
                  </a:tcPr>
                </a:tc>
                <a:tc>
                  <a:txBody>
                    <a:bodyPr/>
                    <a:lstStyle/>
                    <a:p>
                      <a:pPr algn="l">
                        <a:buNone/>
                      </a:pPr>
                      <a:r>
                        <a:rPr lang="en-CA" sz="800" dirty="0">
                          <a:effectLst/>
                        </a:rPr>
                        <a:t>EMOTION</a:t>
                      </a:r>
                    </a:p>
                  </a:txBody>
                  <a:tcPr marL="22530" marR="22530" marT="22530" marB="22530" anchor="ctr">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2909397087"/>
                  </a:ext>
                </a:extLst>
              </a:tr>
              <a:tr h="1180397">
                <a:tc>
                  <a:txBody>
                    <a:bodyPr/>
                    <a:lstStyle/>
                    <a:p>
                      <a:pPr algn="l">
                        <a:buNone/>
                      </a:pPr>
                      <a:r>
                        <a:rPr lang="en-CA" sz="800" dirty="0">
                          <a:effectLst/>
                        </a:rPr>
                        <a:t>Poem</a:t>
                      </a:r>
                    </a:p>
                  </a:txBody>
                  <a:tcPr marL="22530" marR="22530" marT="22530" marB="22530" anchor="ctr">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noFill/>
                  </a:tcPr>
                </a:tc>
                <a:tc>
                  <a:txBody>
                    <a:bodyPr/>
                    <a:lstStyle/>
                    <a:p>
                      <a:pPr algn="l">
                        <a:buNone/>
                      </a:pPr>
                      <a:r>
                        <a:rPr lang="en-CA" sz="800" dirty="0">
                          <a:effectLst/>
                        </a:rPr>
                        <a:t>“the plums” 2</a:t>
                      </a:r>
                      <a:br>
                        <a:rPr lang="en-CA" sz="800" dirty="0">
                          <a:effectLst/>
                        </a:rPr>
                      </a:br>
                      <a:r>
                        <a:rPr lang="en-CA" sz="800" dirty="0">
                          <a:effectLst/>
                        </a:rPr>
                        <a:t>“the icebox” 4</a:t>
                      </a:r>
                      <a:br>
                        <a:rPr lang="en-CA" sz="800" dirty="0">
                          <a:effectLst/>
                        </a:rPr>
                      </a:br>
                      <a:r>
                        <a:rPr lang="en-CA" sz="800" dirty="0">
                          <a:effectLst/>
                        </a:rPr>
                        <a:t>“breakfast” 8</a:t>
                      </a:r>
                      <a:br>
                        <a:rPr lang="en-CA" sz="800" dirty="0">
                          <a:effectLst/>
                        </a:rPr>
                      </a:br>
                      <a:r>
                        <a:rPr lang="en-CA" sz="800" dirty="0">
                          <a:effectLst/>
                        </a:rPr>
                        <a:t>“that” 3, “which” 5</a:t>
                      </a:r>
                      <a:br>
                        <a:rPr lang="en-CA" sz="800" dirty="0">
                          <a:effectLst/>
                        </a:rPr>
                      </a:br>
                      <a:r>
                        <a:rPr lang="en-CA" sz="800" dirty="0">
                          <a:effectLst/>
                        </a:rPr>
                        <a:t>(deictics)</a:t>
                      </a:r>
                    </a:p>
                  </a:txBody>
                  <a:tcPr marL="22530" marR="22530" marT="22530" marB="22530" anchor="ctr">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noFill/>
                  </a:tcPr>
                </a:tc>
                <a:tc>
                  <a:txBody>
                    <a:bodyPr/>
                    <a:lstStyle/>
                    <a:p>
                      <a:pPr algn="l">
                        <a:buNone/>
                      </a:pPr>
                      <a:r>
                        <a:rPr lang="en-CA" sz="800" dirty="0">
                          <a:effectLst/>
                        </a:rPr>
                        <a:t>Title</a:t>
                      </a:r>
                      <a:br>
                        <a:rPr lang="en-CA" sz="800" dirty="0">
                          <a:effectLst/>
                        </a:rPr>
                      </a:br>
                      <a:r>
                        <a:rPr lang="en-CA" sz="800" dirty="0">
                          <a:effectLst/>
                        </a:rPr>
                        <a:t>“I/me,” “you”</a:t>
                      </a:r>
                      <a:br>
                        <a:rPr lang="en-CA" sz="800" dirty="0">
                          <a:effectLst/>
                        </a:rPr>
                      </a:br>
                      <a:r>
                        <a:rPr lang="en-CA" sz="800" dirty="0">
                          <a:effectLst/>
                        </a:rPr>
                        <a:t>“icebox” 4,</a:t>
                      </a:r>
                      <a:br>
                        <a:rPr lang="en-CA" sz="800" dirty="0">
                          <a:effectLst/>
                        </a:rPr>
                      </a:br>
                      <a:r>
                        <a:rPr lang="en-CA" sz="800" dirty="0">
                          <a:effectLst/>
                        </a:rPr>
                        <a:t>“breakfast” 8</a:t>
                      </a:r>
                      <a:br>
                        <a:rPr lang="en-CA" sz="800" dirty="0">
                          <a:effectLst/>
                        </a:rPr>
                      </a:br>
                      <a:r>
                        <a:rPr lang="en-CA" sz="800" dirty="0">
                          <a:effectLst/>
                        </a:rPr>
                        <a:t>(domesticity)</a:t>
                      </a:r>
                      <a:br>
                        <a:rPr lang="en-CA" sz="800" dirty="0">
                          <a:effectLst/>
                        </a:rPr>
                      </a:br>
                      <a:r>
                        <a:rPr lang="en-CA" sz="800" dirty="0">
                          <a:effectLst/>
                        </a:rPr>
                        <a:t>“you were probably saving” 6–7</a:t>
                      </a:r>
                    </a:p>
                  </a:txBody>
                  <a:tcPr marL="22530" marR="22530" marT="22530" marB="22530" anchor="ctr">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noFill/>
                  </a:tcPr>
                </a:tc>
                <a:tc>
                  <a:txBody>
                    <a:bodyPr/>
                    <a:lstStyle/>
                    <a:p>
                      <a:pPr algn="l">
                        <a:buNone/>
                      </a:pPr>
                      <a:r>
                        <a:rPr lang="en-CA" sz="800">
                          <a:effectLst/>
                        </a:rPr>
                        <a:t>“I have eaten” 1</a:t>
                      </a:r>
                      <a:br>
                        <a:rPr lang="en-CA" sz="800">
                          <a:effectLst/>
                        </a:rPr>
                      </a:br>
                      <a:r>
                        <a:rPr lang="en-CA" sz="800">
                          <a:effectLst/>
                        </a:rPr>
                        <a:t>“delicious” 10</a:t>
                      </a:r>
                      <a:br>
                        <a:rPr lang="en-CA" sz="800">
                          <a:effectLst/>
                        </a:rPr>
                      </a:br>
                      <a:r>
                        <a:rPr lang="en-CA" sz="800">
                          <a:effectLst/>
                        </a:rPr>
                        <a:t>“sweet” 11</a:t>
                      </a:r>
                      <a:br>
                        <a:rPr lang="en-CA" sz="800">
                          <a:effectLst/>
                        </a:rPr>
                      </a:br>
                      <a:r>
                        <a:rPr lang="en-CA" sz="800">
                          <a:effectLst/>
                        </a:rPr>
                        <a:t>“cold” 12</a:t>
                      </a:r>
                    </a:p>
                  </a:txBody>
                  <a:tcPr marL="22530" marR="22530" marT="22530" marB="22530" anchor="ctr">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noFill/>
                  </a:tcPr>
                </a:tc>
                <a:tc>
                  <a:txBody>
                    <a:bodyPr/>
                    <a:lstStyle/>
                    <a:p>
                      <a:pPr algn="l">
                        <a:buNone/>
                      </a:pPr>
                      <a:r>
                        <a:rPr lang="en-CA" sz="800">
                          <a:effectLst/>
                        </a:rPr>
                        <a:t>Title</a:t>
                      </a:r>
                      <a:br>
                        <a:rPr lang="en-CA" sz="800">
                          <a:effectLst/>
                        </a:rPr>
                      </a:br>
                      <a:r>
                        <a:rPr lang="en-CA" sz="800">
                          <a:effectLst/>
                        </a:rPr>
                        <a:t>“I/me,” “you”</a:t>
                      </a:r>
                      <a:br>
                        <a:rPr lang="en-CA" sz="800">
                          <a:effectLst/>
                        </a:rPr>
                      </a:br>
                      <a:r>
                        <a:rPr lang="en-CA" sz="800">
                          <a:effectLst/>
                        </a:rPr>
                        <a:t>“Forgive me” 9</a:t>
                      </a:r>
                    </a:p>
                  </a:txBody>
                  <a:tcPr marL="22530" marR="22530" marT="22530" marB="22530" anchor="ctr">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2882579001"/>
                  </a:ext>
                </a:extLst>
              </a:tr>
              <a:tr h="467406">
                <a:tc>
                  <a:txBody>
                    <a:bodyPr/>
                    <a:lstStyle/>
                    <a:p>
                      <a:pPr algn="l">
                        <a:buNone/>
                      </a:pPr>
                      <a:r>
                        <a:rPr lang="en-CA" sz="800">
                          <a:effectLst/>
                        </a:rPr>
                        <a:t>Reference Works</a:t>
                      </a:r>
                    </a:p>
                  </a:txBody>
                  <a:tcPr marL="22530" marR="22530" marT="22530" marB="22530" anchor="ctr">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noFill/>
                  </a:tcPr>
                </a:tc>
                <a:tc>
                  <a:txBody>
                    <a:bodyPr/>
                    <a:lstStyle/>
                    <a:p>
                      <a:pPr algn="l">
                        <a:buNone/>
                      </a:pPr>
                      <a:r>
                        <a:rPr lang="en-CA" sz="800">
                          <a:effectLst/>
                        </a:rPr>
                        <a:t>Dictionary: Anglo-Saxon words</a:t>
                      </a:r>
                    </a:p>
                  </a:txBody>
                  <a:tcPr marL="22530" marR="22530" marT="22530" marB="22530" anchor="ctr">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noFill/>
                  </a:tcPr>
                </a:tc>
                <a:tc>
                  <a:txBody>
                    <a:bodyPr/>
                    <a:lstStyle/>
                    <a:p>
                      <a:pPr algn="l">
                        <a:buNone/>
                      </a:pPr>
                      <a:r>
                        <a:rPr lang="en-CA" sz="800">
                          <a:effectLst/>
                        </a:rPr>
                        <a:t>Biography: Williams’s marriage</a:t>
                      </a:r>
                    </a:p>
                  </a:txBody>
                  <a:tcPr marL="22530" marR="22530" marT="22530" marB="22530" anchor="ctr">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noFill/>
                  </a:tcPr>
                </a:tc>
                <a:tc>
                  <a:txBody>
                    <a:bodyPr/>
                    <a:lstStyle/>
                    <a:p>
                      <a:pPr algn="l">
                        <a:buNone/>
                      </a:pPr>
                      <a:r>
                        <a:rPr lang="en-CA" sz="800" dirty="0">
                          <a:effectLst/>
                        </a:rPr>
                        <a:t>Dictionary: plum</a:t>
                      </a:r>
                    </a:p>
                  </a:txBody>
                  <a:tcPr marL="22530" marR="22530" marT="22530" marB="22530" anchor="ctr">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noFill/>
                  </a:tcPr>
                </a:tc>
                <a:tc>
                  <a:txBody>
                    <a:bodyPr/>
                    <a:lstStyle/>
                    <a:p>
                      <a:pPr algn="l">
                        <a:buNone/>
                      </a:pPr>
                      <a:r>
                        <a:rPr lang="en-CA" sz="800">
                          <a:effectLst/>
                        </a:rPr>
                        <a:t>Edition: “Reply”</a:t>
                      </a:r>
                    </a:p>
                  </a:txBody>
                  <a:tcPr marL="22530" marR="22530" marT="22530" marB="22530" anchor="ctr">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2057227919"/>
                  </a:ext>
                </a:extLst>
              </a:tr>
              <a:tr h="895200">
                <a:tc>
                  <a:txBody>
                    <a:bodyPr/>
                    <a:lstStyle/>
                    <a:p>
                      <a:pPr algn="l">
                        <a:buNone/>
                      </a:pPr>
                      <a:r>
                        <a:rPr lang="en-CA" sz="800">
                          <a:effectLst/>
                        </a:rPr>
                        <a:t>Social and Historical Contexts</a:t>
                      </a:r>
                    </a:p>
                  </a:txBody>
                  <a:tcPr marL="22530" marR="22530" marT="22530" marB="22530" anchor="ctr">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noFill/>
                  </a:tcPr>
                </a:tc>
                <a:tc>
                  <a:txBody>
                    <a:bodyPr/>
                    <a:lstStyle/>
                    <a:p>
                      <a:pPr algn="l">
                        <a:buNone/>
                      </a:pPr>
                      <a:r>
                        <a:rPr lang="en-CA" sz="800">
                          <a:effectLst/>
                        </a:rPr>
                        <a:t>Women’s work</a:t>
                      </a:r>
                      <a:br>
                        <a:rPr lang="en-CA" sz="800">
                          <a:effectLst/>
                        </a:rPr>
                      </a:br>
                      <a:r>
                        <a:rPr lang="en-CA" sz="800">
                          <a:effectLst/>
                        </a:rPr>
                        <a:t>labour intensive</a:t>
                      </a:r>
                      <a:br>
                        <a:rPr lang="en-CA" sz="800">
                          <a:effectLst/>
                        </a:rPr>
                      </a:br>
                      <a:r>
                        <a:rPr lang="en-CA" sz="800">
                          <a:effectLst/>
                        </a:rPr>
                        <a:t>Food an important part of women’s lives</a:t>
                      </a:r>
                    </a:p>
                  </a:txBody>
                  <a:tcPr marL="22530" marR="22530" marT="22530" marB="22530" anchor="ctr">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noFill/>
                  </a:tcPr>
                </a:tc>
                <a:tc>
                  <a:txBody>
                    <a:bodyPr/>
                    <a:lstStyle/>
                    <a:p>
                      <a:pPr algn="l">
                        <a:buNone/>
                      </a:pPr>
                      <a:r>
                        <a:rPr lang="en-CA" sz="800">
                          <a:effectLst/>
                        </a:rPr>
                        <a:t>Nuclear family</a:t>
                      </a:r>
                    </a:p>
                  </a:txBody>
                  <a:tcPr marL="22530" marR="22530" marT="22530" marB="22530" anchor="ctr">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noFill/>
                  </a:tcPr>
                </a:tc>
                <a:tc>
                  <a:txBody>
                    <a:bodyPr/>
                    <a:lstStyle/>
                    <a:p>
                      <a:pPr algn="l">
                        <a:buNone/>
                      </a:pPr>
                      <a:r>
                        <a:rPr lang="en-CA" sz="800" dirty="0">
                          <a:effectLst/>
                        </a:rPr>
                        <a:t>Intimacy in marriage</a:t>
                      </a:r>
                    </a:p>
                  </a:txBody>
                  <a:tcPr marL="22530" marR="22530" marT="22530" marB="22530" anchor="ctr">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noFill/>
                  </a:tcPr>
                </a:tc>
                <a:tc>
                  <a:txBody>
                    <a:bodyPr/>
                    <a:lstStyle/>
                    <a:p>
                      <a:pPr algn="l">
                        <a:buNone/>
                      </a:pPr>
                      <a:r>
                        <a:rPr lang="en-CA" sz="800" dirty="0">
                          <a:effectLst/>
                        </a:rPr>
                        <a:t>Wife isolated</a:t>
                      </a:r>
                    </a:p>
                  </a:txBody>
                  <a:tcPr marL="22530" marR="22530" marT="22530" marB="22530" anchor="ctr">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475968291"/>
                  </a:ext>
                </a:extLst>
              </a:tr>
            </a:tbl>
          </a:graphicData>
        </a:graphic>
      </p:graphicFrame>
      <p:sp>
        <p:nvSpPr>
          <p:cNvPr id="4" name="文本框 3">
            <a:extLst>
              <a:ext uri="{FF2B5EF4-FFF2-40B4-BE49-F238E27FC236}">
                <a16:creationId xmlns:a16="http://schemas.microsoft.com/office/drawing/2014/main" id="{647C0874-70BB-D4FA-CECA-452924638835}"/>
              </a:ext>
            </a:extLst>
          </p:cNvPr>
          <p:cNvSpPr txBox="1"/>
          <p:nvPr/>
        </p:nvSpPr>
        <p:spPr>
          <a:xfrm>
            <a:off x="567673" y="1008927"/>
            <a:ext cx="3747716" cy="253916"/>
          </a:xfrm>
          <a:prstGeom prst="rect">
            <a:avLst/>
          </a:prstGeom>
          <a:noFill/>
        </p:spPr>
        <p:txBody>
          <a:bodyPr wrap="square">
            <a:spAutoFit/>
          </a:bodyPr>
          <a:lstStyle/>
          <a:p>
            <a:r>
              <a:rPr lang="en-CA" sz="1000" dirty="0"/>
              <a:t>Third Version of My Chart: Adding Evidence About Social Context</a:t>
            </a:r>
          </a:p>
        </p:txBody>
      </p:sp>
      <p:sp>
        <p:nvSpPr>
          <p:cNvPr id="6" name="Rectangle 1">
            <a:extLst>
              <a:ext uri="{FF2B5EF4-FFF2-40B4-BE49-F238E27FC236}">
                <a16:creationId xmlns:a16="http://schemas.microsoft.com/office/drawing/2014/main" id="{69A4EDEA-C2B6-3503-C0FC-EF113FC38B11}"/>
              </a:ext>
            </a:extLst>
          </p:cNvPr>
          <p:cNvSpPr>
            <a:spLocks noChangeArrowheads="1"/>
          </p:cNvSpPr>
          <p:nvPr/>
        </p:nvSpPr>
        <p:spPr bwMode="auto">
          <a:xfrm>
            <a:off x="4871981" y="1415816"/>
            <a:ext cx="3726031"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panose="020B0604020202020204" pitchFamily="34" charset="0"/>
              </a:rPr>
              <a:t>FIRST IMPRESSIONS, REVIEWED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panose="020B0604020202020204" pitchFamily="34" charset="0"/>
              </a:rPr>
              <a:t>My first impressions, from my close reading of the poem, were as follows: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200" b="0" i="0" u="none" strike="noStrike" cap="none" normalizeH="0" baseline="0" dirty="0">
                <a:ln>
                  <a:noFill/>
                </a:ln>
                <a:solidFill>
                  <a:schemeClr val="tx1"/>
                </a:solidFill>
                <a:effectLst/>
                <a:latin typeface="Arial" panose="020B0604020202020204" pitchFamily="34" charset="0"/>
              </a:rPr>
              <a:t>“This Is Just To Say” is about sensual, moral, and interpersonal experience in the material, everyday world.</a:t>
            </a:r>
          </a:p>
          <a:p>
            <a:pPr marL="0" marR="0" lvl="0" indent="0" algn="l" defTabSz="914400" rtl="0" eaLnBrk="0" fontAlgn="base" latinLnBrk="0" hangingPunct="0">
              <a:lnSpc>
                <a:spcPct val="100000"/>
              </a:lnSpc>
              <a:spcBef>
                <a:spcPct val="0"/>
              </a:spcBef>
              <a:spcAft>
                <a:spcPct val="0"/>
              </a:spcAft>
              <a:buClrTx/>
              <a:buSzTx/>
              <a:buFontTx/>
              <a:buAutoNum type="arabicPeriod"/>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200" b="0" i="0" u="none" strike="noStrike" cap="none" normalizeH="0" baseline="0" dirty="0">
                <a:ln>
                  <a:noFill/>
                </a:ln>
                <a:solidFill>
                  <a:schemeClr val="tx1"/>
                </a:solidFill>
                <a:effectLst/>
                <a:latin typeface="Arial" panose="020B0604020202020204" pitchFamily="34" charset="0"/>
              </a:rPr>
              <a:t>“This Is Just To Say” is about relationships between people and about how these relationships are shaped by use of language.</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200" b="0" i="0" u="none" strike="noStrike" cap="none" normalizeH="0" baseline="0" dirty="0">
                <a:ln>
                  <a:noFill/>
                </a:ln>
                <a:solidFill>
                  <a:schemeClr val="tx1"/>
                </a:solidFill>
                <a:effectLst/>
                <a:latin typeface="Arial" panose="020B0604020202020204" pitchFamily="34" charset="0"/>
              </a:rPr>
              <a:t>“This Is Just To Say” is about poetry and how it is different or the same as everyday acts of communication.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172021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rot="10800000">
            <a:off x="8586788" y="4729163"/>
            <a:ext cx="304800" cy="192087"/>
          </a:xfrm>
          <a:prstGeom prst="rect">
            <a:avLst/>
          </a:prstGeom>
          <a:noFill/>
          <a:ln/>
        </p:spPr>
        <p:txBody>
          <a:bodyPr/>
          <a:lstStyle/>
          <a:p>
            <a:endParaRPr lang="en-CA"/>
          </a:p>
        </p:txBody>
      </p:sp>
      <p:sp>
        <p:nvSpPr>
          <p:cNvPr id="4" name="Shape 1"/>
          <p:cNvSpPr/>
          <p:nvPr/>
        </p:nvSpPr>
        <p:spPr>
          <a:xfrm>
            <a:off x="554720" y="348895"/>
            <a:ext cx="5712602" cy="553998"/>
          </a:xfrm>
          <a:prstGeom prst="rect">
            <a:avLst/>
          </a:prstGeom>
          <a:noFill/>
          <a:ln/>
        </p:spPr>
        <p:txBody>
          <a:bodyPr/>
          <a:lstStyle/>
          <a:p>
            <a:endParaRPr lang="en-CA"/>
          </a:p>
        </p:txBody>
      </p:sp>
      <p:sp>
        <p:nvSpPr>
          <p:cNvPr id="5" name="Shape 2"/>
          <p:cNvSpPr/>
          <p:nvPr/>
        </p:nvSpPr>
        <p:spPr>
          <a:xfrm>
            <a:off x="554720" y="936381"/>
            <a:ext cx="2743200" cy="1375056"/>
          </a:xfrm>
          <a:prstGeom prst="rect">
            <a:avLst/>
          </a:prstGeom>
          <a:noFill/>
          <a:ln/>
        </p:spPr>
        <p:txBody>
          <a:bodyPr/>
          <a:lstStyle/>
          <a:p>
            <a:endParaRPr lang="en-CA"/>
          </a:p>
        </p:txBody>
      </p:sp>
      <p:sp>
        <p:nvSpPr>
          <p:cNvPr id="6" name="Shape 3"/>
          <p:cNvSpPr/>
          <p:nvPr/>
        </p:nvSpPr>
        <p:spPr>
          <a:xfrm>
            <a:off x="3296320" y="936380"/>
            <a:ext cx="4945273" cy="307777"/>
          </a:xfrm>
          <a:prstGeom prst="rect">
            <a:avLst/>
          </a:prstGeom>
          <a:noFill/>
          <a:ln/>
        </p:spPr>
        <p:txBody>
          <a:bodyPr/>
          <a:lstStyle/>
          <a:p>
            <a:endParaRPr lang="en-CA"/>
          </a:p>
        </p:txBody>
      </p:sp>
      <p:sp>
        <p:nvSpPr>
          <p:cNvPr id="7" name="Shape 4"/>
          <p:cNvSpPr/>
          <p:nvPr/>
        </p:nvSpPr>
        <p:spPr>
          <a:xfrm>
            <a:off x="3296320" y="1260098"/>
            <a:ext cx="4921295" cy="523220"/>
          </a:xfrm>
          <a:prstGeom prst="rect">
            <a:avLst/>
          </a:prstGeom>
          <a:noFill/>
          <a:ln/>
        </p:spPr>
        <p:txBody>
          <a:bodyPr/>
          <a:lstStyle/>
          <a:p>
            <a:endParaRPr lang="en-CA"/>
          </a:p>
        </p:txBody>
      </p:sp>
      <p:sp>
        <p:nvSpPr>
          <p:cNvPr id="8" name="Shape 5"/>
          <p:cNvSpPr/>
          <p:nvPr/>
        </p:nvSpPr>
        <p:spPr>
          <a:xfrm>
            <a:off x="3296320" y="1767653"/>
            <a:ext cx="4749444" cy="307777"/>
          </a:xfrm>
          <a:prstGeom prst="rect">
            <a:avLst/>
          </a:prstGeom>
          <a:noFill/>
          <a:ln/>
        </p:spPr>
        <p:txBody>
          <a:bodyPr/>
          <a:lstStyle/>
          <a:p>
            <a:endParaRPr lang="en-CA"/>
          </a:p>
        </p:txBody>
      </p:sp>
      <p:sp>
        <p:nvSpPr>
          <p:cNvPr id="9" name="Shape 6"/>
          <p:cNvSpPr/>
          <p:nvPr/>
        </p:nvSpPr>
        <p:spPr>
          <a:xfrm>
            <a:off x="3296320" y="1767653"/>
            <a:ext cx="4749444" cy="307777"/>
          </a:xfrm>
          <a:prstGeom prst="rect">
            <a:avLst/>
          </a:prstGeom>
          <a:noFill/>
          <a:ln/>
        </p:spPr>
        <p:txBody>
          <a:bodyPr/>
          <a:lstStyle/>
          <a:p>
            <a:endParaRPr lang="en-CA"/>
          </a:p>
        </p:txBody>
      </p:sp>
      <p:sp>
        <p:nvSpPr>
          <p:cNvPr id="10" name="Shape 7"/>
          <p:cNvSpPr/>
          <p:nvPr/>
        </p:nvSpPr>
        <p:spPr>
          <a:xfrm>
            <a:off x="3296319" y="1247402"/>
            <a:ext cx="4921295" cy="523220"/>
          </a:xfrm>
          <a:prstGeom prst="rect">
            <a:avLst/>
          </a:prstGeom>
          <a:noFill/>
          <a:ln/>
        </p:spPr>
        <p:txBody>
          <a:bodyPr/>
          <a:lstStyle/>
          <a:p>
            <a:endParaRPr lang="en-CA"/>
          </a:p>
        </p:txBody>
      </p:sp>
      <p:sp>
        <p:nvSpPr>
          <p:cNvPr id="11" name="Shape 8"/>
          <p:cNvSpPr/>
          <p:nvPr/>
        </p:nvSpPr>
        <p:spPr>
          <a:xfrm>
            <a:off x="3296320" y="936380"/>
            <a:ext cx="4945273" cy="307777"/>
          </a:xfrm>
          <a:prstGeom prst="rect">
            <a:avLst/>
          </a:prstGeom>
          <a:noFill/>
          <a:ln/>
        </p:spPr>
        <p:txBody>
          <a:bodyPr/>
          <a:lstStyle/>
          <a:p>
            <a:endParaRPr lang="en-CA"/>
          </a:p>
        </p:txBody>
      </p:sp>
      <p:sp>
        <p:nvSpPr>
          <p:cNvPr id="12" name="Shape 9"/>
          <p:cNvSpPr/>
          <p:nvPr/>
        </p:nvSpPr>
        <p:spPr>
          <a:xfrm>
            <a:off x="554720" y="936381"/>
            <a:ext cx="2743200" cy="1375056"/>
          </a:xfrm>
          <a:prstGeom prst="rect">
            <a:avLst/>
          </a:prstGeom>
          <a:noFill/>
          <a:ln/>
        </p:spPr>
        <p:txBody>
          <a:bodyPr/>
          <a:lstStyle/>
          <a:p>
            <a:endParaRPr lang="en-CA"/>
          </a:p>
        </p:txBody>
      </p:sp>
      <p:sp>
        <p:nvSpPr>
          <p:cNvPr id="13" name="Shape 10"/>
          <p:cNvSpPr/>
          <p:nvPr/>
        </p:nvSpPr>
        <p:spPr>
          <a:xfrm>
            <a:off x="554720" y="348895"/>
            <a:ext cx="5712602" cy="553998"/>
          </a:xfrm>
          <a:prstGeom prst="rect">
            <a:avLst/>
          </a:prstGeom>
          <a:noFill/>
          <a:ln/>
        </p:spPr>
        <p:txBody>
          <a:bodyPr/>
          <a:lstStyle/>
          <a:p>
            <a:endParaRPr lang="en-CA"/>
          </a:p>
        </p:txBody>
      </p:sp>
      <p:pic>
        <p:nvPicPr>
          <p:cNvPr id="16" name="Image 2" descr="preencoded.png"/>
          <p:cNvPicPr>
            <a:picLocks noChangeAspect="1"/>
          </p:cNvPicPr>
          <p:nvPr/>
        </p:nvPicPr>
        <p:blipFill>
          <a:blip r:embed="rId3"/>
          <a:stretch>
            <a:fillRect/>
          </a:stretch>
        </p:blipFill>
        <p:spPr>
          <a:xfrm>
            <a:off x="781297" y="1944481"/>
            <a:ext cx="4270315" cy="2517799"/>
          </a:xfrm>
          <a:prstGeom prst="rect">
            <a:avLst/>
          </a:prstGeom>
        </p:spPr>
      </p:pic>
      <p:sp>
        <p:nvSpPr>
          <p:cNvPr id="17" name="Text 11"/>
          <p:cNvSpPr>
            <a:spLocks/>
          </p:cNvSpPr>
          <p:nvPr/>
        </p:nvSpPr>
        <p:spPr>
          <a:xfrm>
            <a:off x="861730" y="1367819"/>
            <a:ext cx="5206644" cy="307777"/>
          </a:xfrm>
          <a:prstGeom prst="rect">
            <a:avLst/>
          </a:prstGeom>
          <a:noFill/>
          <a:ln/>
        </p:spPr>
        <p:txBody>
          <a:bodyPr wrap="square" rtlCol="0" anchor="ctr"/>
          <a:lstStyle/>
          <a:p>
            <a:pPr marL="0" indent="0" algn="l">
              <a:lnSpc>
                <a:spcPts val="1498"/>
              </a:lnSpc>
              <a:buNone/>
            </a:pPr>
            <a:r>
              <a:rPr lang="en-US" sz="1238" dirty="0">
                <a:solidFill>
                  <a:srgbClr val="000000">
                    <a:alpha val="99000"/>
                  </a:srgbClr>
                </a:solidFill>
                <a:latin typeface="Inter" pitchFamily="34" charset="0"/>
                <a:ea typeface="Inter" pitchFamily="34" charset="-122"/>
                <a:cs typeface="Inter" pitchFamily="34" charset="-120"/>
                <a:hlinkClick r:id="rId4"/>
              </a:rPr>
              <a:t>Purdue OWL</a:t>
            </a:r>
            <a:endParaRPr lang="en-US" sz="1238" dirty="0"/>
          </a:p>
        </p:txBody>
      </p:sp>
      <p:sp>
        <p:nvSpPr>
          <p:cNvPr id="21" name="Text 15"/>
          <p:cNvSpPr/>
          <p:nvPr/>
        </p:nvSpPr>
        <p:spPr>
          <a:xfrm>
            <a:off x="554720" y="348895"/>
            <a:ext cx="6169802" cy="553998"/>
          </a:xfrm>
          <a:prstGeom prst="rect">
            <a:avLst/>
          </a:prstGeom>
          <a:noFill/>
          <a:ln/>
        </p:spPr>
        <p:txBody>
          <a:bodyPr wrap="square" rtlCol="0" anchor="ctr"/>
          <a:lstStyle/>
          <a:p>
            <a:pPr marL="0" indent="0" algn="l">
              <a:lnSpc>
                <a:spcPts val="3713"/>
              </a:lnSpc>
              <a:buNone/>
            </a:pPr>
            <a:r>
              <a:rPr lang="en-US" sz="2475" dirty="0">
                <a:solidFill>
                  <a:srgbClr val="0077C8">
                    <a:alpha val="99000"/>
                  </a:srgbClr>
                </a:solidFill>
                <a:latin typeface="Poppins" pitchFamily="34" charset="0"/>
                <a:ea typeface="Poppins" pitchFamily="34" charset="-122"/>
                <a:cs typeface="Poppins" pitchFamily="34" charset="-120"/>
              </a:rPr>
              <a:t>Citation Guide Resource</a:t>
            </a:r>
            <a:r>
              <a:rPr lang="en-US" sz="2475" dirty="0">
                <a:solidFill>
                  <a:srgbClr val="000000">
                    <a:alpha val="99000"/>
                  </a:srgbClr>
                </a:solidFill>
                <a:latin typeface="Poppins" pitchFamily="34" charset="0"/>
                <a:ea typeface="Poppins" pitchFamily="34" charset="-122"/>
                <a:cs typeface="Poppins" pitchFamily="34" charset="-120"/>
              </a:rPr>
              <a:t>​</a:t>
            </a:r>
            <a:endParaRPr lang="en-US" sz="247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296</TotalTime>
  <Words>1346</Words>
  <Application>Microsoft Office PowerPoint</Application>
  <PresentationFormat>全屏显示(16:9)</PresentationFormat>
  <Paragraphs>114</Paragraphs>
  <Slides>12</Slides>
  <Notes>11</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12</vt:i4>
      </vt:variant>
    </vt:vector>
  </HeadingPairs>
  <TitlesOfParts>
    <vt:vector size="16" baseType="lpstr">
      <vt:lpstr>Arial</vt:lpstr>
      <vt:lpstr>Inter</vt:lpstr>
      <vt:lpstr>Poppins</vt:lpstr>
      <vt:lpstr>Office Theme</vt:lpstr>
      <vt:lpstr>PowerPoint 演示文稿</vt:lpstr>
      <vt:lpstr>PowerPoint 演示文稿</vt:lpstr>
      <vt:lpstr>PowerPoint 演示文稿</vt:lpstr>
      <vt:lpstr>PowerPoint 演示文稿</vt:lpstr>
      <vt:lpstr>PowerPoint 演示文稿</vt:lpstr>
      <vt:lpstr>10 Minutes Writing Prompts:  The Book of Phoenix &amp; The Library of Babel</vt:lpstr>
      <vt:lpstr>What is a ‘theme’ in literature?</vt:lpstr>
      <vt:lpstr>Some additional key details about theme:</vt:lpstr>
      <vt:lpstr>‘Think – Pair – Share’ Activity – The Book of Phoenix</vt:lpstr>
      <vt:lpstr>PowerPoint 演示文稿</vt:lpstr>
      <vt:lpstr>PowerPoint 演示文稿</vt:lpstr>
      <vt:lpstr>PowerPoint 演示文稿</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Zhehao Sun</cp:lastModifiedBy>
  <cp:revision>10</cp:revision>
  <dcterms:created xsi:type="dcterms:W3CDTF">2026-01-14T07:27:48Z</dcterms:created>
  <dcterms:modified xsi:type="dcterms:W3CDTF">2026-02-04T10:42:58Z</dcterms:modified>
</cp:coreProperties>
</file>