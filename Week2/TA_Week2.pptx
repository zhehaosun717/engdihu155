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8" r:id="rId5"/>
    <p:sldId id="259" r:id="rId6"/>
    <p:sldId id="263" r:id="rId7"/>
    <p:sldId id="260" r:id="rId8"/>
    <p:sldId id="277" r:id="rId9"/>
    <p:sldId id="279" r:id="rId10"/>
    <p:sldId id="275" r:id="rId11"/>
    <p:sldId id="276" r:id="rId12"/>
    <p:sldId id="280" r:id="rId13"/>
    <p:sldId id="281" r:id="rId14"/>
    <p:sldId id="272" r:id="rId15"/>
    <p:sldId id="265" r:id="rId16"/>
    <p:sldId id="266" r:id="rId17"/>
    <p:sldId id="267" r:id="rId18"/>
    <p:sldId id="268" r:id="rId19"/>
    <p:sldId id="269" r:id="rId20"/>
    <p:sldId id="270" r:id="rId21"/>
    <p:sldId id="271" r:id="rId22"/>
    <p:sldId id="282" r:id="rId23"/>
    <p:sldId id="273"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393"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B697A7-D980-4662-A2EA-2ACE55D2FF49}" type="doc">
      <dgm:prSet loTypeId="urn:microsoft.com/office/officeart/2005/8/layout/process1" loCatId="process" qsTypeId="urn:microsoft.com/office/officeart/2005/8/quickstyle/simple1" qsCatId="simple" csTypeId="urn:microsoft.com/office/officeart/2005/8/colors/colorful2" csCatId="colorful"/>
      <dgm:spPr/>
      <dgm:t>
        <a:bodyPr/>
        <a:lstStyle/>
        <a:p>
          <a:endParaRPr lang="en-US"/>
        </a:p>
      </dgm:t>
    </dgm:pt>
    <dgm:pt modelId="{84595CF6-EEF4-4BAC-B786-9BA755C3D1EB}">
      <dgm:prSet/>
      <dgm:spPr/>
      <dgm:t>
        <a:bodyPr/>
        <a:lstStyle/>
        <a:p>
          <a:r>
            <a:rPr lang="en-US"/>
            <a:t>I am arguing X</a:t>
          </a:r>
        </a:p>
      </dgm:t>
    </dgm:pt>
    <dgm:pt modelId="{46D36804-EB9D-4A49-B28D-2D5544EBB628}" type="parTrans" cxnId="{F7E8AD19-C08D-400B-95CC-2E100D982ADC}">
      <dgm:prSet/>
      <dgm:spPr/>
      <dgm:t>
        <a:bodyPr/>
        <a:lstStyle/>
        <a:p>
          <a:endParaRPr lang="en-US"/>
        </a:p>
      </dgm:t>
    </dgm:pt>
    <dgm:pt modelId="{83E6AD57-90C5-49E2-90F7-0732383DE2AA}" type="sibTrans" cxnId="{F7E8AD19-C08D-400B-95CC-2E100D982ADC}">
      <dgm:prSet/>
      <dgm:spPr/>
      <dgm:t>
        <a:bodyPr/>
        <a:lstStyle/>
        <a:p>
          <a:endParaRPr lang="en-US"/>
        </a:p>
      </dgm:t>
    </dgm:pt>
    <dgm:pt modelId="{CA668953-2F2D-46B0-8B41-A9B5188F4BDA}">
      <dgm:prSet/>
      <dgm:spPr/>
      <dgm:t>
        <a:bodyPr/>
        <a:lstStyle/>
        <a:p>
          <a:r>
            <a:rPr lang="en-US"/>
            <a:t>Based on the reasoning Y</a:t>
          </a:r>
        </a:p>
      </dgm:t>
    </dgm:pt>
    <dgm:pt modelId="{BAB9BDF9-C607-4ACC-B6D5-F6BCCD76030C}" type="parTrans" cxnId="{B5C881BE-09EB-4828-8BB4-D20788CDF972}">
      <dgm:prSet/>
      <dgm:spPr/>
      <dgm:t>
        <a:bodyPr/>
        <a:lstStyle/>
        <a:p>
          <a:endParaRPr lang="en-US"/>
        </a:p>
      </dgm:t>
    </dgm:pt>
    <dgm:pt modelId="{01EFC5DE-22D8-471A-B707-D433BDC0F312}" type="sibTrans" cxnId="{B5C881BE-09EB-4828-8BB4-D20788CDF972}">
      <dgm:prSet/>
      <dgm:spPr/>
      <dgm:t>
        <a:bodyPr/>
        <a:lstStyle/>
        <a:p>
          <a:endParaRPr lang="en-US"/>
        </a:p>
      </dgm:t>
    </dgm:pt>
    <dgm:pt modelId="{262A5DBB-8B56-447B-B013-84002001861E}">
      <dgm:prSet/>
      <dgm:spPr/>
      <dgm:t>
        <a:bodyPr/>
        <a:lstStyle/>
        <a:p>
          <a:r>
            <a:rPr lang="en-US"/>
            <a:t>e.g. “Sole and Despotic Dominion” cannot be considered a short story because, even though it has a conflict, it lacks other narrative elements like exposition, rising action, climax, etc.</a:t>
          </a:r>
        </a:p>
      </dgm:t>
    </dgm:pt>
    <dgm:pt modelId="{175529B2-762B-4672-BE8B-F433B9521A27}" type="parTrans" cxnId="{6A43353E-2B1E-4929-8F0D-416AA4CB668C}">
      <dgm:prSet/>
      <dgm:spPr/>
      <dgm:t>
        <a:bodyPr/>
        <a:lstStyle/>
        <a:p>
          <a:endParaRPr lang="en-US"/>
        </a:p>
      </dgm:t>
    </dgm:pt>
    <dgm:pt modelId="{FEBC134F-A62F-468D-BE33-D2654D670CDF}" type="sibTrans" cxnId="{6A43353E-2B1E-4929-8F0D-416AA4CB668C}">
      <dgm:prSet/>
      <dgm:spPr/>
      <dgm:t>
        <a:bodyPr/>
        <a:lstStyle/>
        <a:p>
          <a:endParaRPr lang="en-US"/>
        </a:p>
      </dgm:t>
    </dgm:pt>
    <dgm:pt modelId="{C8C8C217-D74C-4009-9126-ABD5C62709C8}">
      <dgm:prSet/>
      <dgm:spPr/>
      <dgm:t>
        <a:bodyPr/>
        <a:lstStyle/>
        <a:p>
          <a:r>
            <a:rPr lang="en-US"/>
            <a:t>A reader should be able to predict what you will be discussing in your essay just by reading the thesis statement.</a:t>
          </a:r>
        </a:p>
      </dgm:t>
    </dgm:pt>
    <dgm:pt modelId="{8029BEC9-2758-4DE7-970F-7CC9D560BB11}" type="parTrans" cxnId="{C9CFE7E5-1763-4E8F-AAFA-454F37323EF6}">
      <dgm:prSet/>
      <dgm:spPr/>
      <dgm:t>
        <a:bodyPr/>
        <a:lstStyle/>
        <a:p>
          <a:endParaRPr lang="en-US"/>
        </a:p>
      </dgm:t>
    </dgm:pt>
    <dgm:pt modelId="{B26D51E5-A583-40C9-A63B-8522A6D9CCAB}" type="sibTrans" cxnId="{C9CFE7E5-1763-4E8F-AAFA-454F37323EF6}">
      <dgm:prSet/>
      <dgm:spPr/>
      <dgm:t>
        <a:bodyPr/>
        <a:lstStyle/>
        <a:p>
          <a:endParaRPr lang="en-US"/>
        </a:p>
      </dgm:t>
    </dgm:pt>
    <dgm:pt modelId="{4596FB44-3CCC-0941-9706-5A517C3AFF55}" type="pres">
      <dgm:prSet presAssocID="{D8B697A7-D980-4662-A2EA-2ACE55D2FF49}" presName="Name0" presStyleCnt="0">
        <dgm:presLayoutVars>
          <dgm:dir/>
          <dgm:resizeHandles val="exact"/>
        </dgm:presLayoutVars>
      </dgm:prSet>
      <dgm:spPr/>
    </dgm:pt>
    <dgm:pt modelId="{C261E571-243C-794C-ADF3-EB19E38F646B}" type="pres">
      <dgm:prSet presAssocID="{84595CF6-EEF4-4BAC-B786-9BA755C3D1EB}" presName="node" presStyleLbl="node1" presStyleIdx="0" presStyleCnt="4">
        <dgm:presLayoutVars>
          <dgm:bulletEnabled val="1"/>
        </dgm:presLayoutVars>
      </dgm:prSet>
      <dgm:spPr/>
    </dgm:pt>
    <dgm:pt modelId="{B9A873FE-EEF7-3B43-B9C2-A1946219E46E}" type="pres">
      <dgm:prSet presAssocID="{83E6AD57-90C5-49E2-90F7-0732383DE2AA}" presName="sibTrans" presStyleLbl="sibTrans2D1" presStyleIdx="0" presStyleCnt="3"/>
      <dgm:spPr/>
    </dgm:pt>
    <dgm:pt modelId="{F59ACB01-202A-A648-9362-7AF335E77E19}" type="pres">
      <dgm:prSet presAssocID="{83E6AD57-90C5-49E2-90F7-0732383DE2AA}" presName="connectorText" presStyleLbl="sibTrans2D1" presStyleIdx="0" presStyleCnt="3"/>
      <dgm:spPr/>
    </dgm:pt>
    <dgm:pt modelId="{742E5C8A-A7D6-2640-86E2-A009AD838E91}" type="pres">
      <dgm:prSet presAssocID="{CA668953-2F2D-46B0-8B41-A9B5188F4BDA}" presName="node" presStyleLbl="node1" presStyleIdx="1" presStyleCnt="4">
        <dgm:presLayoutVars>
          <dgm:bulletEnabled val="1"/>
        </dgm:presLayoutVars>
      </dgm:prSet>
      <dgm:spPr/>
    </dgm:pt>
    <dgm:pt modelId="{ACC20D05-E7F7-DA47-8602-2CD6ADB15E99}" type="pres">
      <dgm:prSet presAssocID="{01EFC5DE-22D8-471A-B707-D433BDC0F312}" presName="sibTrans" presStyleLbl="sibTrans2D1" presStyleIdx="1" presStyleCnt="3"/>
      <dgm:spPr/>
    </dgm:pt>
    <dgm:pt modelId="{364BBB59-1321-4043-B8FA-C5ECC95CF13E}" type="pres">
      <dgm:prSet presAssocID="{01EFC5DE-22D8-471A-B707-D433BDC0F312}" presName="connectorText" presStyleLbl="sibTrans2D1" presStyleIdx="1" presStyleCnt="3"/>
      <dgm:spPr/>
    </dgm:pt>
    <dgm:pt modelId="{D4DC2254-B7F1-CF4D-B893-D88423B34689}" type="pres">
      <dgm:prSet presAssocID="{262A5DBB-8B56-447B-B013-84002001861E}" presName="node" presStyleLbl="node1" presStyleIdx="2" presStyleCnt="4">
        <dgm:presLayoutVars>
          <dgm:bulletEnabled val="1"/>
        </dgm:presLayoutVars>
      </dgm:prSet>
      <dgm:spPr/>
    </dgm:pt>
    <dgm:pt modelId="{191EBA55-5848-744C-B872-CE0A886D09FA}" type="pres">
      <dgm:prSet presAssocID="{FEBC134F-A62F-468D-BE33-D2654D670CDF}" presName="sibTrans" presStyleLbl="sibTrans2D1" presStyleIdx="2" presStyleCnt="3"/>
      <dgm:spPr/>
    </dgm:pt>
    <dgm:pt modelId="{4B718E94-F785-4F45-B023-190E72731C1F}" type="pres">
      <dgm:prSet presAssocID="{FEBC134F-A62F-468D-BE33-D2654D670CDF}" presName="connectorText" presStyleLbl="sibTrans2D1" presStyleIdx="2" presStyleCnt="3"/>
      <dgm:spPr/>
    </dgm:pt>
    <dgm:pt modelId="{D7D6E084-20AE-1046-B3E8-97AB85000945}" type="pres">
      <dgm:prSet presAssocID="{C8C8C217-D74C-4009-9126-ABD5C62709C8}" presName="node" presStyleLbl="node1" presStyleIdx="3" presStyleCnt="4">
        <dgm:presLayoutVars>
          <dgm:bulletEnabled val="1"/>
        </dgm:presLayoutVars>
      </dgm:prSet>
      <dgm:spPr/>
    </dgm:pt>
  </dgm:ptLst>
  <dgm:cxnLst>
    <dgm:cxn modelId="{C700F209-7137-5F47-9D4B-EA3828332356}" type="presOf" srcId="{CA668953-2F2D-46B0-8B41-A9B5188F4BDA}" destId="{742E5C8A-A7D6-2640-86E2-A009AD838E91}" srcOrd="0" destOrd="0" presId="urn:microsoft.com/office/officeart/2005/8/layout/process1"/>
    <dgm:cxn modelId="{F7E8AD19-C08D-400B-95CC-2E100D982ADC}" srcId="{D8B697A7-D980-4662-A2EA-2ACE55D2FF49}" destId="{84595CF6-EEF4-4BAC-B786-9BA755C3D1EB}" srcOrd="0" destOrd="0" parTransId="{46D36804-EB9D-4A49-B28D-2D5544EBB628}" sibTransId="{83E6AD57-90C5-49E2-90F7-0732383DE2AA}"/>
    <dgm:cxn modelId="{0786E935-3ACC-2943-BD65-E9D89204A436}" type="presOf" srcId="{01EFC5DE-22D8-471A-B707-D433BDC0F312}" destId="{ACC20D05-E7F7-DA47-8602-2CD6ADB15E99}" srcOrd="0" destOrd="0" presId="urn:microsoft.com/office/officeart/2005/8/layout/process1"/>
    <dgm:cxn modelId="{6A43353E-2B1E-4929-8F0D-416AA4CB668C}" srcId="{D8B697A7-D980-4662-A2EA-2ACE55D2FF49}" destId="{262A5DBB-8B56-447B-B013-84002001861E}" srcOrd="2" destOrd="0" parTransId="{175529B2-762B-4672-BE8B-F433B9521A27}" sibTransId="{FEBC134F-A62F-468D-BE33-D2654D670CDF}"/>
    <dgm:cxn modelId="{9DFB8264-7503-3949-8EEC-05C0AB49EFF8}" type="presOf" srcId="{83E6AD57-90C5-49E2-90F7-0732383DE2AA}" destId="{B9A873FE-EEF7-3B43-B9C2-A1946219E46E}" srcOrd="0" destOrd="0" presId="urn:microsoft.com/office/officeart/2005/8/layout/process1"/>
    <dgm:cxn modelId="{D7C0126F-8A19-BB46-B7D7-2F8CBD0FD20A}" type="presOf" srcId="{D8B697A7-D980-4662-A2EA-2ACE55D2FF49}" destId="{4596FB44-3CCC-0941-9706-5A517C3AFF55}" srcOrd="0" destOrd="0" presId="urn:microsoft.com/office/officeart/2005/8/layout/process1"/>
    <dgm:cxn modelId="{BCDDA372-6FB8-8844-806A-4A133D0746DE}" type="presOf" srcId="{FEBC134F-A62F-468D-BE33-D2654D670CDF}" destId="{4B718E94-F785-4F45-B023-190E72731C1F}" srcOrd="1" destOrd="0" presId="urn:microsoft.com/office/officeart/2005/8/layout/process1"/>
    <dgm:cxn modelId="{84FA6877-A8B4-C140-9EB0-101769467ECE}" type="presOf" srcId="{83E6AD57-90C5-49E2-90F7-0732383DE2AA}" destId="{F59ACB01-202A-A648-9362-7AF335E77E19}" srcOrd="1" destOrd="0" presId="urn:microsoft.com/office/officeart/2005/8/layout/process1"/>
    <dgm:cxn modelId="{A4258A77-08D8-9B44-AF62-646B46E7D429}" type="presOf" srcId="{FEBC134F-A62F-468D-BE33-D2654D670CDF}" destId="{191EBA55-5848-744C-B872-CE0A886D09FA}" srcOrd="0" destOrd="0" presId="urn:microsoft.com/office/officeart/2005/8/layout/process1"/>
    <dgm:cxn modelId="{38D75279-EAD0-FE44-AD52-E1A44720B411}" type="presOf" srcId="{84595CF6-EEF4-4BAC-B786-9BA755C3D1EB}" destId="{C261E571-243C-794C-ADF3-EB19E38F646B}" srcOrd="0" destOrd="0" presId="urn:microsoft.com/office/officeart/2005/8/layout/process1"/>
    <dgm:cxn modelId="{3DA39E79-3124-3746-817E-44D27B639153}" type="presOf" srcId="{262A5DBB-8B56-447B-B013-84002001861E}" destId="{D4DC2254-B7F1-CF4D-B893-D88423B34689}" srcOrd="0" destOrd="0" presId="urn:microsoft.com/office/officeart/2005/8/layout/process1"/>
    <dgm:cxn modelId="{026543BB-C45B-194F-A36A-F334C86DD051}" type="presOf" srcId="{C8C8C217-D74C-4009-9126-ABD5C62709C8}" destId="{D7D6E084-20AE-1046-B3E8-97AB85000945}" srcOrd="0" destOrd="0" presId="urn:microsoft.com/office/officeart/2005/8/layout/process1"/>
    <dgm:cxn modelId="{98AC72BE-BCB1-BB4D-AE36-A53C3C8C2522}" type="presOf" srcId="{01EFC5DE-22D8-471A-B707-D433BDC0F312}" destId="{364BBB59-1321-4043-B8FA-C5ECC95CF13E}" srcOrd="1" destOrd="0" presId="urn:microsoft.com/office/officeart/2005/8/layout/process1"/>
    <dgm:cxn modelId="{B5C881BE-09EB-4828-8BB4-D20788CDF972}" srcId="{D8B697A7-D980-4662-A2EA-2ACE55D2FF49}" destId="{CA668953-2F2D-46B0-8B41-A9B5188F4BDA}" srcOrd="1" destOrd="0" parTransId="{BAB9BDF9-C607-4ACC-B6D5-F6BCCD76030C}" sibTransId="{01EFC5DE-22D8-471A-B707-D433BDC0F312}"/>
    <dgm:cxn modelId="{C9CFE7E5-1763-4E8F-AAFA-454F37323EF6}" srcId="{D8B697A7-D980-4662-A2EA-2ACE55D2FF49}" destId="{C8C8C217-D74C-4009-9126-ABD5C62709C8}" srcOrd="3" destOrd="0" parTransId="{8029BEC9-2758-4DE7-970F-7CC9D560BB11}" sibTransId="{B26D51E5-A583-40C9-A63B-8522A6D9CCAB}"/>
    <dgm:cxn modelId="{98D10BAF-F000-E346-B3B1-42B4CE9F5AC4}" type="presParOf" srcId="{4596FB44-3CCC-0941-9706-5A517C3AFF55}" destId="{C261E571-243C-794C-ADF3-EB19E38F646B}" srcOrd="0" destOrd="0" presId="urn:microsoft.com/office/officeart/2005/8/layout/process1"/>
    <dgm:cxn modelId="{3B0C3B47-282E-D94A-AE0A-72E8846E83FD}" type="presParOf" srcId="{4596FB44-3CCC-0941-9706-5A517C3AFF55}" destId="{B9A873FE-EEF7-3B43-B9C2-A1946219E46E}" srcOrd="1" destOrd="0" presId="urn:microsoft.com/office/officeart/2005/8/layout/process1"/>
    <dgm:cxn modelId="{458449CB-D312-B242-92FF-3BCC493FB186}" type="presParOf" srcId="{B9A873FE-EEF7-3B43-B9C2-A1946219E46E}" destId="{F59ACB01-202A-A648-9362-7AF335E77E19}" srcOrd="0" destOrd="0" presId="urn:microsoft.com/office/officeart/2005/8/layout/process1"/>
    <dgm:cxn modelId="{76BEF3B4-6C36-734F-AE75-073AFF35DF9A}" type="presParOf" srcId="{4596FB44-3CCC-0941-9706-5A517C3AFF55}" destId="{742E5C8A-A7D6-2640-86E2-A009AD838E91}" srcOrd="2" destOrd="0" presId="urn:microsoft.com/office/officeart/2005/8/layout/process1"/>
    <dgm:cxn modelId="{33BAB340-2B90-8D44-BC2B-83703354F383}" type="presParOf" srcId="{4596FB44-3CCC-0941-9706-5A517C3AFF55}" destId="{ACC20D05-E7F7-DA47-8602-2CD6ADB15E99}" srcOrd="3" destOrd="0" presId="urn:microsoft.com/office/officeart/2005/8/layout/process1"/>
    <dgm:cxn modelId="{E1C06AFD-572D-2D48-8277-867BAE12C446}" type="presParOf" srcId="{ACC20D05-E7F7-DA47-8602-2CD6ADB15E99}" destId="{364BBB59-1321-4043-B8FA-C5ECC95CF13E}" srcOrd="0" destOrd="0" presId="urn:microsoft.com/office/officeart/2005/8/layout/process1"/>
    <dgm:cxn modelId="{B622E7B5-C66D-3C40-91EB-23DB01A16CCA}" type="presParOf" srcId="{4596FB44-3CCC-0941-9706-5A517C3AFF55}" destId="{D4DC2254-B7F1-CF4D-B893-D88423B34689}" srcOrd="4" destOrd="0" presId="urn:microsoft.com/office/officeart/2005/8/layout/process1"/>
    <dgm:cxn modelId="{45C832DC-3FC9-6045-95D9-E8A4DB73E27C}" type="presParOf" srcId="{4596FB44-3CCC-0941-9706-5A517C3AFF55}" destId="{191EBA55-5848-744C-B872-CE0A886D09FA}" srcOrd="5" destOrd="0" presId="urn:microsoft.com/office/officeart/2005/8/layout/process1"/>
    <dgm:cxn modelId="{C517A724-3D5E-344D-A809-927DA4D73799}" type="presParOf" srcId="{191EBA55-5848-744C-B872-CE0A886D09FA}" destId="{4B718E94-F785-4F45-B023-190E72731C1F}" srcOrd="0" destOrd="0" presId="urn:microsoft.com/office/officeart/2005/8/layout/process1"/>
    <dgm:cxn modelId="{5FB1FBF9-F79F-D146-A91F-8829E26C6EB9}" type="presParOf" srcId="{4596FB44-3CCC-0941-9706-5A517C3AFF55}" destId="{D7D6E084-20AE-1046-B3E8-97AB85000945}"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65036F-E498-4FB3-925E-6558705E1E8F}"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A60AE7E9-CA7B-4AF9-AE93-BB8B057132AA}">
      <dgm:prSet/>
      <dgm:spPr/>
      <dgm:t>
        <a:bodyPr/>
        <a:lstStyle/>
        <a:p>
          <a:r>
            <a:rPr lang="en-US" dirty="0"/>
            <a:t>1 strong and accurate topic sentence/claim for your paragraph. </a:t>
          </a:r>
        </a:p>
      </dgm:t>
    </dgm:pt>
    <dgm:pt modelId="{9C468113-C482-4324-A8C0-109C3FBC2AB9}" type="parTrans" cxnId="{E89E9E94-B3C7-447A-9135-91E9002C445F}">
      <dgm:prSet/>
      <dgm:spPr/>
      <dgm:t>
        <a:bodyPr/>
        <a:lstStyle/>
        <a:p>
          <a:endParaRPr lang="en-US"/>
        </a:p>
      </dgm:t>
    </dgm:pt>
    <dgm:pt modelId="{36EBA19F-2071-4C94-9809-F4E35097F818}" type="sibTrans" cxnId="{E89E9E94-B3C7-447A-9135-91E9002C445F}">
      <dgm:prSet/>
      <dgm:spPr/>
      <dgm:t>
        <a:bodyPr/>
        <a:lstStyle/>
        <a:p>
          <a:endParaRPr lang="en-US"/>
        </a:p>
      </dgm:t>
    </dgm:pt>
    <dgm:pt modelId="{96C434E8-7ABA-4C43-B3B9-42F58FFB6494}">
      <dgm:prSet/>
      <dgm:spPr/>
      <dgm:t>
        <a:bodyPr/>
        <a:lstStyle/>
        <a:p>
          <a:r>
            <a:rPr lang="en-US"/>
            <a:t>4-5 well-written, observant sentences. </a:t>
          </a:r>
        </a:p>
      </dgm:t>
    </dgm:pt>
    <dgm:pt modelId="{29E4039B-F466-4280-AA47-23CF1DD30334}" type="parTrans" cxnId="{602796DB-8855-47D0-9879-4560A7043D46}">
      <dgm:prSet/>
      <dgm:spPr/>
      <dgm:t>
        <a:bodyPr/>
        <a:lstStyle/>
        <a:p>
          <a:endParaRPr lang="en-US"/>
        </a:p>
      </dgm:t>
    </dgm:pt>
    <dgm:pt modelId="{F9D8C6B8-DF15-4D53-96E7-36FA99720CE7}" type="sibTrans" cxnId="{602796DB-8855-47D0-9879-4560A7043D46}">
      <dgm:prSet/>
      <dgm:spPr/>
      <dgm:t>
        <a:bodyPr/>
        <a:lstStyle/>
        <a:p>
          <a:endParaRPr lang="en-US"/>
        </a:p>
      </dgm:t>
    </dgm:pt>
    <dgm:pt modelId="{4E1E29F6-AD96-46FC-9DC9-ED61E80C7634}">
      <dgm:prSet/>
      <dgm:spPr/>
      <dgm:t>
        <a:bodyPr/>
        <a:lstStyle/>
        <a:p>
          <a:r>
            <a:rPr lang="en-US"/>
            <a:t>Within those 4-5 sentences, you should include: </a:t>
          </a:r>
        </a:p>
      </dgm:t>
    </dgm:pt>
    <dgm:pt modelId="{DFB2C175-0D4F-4B70-A281-4BC954659B42}" type="parTrans" cxnId="{8AED3452-F110-4814-9BDE-A365638C18CA}">
      <dgm:prSet/>
      <dgm:spPr/>
      <dgm:t>
        <a:bodyPr/>
        <a:lstStyle/>
        <a:p>
          <a:endParaRPr lang="en-US"/>
        </a:p>
      </dgm:t>
    </dgm:pt>
    <dgm:pt modelId="{7EB371FC-765A-4396-B5B4-52DAF9841614}" type="sibTrans" cxnId="{8AED3452-F110-4814-9BDE-A365638C18CA}">
      <dgm:prSet/>
      <dgm:spPr/>
      <dgm:t>
        <a:bodyPr/>
        <a:lstStyle/>
        <a:p>
          <a:endParaRPr lang="en-US"/>
        </a:p>
      </dgm:t>
    </dgm:pt>
    <dgm:pt modelId="{EF8D7350-AEFA-4EA7-88E4-6BD7BC1C36C5}">
      <dgm:prSet/>
      <dgm:spPr/>
      <dgm:t>
        <a:bodyPr/>
        <a:lstStyle/>
        <a:p>
          <a:r>
            <a:rPr lang="en-US"/>
            <a:t>At least 1 well-chosen, framed, and grammatically integrated quotation. </a:t>
          </a:r>
        </a:p>
      </dgm:t>
    </dgm:pt>
    <dgm:pt modelId="{61E1981D-97DC-410E-9478-309FB7D87A82}" type="parTrans" cxnId="{C6088B81-1DC6-4C05-AA82-2456240CC264}">
      <dgm:prSet/>
      <dgm:spPr/>
      <dgm:t>
        <a:bodyPr/>
        <a:lstStyle/>
        <a:p>
          <a:endParaRPr lang="en-US"/>
        </a:p>
      </dgm:t>
    </dgm:pt>
    <dgm:pt modelId="{37EB6691-4621-46EE-B256-3DEC650982F2}" type="sibTrans" cxnId="{C6088B81-1DC6-4C05-AA82-2456240CC264}">
      <dgm:prSet/>
      <dgm:spPr/>
      <dgm:t>
        <a:bodyPr/>
        <a:lstStyle/>
        <a:p>
          <a:endParaRPr lang="en-US"/>
        </a:p>
      </dgm:t>
    </dgm:pt>
    <dgm:pt modelId="{C80FD469-45CB-4683-B70E-9ABF3EF6647F}">
      <dgm:prSet/>
      <dgm:spPr/>
      <dgm:t>
        <a:bodyPr/>
        <a:lstStyle/>
        <a:p>
          <a:r>
            <a:rPr lang="en-US"/>
            <a:t>Discussion or explanation of that quotation that is </a:t>
          </a:r>
          <a:r>
            <a:rPr lang="en-US" i="1"/>
            <a:t>at least as long as the quotation</a:t>
          </a:r>
          <a:r>
            <a:rPr lang="en-US"/>
            <a:t>.</a:t>
          </a:r>
        </a:p>
      </dgm:t>
    </dgm:pt>
    <dgm:pt modelId="{8BFE1684-1E1C-412B-9919-928E12034805}" type="parTrans" cxnId="{B17C9F38-5451-4A1E-A3A5-7CA7735DE914}">
      <dgm:prSet/>
      <dgm:spPr/>
      <dgm:t>
        <a:bodyPr/>
        <a:lstStyle/>
        <a:p>
          <a:endParaRPr lang="en-US"/>
        </a:p>
      </dgm:t>
    </dgm:pt>
    <dgm:pt modelId="{342EB4CC-5880-4FD8-BADC-D829A0563D5D}" type="sibTrans" cxnId="{B17C9F38-5451-4A1E-A3A5-7CA7735DE914}">
      <dgm:prSet/>
      <dgm:spPr/>
      <dgm:t>
        <a:bodyPr/>
        <a:lstStyle/>
        <a:p>
          <a:endParaRPr lang="en-US"/>
        </a:p>
      </dgm:t>
    </dgm:pt>
    <dgm:pt modelId="{844C3BAD-6D22-4D43-844A-929304805B9A}">
      <dgm:prSet/>
      <dgm:spPr/>
      <dgm:t>
        <a:bodyPr/>
        <a:lstStyle/>
        <a:p>
          <a:r>
            <a:rPr lang="en-US"/>
            <a:t>1 final sentence that expands on the summary or indicates its implications. *This is not the same thing a “connector” sentence that you may have learned in high school. </a:t>
          </a:r>
        </a:p>
      </dgm:t>
    </dgm:pt>
    <dgm:pt modelId="{5DAC00B6-E20E-4500-A966-519455849B2A}" type="parTrans" cxnId="{CBC227F2-16AF-4EE5-9D78-075C23DFAF89}">
      <dgm:prSet/>
      <dgm:spPr/>
      <dgm:t>
        <a:bodyPr/>
        <a:lstStyle/>
        <a:p>
          <a:endParaRPr lang="en-US"/>
        </a:p>
      </dgm:t>
    </dgm:pt>
    <dgm:pt modelId="{E540E27B-8AF0-40EA-93E9-1D1B6BB8A403}" type="sibTrans" cxnId="{CBC227F2-16AF-4EE5-9D78-075C23DFAF89}">
      <dgm:prSet/>
      <dgm:spPr/>
      <dgm:t>
        <a:bodyPr/>
        <a:lstStyle/>
        <a:p>
          <a:endParaRPr lang="en-US"/>
        </a:p>
      </dgm:t>
    </dgm:pt>
    <dgm:pt modelId="{7FBF7085-3EA2-5F4C-992C-A51656A537A2}" type="pres">
      <dgm:prSet presAssocID="{BE65036F-E498-4FB3-925E-6558705E1E8F}" presName="Name0" presStyleCnt="0">
        <dgm:presLayoutVars>
          <dgm:dir/>
          <dgm:resizeHandles val="exact"/>
        </dgm:presLayoutVars>
      </dgm:prSet>
      <dgm:spPr/>
    </dgm:pt>
    <dgm:pt modelId="{857C933E-5F3B-E64C-88C6-C0035F8BFF4B}" type="pres">
      <dgm:prSet presAssocID="{A60AE7E9-CA7B-4AF9-AE93-BB8B057132AA}" presName="node" presStyleLbl="node1" presStyleIdx="0" presStyleCnt="6">
        <dgm:presLayoutVars>
          <dgm:bulletEnabled val="1"/>
        </dgm:presLayoutVars>
      </dgm:prSet>
      <dgm:spPr/>
    </dgm:pt>
    <dgm:pt modelId="{FE18D610-8F40-8F42-9729-A4053FE7E6F6}" type="pres">
      <dgm:prSet presAssocID="{36EBA19F-2071-4C94-9809-F4E35097F818}" presName="sibTrans" presStyleLbl="sibTrans1D1" presStyleIdx="0" presStyleCnt="5"/>
      <dgm:spPr/>
    </dgm:pt>
    <dgm:pt modelId="{473C1796-8A4D-3245-B0DB-02840FBF3332}" type="pres">
      <dgm:prSet presAssocID="{36EBA19F-2071-4C94-9809-F4E35097F818}" presName="connectorText" presStyleLbl="sibTrans1D1" presStyleIdx="0" presStyleCnt="5"/>
      <dgm:spPr/>
    </dgm:pt>
    <dgm:pt modelId="{AB4579FD-82D1-7A4A-B5A6-E0F341FA10E0}" type="pres">
      <dgm:prSet presAssocID="{96C434E8-7ABA-4C43-B3B9-42F58FFB6494}" presName="node" presStyleLbl="node1" presStyleIdx="1" presStyleCnt="6">
        <dgm:presLayoutVars>
          <dgm:bulletEnabled val="1"/>
        </dgm:presLayoutVars>
      </dgm:prSet>
      <dgm:spPr/>
    </dgm:pt>
    <dgm:pt modelId="{5E3C6E2A-06EF-3345-A63F-70B8C1857C24}" type="pres">
      <dgm:prSet presAssocID="{F9D8C6B8-DF15-4D53-96E7-36FA99720CE7}" presName="sibTrans" presStyleLbl="sibTrans1D1" presStyleIdx="1" presStyleCnt="5"/>
      <dgm:spPr/>
    </dgm:pt>
    <dgm:pt modelId="{A07669AE-0707-BA40-98BA-EDC5BEE4AFD3}" type="pres">
      <dgm:prSet presAssocID="{F9D8C6B8-DF15-4D53-96E7-36FA99720CE7}" presName="connectorText" presStyleLbl="sibTrans1D1" presStyleIdx="1" presStyleCnt="5"/>
      <dgm:spPr/>
    </dgm:pt>
    <dgm:pt modelId="{BE4F32BB-6BF6-E44F-82B7-65E0ED6CAD67}" type="pres">
      <dgm:prSet presAssocID="{4E1E29F6-AD96-46FC-9DC9-ED61E80C7634}" presName="node" presStyleLbl="node1" presStyleIdx="2" presStyleCnt="6">
        <dgm:presLayoutVars>
          <dgm:bulletEnabled val="1"/>
        </dgm:presLayoutVars>
      </dgm:prSet>
      <dgm:spPr/>
    </dgm:pt>
    <dgm:pt modelId="{9AC26580-E70D-8F4E-BB8F-68FB4026D080}" type="pres">
      <dgm:prSet presAssocID="{7EB371FC-765A-4396-B5B4-52DAF9841614}" presName="sibTrans" presStyleLbl="sibTrans1D1" presStyleIdx="2" presStyleCnt="5"/>
      <dgm:spPr/>
    </dgm:pt>
    <dgm:pt modelId="{EC9E17D6-A266-2842-9882-D4FBE7D0ED45}" type="pres">
      <dgm:prSet presAssocID="{7EB371FC-765A-4396-B5B4-52DAF9841614}" presName="connectorText" presStyleLbl="sibTrans1D1" presStyleIdx="2" presStyleCnt="5"/>
      <dgm:spPr/>
    </dgm:pt>
    <dgm:pt modelId="{066DF1E8-AB48-DC48-86BD-92C25ADCDCC5}" type="pres">
      <dgm:prSet presAssocID="{EF8D7350-AEFA-4EA7-88E4-6BD7BC1C36C5}" presName="node" presStyleLbl="node1" presStyleIdx="3" presStyleCnt="6">
        <dgm:presLayoutVars>
          <dgm:bulletEnabled val="1"/>
        </dgm:presLayoutVars>
      </dgm:prSet>
      <dgm:spPr/>
    </dgm:pt>
    <dgm:pt modelId="{01B4CAE9-3058-2B45-B662-C881B8BBBC24}" type="pres">
      <dgm:prSet presAssocID="{37EB6691-4621-46EE-B256-3DEC650982F2}" presName="sibTrans" presStyleLbl="sibTrans1D1" presStyleIdx="3" presStyleCnt="5"/>
      <dgm:spPr/>
    </dgm:pt>
    <dgm:pt modelId="{1CD2BED1-93F1-064D-BB41-A544AE97C775}" type="pres">
      <dgm:prSet presAssocID="{37EB6691-4621-46EE-B256-3DEC650982F2}" presName="connectorText" presStyleLbl="sibTrans1D1" presStyleIdx="3" presStyleCnt="5"/>
      <dgm:spPr/>
    </dgm:pt>
    <dgm:pt modelId="{DB418960-D272-C549-8B8E-A908D673BF5F}" type="pres">
      <dgm:prSet presAssocID="{C80FD469-45CB-4683-B70E-9ABF3EF6647F}" presName="node" presStyleLbl="node1" presStyleIdx="4" presStyleCnt="6">
        <dgm:presLayoutVars>
          <dgm:bulletEnabled val="1"/>
        </dgm:presLayoutVars>
      </dgm:prSet>
      <dgm:spPr/>
    </dgm:pt>
    <dgm:pt modelId="{54ABC323-520D-BB41-B614-10CE12D2ADC3}" type="pres">
      <dgm:prSet presAssocID="{342EB4CC-5880-4FD8-BADC-D829A0563D5D}" presName="sibTrans" presStyleLbl="sibTrans1D1" presStyleIdx="4" presStyleCnt="5"/>
      <dgm:spPr/>
    </dgm:pt>
    <dgm:pt modelId="{AC36A859-D196-0040-871A-B955664838A0}" type="pres">
      <dgm:prSet presAssocID="{342EB4CC-5880-4FD8-BADC-D829A0563D5D}" presName="connectorText" presStyleLbl="sibTrans1D1" presStyleIdx="4" presStyleCnt="5"/>
      <dgm:spPr/>
    </dgm:pt>
    <dgm:pt modelId="{4C81B04C-8D1C-1A49-A206-98647B0AFD3C}" type="pres">
      <dgm:prSet presAssocID="{844C3BAD-6D22-4D43-844A-929304805B9A}" presName="node" presStyleLbl="node1" presStyleIdx="5" presStyleCnt="6">
        <dgm:presLayoutVars>
          <dgm:bulletEnabled val="1"/>
        </dgm:presLayoutVars>
      </dgm:prSet>
      <dgm:spPr/>
    </dgm:pt>
  </dgm:ptLst>
  <dgm:cxnLst>
    <dgm:cxn modelId="{D031F605-5C80-754D-8953-363E03467B5B}" type="presOf" srcId="{36EBA19F-2071-4C94-9809-F4E35097F818}" destId="{FE18D610-8F40-8F42-9729-A4053FE7E6F6}" srcOrd="0" destOrd="0" presId="urn:microsoft.com/office/officeart/2016/7/layout/RepeatingBendingProcessNew"/>
    <dgm:cxn modelId="{A3409F06-1F72-6C47-9541-F82E3ACE816D}" type="presOf" srcId="{F9D8C6B8-DF15-4D53-96E7-36FA99720CE7}" destId="{5E3C6E2A-06EF-3345-A63F-70B8C1857C24}" srcOrd="0" destOrd="0" presId="urn:microsoft.com/office/officeart/2016/7/layout/RepeatingBendingProcessNew"/>
    <dgm:cxn modelId="{F68D1309-E654-9945-83F3-BD07C4250AC1}" type="presOf" srcId="{C80FD469-45CB-4683-B70E-9ABF3EF6647F}" destId="{DB418960-D272-C549-8B8E-A908D673BF5F}" srcOrd="0" destOrd="0" presId="urn:microsoft.com/office/officeart/2016/7/layout/RepeatingBendingProcessNew"/>
    <dgm:cxn modelId="{2A4C5614-0444-4F41-9D89-FC5C0E519FB8}" type="presOf" srcId="{A60AE7E9-CA7B-4AF9-AE93-BB8B057132AA}" destId="{857C933E-5F3B-E64C-88C6-C0035F8BFF4B}" srcOrd="0" destOrd="0" presId="urn:microsoft.com/office/officeart/2016/7/layout/RepeatingBendingProcessNew"/>
    <dgm:cxn modelId="{56289B16-1AA6-CA46-9D0E-486F68701CDE}" type="presOf" srcId="{7EB371FC-765A-4396-B5B4-52DAF9841614}" destId="{9AC26580-E70D-8F4E-BB8F-68FB4026D080}" srcOrd="0" destOrd="0" presId="urn:microsoft.com/office/officeart/2016/7/layout/RepeatingBendingProcessNew"/>
    <dgm:cxn modelId="{FE7FAA1C-AC08-D542-8B19-5C4156DDF761}" type="presOf" srcId="{37EB6691-4621-46EE-B256-3DEC650982F2}" destId="{01B4CAE9-3058-2B45-B662-C881B8BBBC24}" srcOrd="0" destOrd="0" presId="urn:microsoft.com/office/officeart/2016/7/layout/RepeatingBendingProcessNew"/>
    <dgm:cxn modelId="{CACAA82A-9577-E543-87DC-C24F74D54D48}" type="presOf" srcId="{96C434E8-7ABA-4C43-B3B9-42F58FFB6494}" destId="{AB4579FD-82D1-7A4A-B5A6-E0F341FA10E0}" srcOrd="0" destOrd="0" presId="urn:microsoft.com/office/officeart/2016/7/layout/RepeatingBendingProcessNew"/>
    <dgm:cxn modelId="{BAF8EC35-C7F0-6B49-996F-2C5781CE9643}" type="presOf" srcId="{EF8D7350-AEFA-4EA7-88E4-6BD7BC1C36C5}" destId="{066DF1E8-AB48-DC48-86BD-92C25ADCDCC5}" srcOrd="0" destOrd="0" presId="urn:microsoft.com/office/officeart/2016/7/layout/RepeatingBendingProcessNew"/>
    <dgm:cxn modelId="{0441F437-863B-494A-B047-1BF22440EBFC}" type="presOf" srcId="{844C3BAD-6D22-4D43-844A-929304805B9A}" destId="{4C81B04C-8D1C-1A49-A206-98647B0AFD3C}" srcOrd="0" destOrd="0" presId="urn:microsoft.com/office/officeart/2016/7/layout/RepeatingBendingProcessNew"/>
    <dgm:cxn modelId="{B17C9F38-5451-4A1E-A3A5-7CA7735DE914}" srcId="{BE65036F-E498-4FB3-925E-6558705E1E8F}" destId="{C80FD469-45CB-4683-B70E-9ABF3EF6647F}" srcOrd="4" destOrd="0" parTransId="{8BFE1684-1E1C-412B-9919-928E12034805}" sibTransId="{342EB4CC-5880-4FD8-BADC-D829A0563D5D}"/>
    <dgm:cxn modelId="{8AED3452-F110-4814-9BDE-A365638C18CA}" srcId="{BE65036F-E498-4FB3-925E-6558705E1E8F}" destId="{4E1E29F6-AD96-46FC-9DC9-ED61E80C7634}" srcOrd="2" destOrd="0" parTransId="{DFB2C175-0D4F-4B70-A281-4BC954659B42}" sibTransId="{7EB371FC-765A-4396-B5B4-52DAF9841614}"/>
    <dgm:cxn modelId="{4CF2517E-7653-4C4F-A7BD-8F9EBB440878}" type="presOf" srcId="{342EB4CC-5880-4FD8-BADC-D829A0563D5D}" destId="{54ABC323-520D-BB41-B614-10CE12D2ADC3}" srcOrd="0" destOrd="0" presId="urn:microsoft.com/office/officeart/2016/7/layout/RepeatingBendingProcessNew"/>
    <dgm:cxn modelId="{C6088B81-1DC6-4C05-AA82-2456240CC264}" srcId="{BE65036F-E498-4FB3-925E-6558705E1E8F}" destId="{EF8D7350-AEFA-4EA7-88E4-6BD7BC1C36C5}" srcOrd="3" destOrd="0" parTransId="{61E1981D-97DC-410E-9478-309FB7D87A82}" sibTransId="{37EB6691-4621-46EE-B256-3DEC650982F2}"/>
    <dgm:cxn modelId="{E89E9E94-B3C7-447A-9135-91E9002C445F}" srcId="{BE65036F-E498-4FB3-925E-6558705E1E8F}" destId="{A60AE7E9-CA7B-4AF9-AE93-BB8B057132AA}" srcOrd="0" destOrd="0" parTransId="{9C468113-C482-4324-A8C0-109C3FBC2AB9}" sibTransId="{36EBA19F-2071-4C94-9809-F4E35097F818}"/>
    <dgm:cxn modelId="{9E08C595-3603-7F48-B420-10D8AAC25D8B}" type="presOf" srcId="{36EBA19F-2071-4C94-9809-F4E35097F818}" destId="{473C1796-8A4D-3245-B0DB-02840FBF3332}" srcOrd="1" destOrd="0" presId="urn:microsoft.com/office/officeart/2016/7/layout/RepeatingBendingProcessNew"/>
    <dgm:cxn modelId="{0248FBB1-8DE2-EC47-9883-5D17F95455B6}" type="presOf" srcId="{4E1E29F6-AD96-46FC-9DC9-ED61E80C7634}" destId="{BE4F32BB-6BF6-E44F-82B7-65E0ED6CAD67}" srcOrd="0" destOrd="0" presId="urn:microsoft.com/office/officeart/2016/7/layout/RepeatingBendingProcessNew"/>
    <dgm:cxn modelId="{9A589BB3-048E-814A-812B-AC5ADDC565F3}" type="presOf" srcId="{342EB4CC-5880-4FD8-BADC-D829A0563D5D}" destId="{AC36A859-D196-0040-871A-B955664838A0}" srcOrd="1" destOrd="0" presId="urn:microsoft.com/office/officeart/2016/7/layout/RepeatingBendingProcessNew"/>
    <dgm:cxn modelId="{144021B8-C97F-F548-B2D2-0BAC75DEC646}" type="presOf" srcId="{37EB6691-4621-46EE-B256-3DEC650982F2}" destId="{1CD2BED1-93F1-064D-BB41-A544AE97C775}" srcOrd="1" destOrd="0" presId="urn:microsoft.com/office/officeart/2016/7/layout/RepeatingBendingProcessNew"/>
    <dgm:cxn modelId="{473BB7C4-D665-8444-AD5F-24293130F813}" type="presOf" srcId="{7EB371FC-765A-4396-B5B4-52DAF9841614}" destId="{EC9E17D6-A266-2842-9882-D4FBE7D0ED45}" srcOrd="1" destOrd="0" presId="urn:microsoft.com/office/officeart/2016/7/layout/RepeatingBendingProcessNew"/>
    <dgm:cxn modelId="{880B65C9-5491-7A41-A02A-B4F21C929DDE}" type="presOf" srcId="{BE65036F-E498-4FB3-925E-6558705E1E8F}" destId="{7FBF7085-3EA2-5F4C-992C-A51656A537A2}" srcOrd="0" destOrd="0" presId="urn:microsoft.com/office/officeart/2016/7/layout/RepeatingBendingProcessNew"/>
    <dgm:cxn modelId="{602796DB-8855-47D0-9879-4560A7043D46}" srcId="{BE65036F-E498-4FB3-925E-6558705E1E8F}" destId="{96C434E8-7ABA-4C43-B3B9-42F58FFB6494}" srcOrd="1" destOrd="0" parTransId="{29E4039B-F466-4280-AA47-23CF1DD30334}" sibTransId="{F9D8C6B8-DF15-4D53-96E7-36FA99720CE7}"/>
    <dgm:cxn modelId="{CBC227F2-16AF-4EE5-9D78-075C23DFAF89}" srcId="{BE65036F-E498-4FB3-925E-6558705E1E8F}" destId="{844C3BAD-6D22-4D43-844A-929304805B9A}" srcOrd="5" destOrd="0" parTransId="{5DAC00B6-E20E-4500-A966-519455849B2A}" sibTransId="{E540E27B-8AF0-40EA-93E9-1D1B6BB8A403}"/>
    <dgm:cxn modelId="{9606ECF4-E533-2548-8357-FC7D598E8A3C}" type="presOf" srcId="{F9D8C6B8-DF15-4D53-96E7-36FA99720CE7}" destId="{A07669AE-0707-BA40-98BA-EDC5BEE4AFD3}" srcOrd="1" destOrd="0" presId="urn:microsoft.com/office/officeart/2016/7/layout/RepeatingBendingProcessNew"/>
    <dgm:cxn modelId="{6356E7BE-D430-A948-AD89-18FB12A44022}" type="presParOf" srcId="{7FBF7085-3EA2-5F4C-992C-A51656A537A2}" destId="{857C933E-5F3B-E64C-88C6-C0035F8BFF4B}" srcOrd="0" destOrd="0" presId="urn:microsoft.com/office/officeart/2016/7/layout/RepeatingBendingProcessNew"/>
    <dgm:cxn modelId="{B2605989-4487-3041-8094-FBC68D370347}" type="presParOf" srcId="{7FBF7085-3EA2-5F4C-992C-A51656A537A2}" destId="{FE18D610-8F40-8F42-9729-A4053FE7E6F6}" srcOrd="1" destOrd="0" presId="urn:microsoft.com/office/officeart/2016/7/layout/RepeatingBendingProcessNew"/>
    <dgm:cxn modelId="{F12EFD52-9F8E-9449-A9E8-10496C819718}" type="presParOf" srcId="{FE18D610-8F40-8F42-9729-A4053FE7E6F6}" destId="{473C1796-8A4D-3245-B0DB-02840FBF3332}" srcOrd="0" destOrd="0" presId="urn:microsoft.com/office/officeart/2016/7/layout/RepeatingBendingProcessNew"/>
    <dgm:cxn modelId="{36F8463E-3350-F449-AA0C-EB91357D750B}" type="presParOf" srcId="{7FBF7085-3EA2-5F4C-992C-A51656A537A2}" destId="{AB4579FD-82D1-7A4A-B5A6-E0F341FA10E0}" srcOrd="2" destOrd="0" presId="urn:microsoft.com/office/officeart/2016/7/layout/RepeatingBendingProcessNew"/>
    <dgm:cxn modelId="{2813770C-1250-434E-BBE9-6BBD043D10C1}" type="presParOf" srcId="{7FBF7085-3EA2-5F4C-992C-A51656A537A2}" destId="{5E3C6E2A-06EF-3345-A63F-70B8C1857C24}" srcOrd="3" destOrd="0" presId="urn:microsoft.com/office/officeart/2016/7/layout/RepeatingBendingProcessNew"/>
    <dgm:cxn modelId="{BE4AD090-4748-C14A-B3DD-1FAF2A112221}" type="presParOf" srcId="{5E3C6E2A-06EF-3345-A63F-70B8C1857C24}" destId="{A07669AE-0707-BA40-98BA-EDC5BEE4AFD3}" srcOrd="0" destOrd="0" presId="urn:microsoft.com/office/officeart/2016/7/layout/RepeatingBendingProcessNew"/>
    <dgm:cxn modelId="{84062F11-288E-FE4C-900B-05A695E9B6A8}" type="presParOf" srcId="{7FBF7085-3EA2-5F4C-992C-A51656A537A2}" destId="{BE4F32BB-6BF6-E44F-82B7-65E0ED6CAD67}" srcOrd="4" destOrd="0" presId="urn:microsoft.com/office/officeart/2016/7/layout/RepeatingBendingProcessNew"/>
    <dgm:cxn modelId="{BAC4E753-F849-C546-A3EF-753C993C5637}" type="presParOf" srcId="{7FBF7085-3EA2-5F4C-992C-A51656A537A2}" destId="{9AC26580-E70D-8F4E-BB8F-68FB4026D080}" srcOrd="5" destOrd="0" presId="urn:microsoft.com/office/officeart/2016/7/layout/RepeatingBendingProcessNew"/>
    <dgm:cxn modelId="{E14B2274-D1F7-704D-9303-C262B3BA7616}" type="presParOf" srcId="{9AC26580-E70D-8F4E-BB8F-68FB4026D080}" destId="{EC9E17D6-A266-2842-9882-D4FBE7D0ED45}" srcOrd="0" destOrd="0" presId="urn:microsoft.com/office/officeart/2016/7/layout/RepeatingBendingProcessNew"/>
    <dgm:cxn modelId="{A4CF7E82-80CD-7343-AC7A-A5FB79836B7B}" type="presParOf" srcId="{7FBF7085-3EA2-5F4C-992C-A51656A537A2}" destId="{066DF1E8-AB48-DC48-86BD-92C25ADCDCC5}" srcOrd="6" destOrd="0" presId="urn:microsoft.com/office/officeart/2016/7/layout/RepeatingBendingProcessNew"/>
    <dgm:cxn modelId="{5B30B56E-6F53-4A4F-AA22-0EE11993EB05}" type="presParOf" srcId="{7FBF7085-3EA2-5F4C-992C-A51656A537A2}" destId="{01B4CAE9-3058-2B45-B662-C881B8BBBC24}" srcOrd="7" destOrd="0" presId="urn:microsoft.com/office/officeart/2016/7/layout/RepeatingBendingProcessNew"/>
    <dgm:cxn modelId="{2621A414-2F9C-5A4F-9BD4-9B145C2405DB}" type="presParOf" srcId="{01B4CAE9-3058-2B45-B662-C881B8BBBC24}" destId="{1CD2BED1-93F1-064D-BB41-A544AE97C775}" srcOrd="0" destOrd="0" presId="urn:microsoft.com/office/officeart/2016/7/layout/RepeatingBendingProcessNew"/>
    <dgm:cxn modelId="{58EB636A-B0F7-EA44-925B-927C6540E2AE}" type="presParOf" srcId="{7FBF7085-3EA2-5F4C-992C-A51656A537A2}" destId="{DB418960-D272-C549-8B8E-A908D673BF5F}" srcOrd="8" destOrd="0" presId="urn:microsoft.com/office/officeart/2016/7/layout/RepeatingBendingProcessNew"/>
    <dgm:cxn modelId="{EAFDF6BA-AD3F-1C4E-9F09-0BA42A41FF19}" type="presParOf" srcId="{7FBF7085-3EA2-5F4C-992C-A51656A537A2}" destId="{54ABC323-520D-BB41-B614-10CE12D2ADC3}" srcOrd="9" destOrd="0" presId="urn:microsoft.com/office/officeart/2016/7/layout/RepeatingBendingProcessNew"/>
    <dgm:cxn modelId="{AE1F8F65-B5CB-F849-9101-32C7E4552B0B}" type="presParOf" srcId="{54ABC323-520D-BB41-B614-10CE12D2ADC3}" destId="{AC36A859-D196-0040-871A-B955664838A0}" srcOrd="0" destOrd="0" presId="urn:microsoft.com/office/officeart/2016/7/layout/RepeatingBendingProcessNew"/>
    <dgm:cxn modelId="{5A1FEDCE-F85F-3740-81E1-01E011EE089D}" type="presParOf" srcId="{7FBF7085-3EA2-5F4C-992C-A51656A537A2}" destId="{4C81B04C-8D1C-1A49-A206-98647B0AFD3C}"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4DC575-EABC-434E-A89D-2243FDC9E440}"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C7D6D07F-8D77-404B-AB02-E13C8ABDB11D}">
      <dgm:prSet/>
      <dgm:spPr/>
      <dgm:t>
        <a:bodyPr/>
        <a:lstStyle/>
        <a:p>
          <a:r>
            <a:rPr lang="en-US"/>
            <a:t>200-300 words (think: no more than 2/3 of a typed page) </a:t>
          </a:r>
        </a:p>
      </dgm:t>
    </dgm:pt>
    <dgm:pt modelId="{4E1A368F-BE72-47FD-AACD-B8DD2B7AA0EB}" type="parTrans" cxnId="{EE718A78-B25B-4421-8F2A-254FBCC97E30}">
      <dgm:prSet/>
      <dgm:spPr/>
      <dgm:t>
        <a:bodyPr/>
        <a:lstStyle/>
        <a:p>
          <a:endParaRPr lang="en-US"/>
        </a:p>
      </dgm:t>
    </dgm:pt>
    <dgm:pt modelId="{B8B63220-17E2-4F0A-ADBE-6B6E9C4CFC10}" type="sibTrans" cxnId="{EE718A78-B25B-4421-8F2A-254FBCC97E30}">
      <dgm:prSet/>
      <dgm:spPr/>
      <dgm:t>
        <a:bodyPr/>
        <a:lstStyle/>
        <a:p>
          <a:endParaRPr lang="en-US"/>
        </a:p>
      </dgm:t>
    </dgm:pt>
    <dgm:pt modelId="{C7AB70CD-B633-48F4-B9CF-445008EE8B42}">
      <dgm:prSet/>
      <dgm:spPr/>
      <dgm:t>
        <a:bodyPr/>
        <a:lstStyle/>
        <a:p>
          <a:r>
            <a:rPr lang="en-US"/>
            <a:t>A logical unit that presents a well-defined idea with evidence and analysis </a:t>
          </a:r>
        </a:p>
      </dgm:t>
    </dgm:pt>
    <dgm:pt modelId="{9DD27503-3703-4585-B2F3-C3863C80D399}" type="parTrans" cxnId="{4996F6A3-C21A-4EC9-A60C-65B5CAEDD2AB}">
      <dgm:prSet/>
      <dgm:spPr/>
      <dgm:t>
        <a:bodyPr/>
        <a:lstStyle/>
        <a:p>
          <a:endParaRPr lang="en-US"/>
        </a:p>
      </dgm:t>
    </dgm:pt>
    <dgm:pt modelId="{BBB37726-B5A9-4C5C-A467-878AFA34C65A}" type="sibTrans" cxnId="{4996F6A3-C21A-4EC9-A60C-65B5CAEDD2AB}">
      <dgm:prSet/>
      <dgm:spPr/>
      <dgm:t>
        <a:bodyPr/>
        <a:lstStyle/>
        <a:p>
          <a:endParaRPr lang="en-US"/>
        </a:p>
      </dgm:t>
    </dgm:pt>
    <dgm:pt modelId="{C6869A4B-80B1-491F-90AC-147BB0DDFF88}">
      <dgm:prSet/>
      <dgm:spPr/>
      <dgm:t>
        <a:bodyPr/>
        <a:lstStyle/>
        <a:p>
          <a:r>
            <a:rPr lang="en-US"/>
            <a:t>Stand-alone or as part of a progression of ideas </a:t>
          </a:r>
        </a:p>
      </dgm:t>
    </dgm:pt>
    <dgm:pt modelId="{65C66063-188B-4AB1-9A2E-A3365A103C14}" type="parTrans" cxnId="{CED9EAC7-6D70-4D11-A495-BB13D44CD29C}">
      <dgm:prSet/>
      <dgm:spPr/>
      <dgm:t>
        <a:bodyPr/>
        <a:lstStyle/>
        <a:p>
          <a:endParaRPr lang="en-US"/>
        </a:p>
      </dgm:t>
    </dgm:pt>
    <dgm:pt modelId="{45FD62B3-8E53-407F-A733-D25D31628004}" type="sibTrans" cxnId="{CED9EAC7-6D70-4D11-A495-BB13D44CD29C}">
      <dgm:prSet/>
      <dgm:spPr/>
      <dgm:t>
        <a:bodyPr/>
        <a:lstStyle/>
        <a:p>
          <a:endParaRPr lang="en-US"/>
        </a:p>
      </dgm:t>
    </dgm:pt>
    <dgm:pt modelId="{201D5999-6C40-4A38-B393-6E8427FCBA6C}">
      <dgm:prSet/>
      <dgm:spPr/>
      <dgm:t>
        <a:bodyPr/>
        <a:lstStyle/>
        <a:p>
          <a:r>
            <a:rPr lang="en-US" dirty="0"/>
            <a:t>In an essay or any other extended piece of writing, a paragraph is at once </a:t>
          </a:r>
          <a:r>
            <a:rPr lang="en-US" i="1" dirty="0"/>
            <a:t>self-contained </a:t>
          </a:r>
          <a:r>
            <a:rPr lang="en-US" dirty="0"/>
            <a:t>and </a:t>
          </a:r>
          <a:r>
            <a:rPr lang="en-US" i="1" dirty="0"/>
            <a:t>in relationship to the paragraphs around it. </a:t>
          </a:r>
          <a:endParaRPr lang="en-US" dirty="0"/>
        </a:p>
      </dgm:t>
    </dgm:pt>
    <dgm:pt modelId="{C1F4EEB8-2908-4384-BB60-1F76A19DF2CD}" type="parTrans" cxnId="{E327E80F-48CA-4463-BA14-4E34C6290873}">
      <dgm:prSet/>
      <dgm:spPr/>
      <dgm:t>
        <a:bodyPr/>
        <a:lstStyle/>
        <a:p>
          <a:endParaRPr lang="en-US"/>
        </a:p>
      </dgm:t>
    </dgm:pt>
    <dgm:pt modelId="{1B69C9DB-A118-4C5E-9B0B-0E11866E70E7}" type="sibTrans" cxnId="{E327E80F-48CA-4463-BA14-4E34C6290873}">
      <dgm:prSet/>
      <dgm:spPr/>
      <dgm:t>
        <a:bodyPr/>
        <a:lstStyle/>
        <a:p>
          <a:endParaRPr lang="en-US"/>
        </a:p>
      </dgm:t>
    </dgm:pt>
    <dgm:pt modelId="{9AC28D69-CE7F-4F31-8506-98127AC53792}">
      <dgm:prSet/>
      <dgm:spPr/>
      <dgm:t>
        <a:bodyPr/>
        <a:lstStyle/>
        <a:p>
          <a:r>
            <a:rPr lang="en-US"/>
            <a:t>A relationship might be opposition, continuation, expansion…</a:t>
          </a:r>
        </a:p>
      </dgm:t>
    </dgm:pt>
    <dgm:pt modelId="{8702D8C9-877D-4B05-A2DC-57F5278A17CA}" type="parTrans" cxnId="{43370357-7FAC-40B8-B814-BB63A8BB1B5E}">
      <dgm:prSet/>
      <dgm:spPr/>
      <dgm:t>
        <a:bodyPr/>
        <a:lstStyle/>
        <a:p>
          <a:endParaRPr lang="en-US"/>
        </a:p>
      </dgm:t>
    </dgm:pt>
    <dgm:pt modelId="{77E08661-C016-4CDF-B87B-0555E7DEB886}" type="sibTrans" cxnId="{43370357-7FAC-40B8-B814-BB63A8BB1B5E}">
      <dgm:prSet/>
      <dgm:spPr/>
      <dgm:t>
        <a:bodyPr/>
        <a:lstStyle/>
        <a:p>
          <a:endParaRPr lang="en-US"/>
        </a:p>
      </dgm:t>
    </dgm:pt>
    <dgm:pt modelId="{2214ECC4-B4F4-0349-A01B-B63BD692B99A}" type="pres">
      <dgm:prSet presAssocID="{AA4DC575-EABC-434E-A89D-2243FDC9E440}" presName="linear" presStyleCnt="0">
        <dgm:presLayoutVars>
          <dgm:dir/>
          <dgm:animLvl val="lvl"/>
          <dgm:resizeHandles val="exact"/>
        </dgm:presLayoutVars>
      </dgm:prSet>
      <dgm:spPr/>
    </dgm:pt>
    <dgm:pt modelId="{A58F7721-C1E2-A242-9525-B20924E62A13}" type="pres">
      <dgm:prSet presAssocID="{C7D6D07F-8D77-404B-AB02-E13C8ABDB11D}" presName="parentLin" presStyleCnt="0"/>
      <dgm:spPr/>
    </dgm:pt>
    <dgm:pt modelId="{9A4077C5-A30A-204C-A7DF-4889B4AFDDCB}" type="pres">
      <dgm:prSet presAssocID="{C7D6D07F-8D77-404B-AB02-E13C8ABDB11D}" presName="parentLeftMargin" presStyleLbl="node1" presStyleIdx="0" presStyleCnt="3"/>
      <dgm:spPr/>
    </dgm:pt>
    <dgm:pt modelId="{905023C7-3301-5E4B-990B-74B6ABED2C46}" type="pres">
      <dgm:prSet presAssocID="{C7D6D07F-8D77-404B-AB02-E13C8ABDB11D}" presName="parentText" presStyleLbl="node1" presStyleIdx="0" presStyleCnt="3">
        <dgm:presLayoutVars>
          <dgm:chMax val="0"/>
          <dgm:bulletEnabled val="1"/>
        </dgm:presLayoutVars>
      </dgm:prSet>
      <dgm:spPr/>
    </dgm:pt>
    <dgm:pt modelId="{F1BB012C-E48F-FA4A-AE4E-B9D39AF9EDE1}" type="pres">
      <dgm:prSet presAssocID="{C7D6D07F-8D77-404B-AB02-E13C8ABDB11D}" presName="negativeSpace" presStyleCnt="0"/>
      <dgm:spPr/>
    </dgm:pt>
    <dgm:pt modelId="{68AF0CA7-074F-D54A-96BC-E1326A8A1861}" type="pres">
      <dgm:prSet presAssocID="{C7D6D07F-8D77-404B-AB02-E13C8ABDB11D}" presName="childText" presStyleLbl="conFgAcc1" presStyleIdx="0" presStyleCnt="3">
        <dgm:presLayoutVars>
          <dgm:bulletEnabled val="1"/>
        </dgm:presLayoutVars>
      </dgm:prSet>
      <dgm:spPr/>
    </dgm:pt>
    <dgm:pt modelId="{3B2B0786-AD76-1F4D-88AD-FCE23F4D9A15}" type="pres">
      <dgm:prSet presAssocID="{B8B63220-17E2-4F0A-ADBE-6B6E9C4CFC10}" presName="spaceBetweenRectangles" presStyleCnt="0"/>
      <dgm:spPr/>
    </dgm:pt>
    <dgm:pt modelId="{50C7BC70-E3AB-A84D-A097-556B2E742BB4}" type="pres">
      <dgm:prSet presAssocID="{C7AB70CD-B633-48F4-B9CF-445008EE8B42}" presName="parentLin" presStyleCnt="0"/>
      <dgm:spPr/>
    </dgm:pt>
    <dgm:pt modelId="{1210E755-7FB7-B344-B3D3-51AB695E498D}" type="pres">
      <dgm:prSet presAssocID="{C7AB70CD-B633-48F4-B9CF-445008EE8B42}" presName="parentLeftMargin" presStyleLbl="node1" presStyleIdx="0" presStyleCnt="3"/>
      <dgm:spPr/>
    </dgm:pt>
    <dgm:pt modelId="{13993223-37D0-CD48-A2F9-582F2100E612}" type="pres">
      <dgm:prSet presAssocID="{C7AB70CD-B633-48F4-B9CF-445008EE8B42}" presName="parentText" presStyleLbl="node1" presStyleIdx="1" presStyleCnt="3">
        <dgm:presLayoutVars>
          <dgm:chMax val="0"/>
          <dgm:bulletEnabled val="1"/>
        </dgm:presLayoutVars>
      </dgm:prSet>
      <dgm:spPr/>
    </dgm:pt>
    <dgm:pt modelId="{0DC6BE0C-CEAA-9949-A7F1-C1D251F1C54F}" type="pres">
      <dgm:prSet presAssocID="{C7AB70CD-B633-48F4-B9CF-445008EE8B42}" presName="negativeSpace" presStyleCnt="0"/>
      <dgm:spPr/>
    </dgm:pt>
    <dgm:pt modelId="{5A4ECE90-6416-5C4B-99CE-6994F8BF5871}" type="pres">
      <dgm:prSet presAssocID="{C7AB70CD-B633-48F4-B9CF-445008EE8B42}" presName="childText" presStyleLbl="conFgAcc1" presStyleIdx="1" presStyleCnt="3">
        <dgm:presLayoutVars>
          <dgm:bulletEnabled val="1"/>
        </dgm:presLayoutVars>
      </dgm:prSet>
      <dgm:spPr/>
    </dgm:pt>
    <dgm:pt modelId="{FC6CE81E-261E-B94C-AE40-359E83B9E4F0}" type="pres">
      <dgm:prSet presAssocID="{BBB37726-B5A9-4C5C-A467-878AFA34C65A}" presName="spaceBetweenRectangles" presStyleCnt="0"/>
      <dgm:spPr/>
    </dgm:pt>
    <dgm:pt modelId="{F0F21717-C9A9-BB43-B453-F986275FEF4E}" type="pres">
      <dgm:prSet presAssocID="{C6869A4B-80B1-491F-90AC-147BB0DDFF88}" presName="parentLin" presStyleCnt="0"/>
      <dgm:spPr/>
    </dgm:pt>
    <dgm:pt modelId="{F5EF42B1-54D2-1A49-B817-7E43C3831844}" type="pres">
      <dgm:prSet presAssocID="{C6869A4B-80B1-491F-90AC-147BB0DDFF88}" presName="parentLeftMargin" presStyleLbl="node1" presStyleIdx="1" presStyleCnt="3"/>
      <dgm:spPr/>
    </dgm:pt>
    <dgm:pt modelId="{F6F00B10-7ADD-B54D-893B-D4784D6997E9}" type="pres">
      <dgm:prSet presAssocID="{C6869A4B-80B1-491F-90AC-147BB0DDFF88}" presName="parentText" presStyleLbl="node1" presStyleIdx="2" presStyleCnt="3">
        <dgm:presLayoutVars>
          <dgm:chMax val="0"/>
          <dgm:bulletEnabled val="1"/>
        </dgm:presLayoutVars>
      </dgm:prSet>
      <dgm:spPr/>
    </dgm:pt>
    <dgm:pt modelId="{CF6C9C95-4D7D-CA4E-A027-227CF1C9C6E9}" type="pres">
      <dgm:prSet presAssocID="{C6869A4B-80B1-491F-90AC-147BB0DDFF88}" presName="negativeSpace" presStyleCnt="0"/>
      <dgm:spPr/>
    </dgm:pt>
    <dgm:pt modelId="{B613D5A6-D472-A946-A1DB-6E2D1E309E62}" type="pres">
      <dgm:prSet presAssocID="{C6869A4B-80B1-491F-90AC-147BB0DDFF88}" presName="childText" presStyleLbl="conFgAcc1" presStyleIdx="2" presStyleCnt="3">
        <dgm:presLayoutVars>
          <dgm:bulletEnabled val="1"/>
        </dgm:presLayoutVars>
      </dgm:prSet>
      <dgm:spPr/>
    </dgm:pt>
  </dgm:ptLst>
  <dgm:cxnLst>
    <dgm:cxn modelId="{82A8110C-76F2-774E-AE14-0C1CC555B5FA}" type="presOf" srcId="{C7D6D07F-8D77-404B-AB02-E13C8ABDB11D}" destId="{9A4077C5-A30A-204C-A7DF-4889B4AFDDCB}" srcOrd="0" destOrd="0" presId="urn:microsoft.com/office/officeart/2005/8/layout/list1"/>
    <dgm:cxn modelId="{E327E80F-48CA-4463-BA14-4E34C6290873}" srcId="{C6869A4B-80B1-491F-90AC-147BB0DDFF88}" destId="{201D5999-6C40-4A38-B393-6E8427FCBA6C}" srcOrd="0" destOrd="0" parTransId="{C1F4EEB8-2908-4384-BB60-1F76A19DF2CD}" sibTransId="{1B69C9DB-A118-4C5E-9B0B-0E11866E70E7}"/>
    <dgm:cxn modelId="{DB0A5417-FDD4-EA43-90E9-66436833DEC4}" type="presOf" srcId="{C7D6D07F-8D77-404B-AB02-E13C8ABDB11D}" destId="{905023C7-3301-5E4B-990B-74B6ABED2C46}" srcOrd="1" destOrd="0" presId="urn:microsoft.com/office/officeart/2005/8/layout/list1"/>
    <dgm:cxn modelId="{04CA556F-FD8E-BB44-BA7F-36CBE41C75E3}" type="presOf" srcId="{C7AB70CD-B633-48F4-B9CF-445008EE8B42}" destId="{1210E755-7FB7-B344-B3D3-51AB695E498D}" srcOrd="0" destOrd="0" presId="urn:microsoft.com/office/officeart/2005/8/layout/list1"/>
    <dgm:cxn modelId="{43370357-7FAC-40B8-B814-BB63A8BB1B5E}" srcId="{201D5999-6C40-4A38-B393-6E8427FCBA6C}" destId="{9AC28D69-CE7F-4F31-8506-98127AC53792}" srcOrd="0" destOrd="0" parTransId="{8702D8C9-877D-4B05-A2DC-57F5278A17CA}" sibTransId="{77E08661-C016-4CDF-B87B-0555E7DEB886}"/>
    <dgm:cxn modelId="{EE718A78-B25B-4421-8F2A-254FBCC97E30}" srcId="{AA4DC575-EABC-434E-A89D-2243FDC9E440}" destId="{C7D6D07F-8D77-404B-AB02-E13C8ABDB11D}" srcOrd="0" destOrd="0" parTransId="{4E1A368F-BE72-47FD-AACD-B8DD2B7AA0EB}" sibTransId="{B8B63220-17E2-4F0A-ADBE-6B6E9C4CFC10}"/>
    <dgm:cxn modelId="{869EBA93-3C29-4B4D-B587-8F8C0CE9C257}" type="presOf" srcId="{201D5999-6C40-4A38-B393-6E8427FCBA6C}" destId="{B613D5A6-D472-A946-A1DB-6E2D1E309E62}" srcOrd="0" destOrd="0" presId="urn:microsoft.com/office/officeart/2005/8/layout/list1"/>
    <dgm:cxn modelId="{4996F6A3-C21A-4EC9-A60C-65B5CAEDD2AB}" srcId="{AA4DC575-EABC-434E-A89D-2243FDC9E440}" destId="{C7AB70CD-B633-48F4-B9CF-445008EE8B42}" srcOrd="1" destOrd="0" parTransId="{9DD27503-3703-4585-B2F3-C3863C80D399}" sibTransId="{BBB37726-B5A9-4C5C-A467-878AFA34C65A}"/>
    <dgm:cxn modelId="{16C010A7-9EB5-D44C-84CB-7D3C144C9F66}" type="presOf" srcId="{C6869A4B-80B1-491F-90AC-147BB0DDFF88}" destId="{F5EF42B1-54D2-1A49-B817-7E43C3831844}" srcOrd="0" destOrd="0" presId="urn:microsoft.com/office/officeart/2005/8/layout/list1"/>
    <dgm:cxn modelId="{D8B3DBAC-E078-664D-8552-9C2D85A80641}" type="presOf" srcId="{AA4DC575-EABC-434E-A89D-2243FDC9E440}" destId="{2214ECC4-B4F4-0349-A01B-B63BD692B99A}" srcOrd="0" destOrd="0" presId="urn:microsoft.com/office/officeart/2005/8/layout/list1"/>
    <dgm:cxn modelId="{0BFA2DB0-528C-DC45-A59E-541654A41194}" type="presOf" srcId="{C6869A4B-80B1-491F-90AC-147BB0DDFF88}" destId="{F6F00B10-7ADD-B54D-893B-D4784D6997E9}" srcOrd="1" destOrd="0" presId="urn:microsoft.com/office/officeart/2005/8/layout/list1"/>
    <dgm:cxn modelId="{5E5C85BD-52B2-6040-A3CE-58B8FCF582AF}" type="presOf" srcId="{9AC28D69-CE7F-4F31-8506-98127AC53792}" destId="{B613D5A6-D472-A946-A1DB-6E2D1E309E62}" srcOrd="0" destOrd="1" presId="urn:microsoft.com/office/officeart/2005/8/layout/list1"/>
    <dgm:cxn modelId="{6F9B28C3-AE44-2D4E-A5FC-021337D82B89}" type="presOf" srcId="{C7AB70CD-B633-48F4-B9CF-445008EE8B42}" destId="{13993223-37D0-CD48-A2F9-582F2100E612}" srcOrd="1" destOrd="0" presId="urn:microsoft.com/office/officeart/2005/8/layout/list1"/>
    <dgm:cxn modelId="{CED9EAC7-6D70-4D11-A495-BB13D44CD29C}" srcId="{AA4DC575-EABC-434E-A89D-2243FDC9E440}" destId="{C6869A4B-80B1-491F-90AC-147BB0DDFF88}" srcOrd="2" destOrd="0" parTransId="{65C66063-188B-4AB1-9A2E-A3365A103C14}" sibTransId="{45FD62B3-8E53-407F-A733-D25D31628004}"/>
    <dgm:cxn modelId="{15435BB0-9E65-CC45-815A-1E2950D5D4F7}" type="presParOf" srcId="{2214ECC4-B4F4-0349-A01B-B63BD692B99A}" destId="{A58F7721-C1E2-A242-9525-B20924E62A13}" srcOrd="0" destOrd="0" presId="urn:microsoft.com/office/officeart/2005/8/layout/list1"/>
    <dgm:cxn modelId="{AAA8581B-29FF-954A-A633-2B9FB662C6AF}" type="presParOf" srcId="{A58F7721-C1E2-A242-9525-B20924E62A13}" destId="{9A4077C5-A30A-204C-A7DF-4889B4AFDDCB}" srcOrd="0" destOrd="0" presId="urn:microsoft.com/office/officeart/2005/8/layout/list1"/>
    <dgm:cxn modelId="{18B111ED-E650-4944-A392-1BC2204C3F82}" type="presParOf" srcId="{A58F7721-C1E2-A242-9525-B20924E62A13}" destId="{905023C7-3301-5E4B-990B-74B6ABED2C46}" srcOrd="1" destOrd="0" presId="urn:microsoft.com/office/officeart/2005/8/layout/list1"/>
    <dgm:cxn modelId="{81899073-0BAC-8F46-B8AD-450FD132D069}" type="presParOf" srcId="{2214ECC4-B4F4-0349-A01B-B63BD692B99A}" destId="{F1BB012C-E48F-FA4A-AE4E-B9D39AF9EDE1}" srcOrd="1" destOrd="0" presId="urn:microsoft.com/office/officeart/2005/8/layout/list1"/>
    <dgm:cxn modelId="{BD216498-8F76-EF46-B956-834ABFAB29DE}" type="presParOf" srcId="{2214ECC4-B4F4-0349-A01B-B63BD692B99A}" destId="{68AF0CA7-074F-D54A-96BC-E1326A8A1861}" srcOrd="2" destOrd="0" presId="urn:microsoft.com/office/officeart/2005/8/layout/list1"/>
    <dgm:cxn modelId="{8B1F4016-39F0-1A45-9740-CCE710509A8B}" type="presParOf" srcId="{2214ECC4-B4F4-0349-A01B-B63BD692B99A}" destId="{3B2B0786-AD76-1F4D-88AD-FCE23F4D9A15}" srcOrd="3" destOrd="0" presId="urn:microsoft.com/office/officeart/2005/8/layout/list1"/>
    <dgm:cxn modelId="{D386EA5A-A57C-DF45-9A77-A709A09F0E9F}" type="presParOf" srcId="{2214ECC4-B4F4-0349-A01B-B63BD692B99A}" destId="{50C7BC70-E3AB-A84D-A097-556B2E742BB4}" srcOrd="4" destOrd="0" presId="urn:microsoft.com/office/officeart/2005/8/layout/list1"/>
    <dgm:cxn modelId="{EB56AF2A-E002-3645-A08A-B6B359A76611}" type="presParOf" srcId="{50C7BC70-E3AB-A84D-A097-556B2E742BB4}" destId="{1210E755-7FB7-B344-B3D3-51AB695E498D}" srcOrd="0" destOrd="0" presId="urn:microsoft.com/office/officeart/2005/8/layout/list1"/>
    <dgm:cxn modelId="{B5A13E28-478D-5144-BC3B-9300C4BC1A39}" type="presParOf" srcId="{50C7BC70-E3AB-A84D-A097-556B2E742BB4}" destId="{13993223-37D0-CD48-A2F9-582F2100E612}" srcOrd="1" destOrd="0" presId="urn:microsoft.com/office/officeart/2005/8/layout/list1"/>
    <dgm:cxn modelId="{B6A10EDD-1466-6E4A-9206-2876B7D62800}" type="presParOf" srcId="{2214ECC4-B4F4-0349-A01B-B63BD692B99A}" destId="{0DC6BE0C-CEAA-9949-A7F1-C1D251F1C54F}" srcOrd="5" destOrd="0" presId="urn:microsoft.com/office/officeart/2005/8/layout/list1"/>
    <dgm:cxn modelId="{4AD582DF-C399-D346-9473-1E6C299D01FB}" type="presParOf" srcId="{2214ECC4-B4F4-0349-A01B-B63BD692B99A}" destId="{5A4ECE90-6416-5C4B-99CE-6994F8BF5871}" srcOrd="6" destOrd="0" presId="urn:microsoft.com/office/officeart/2005/8/layout/list1"/>
    <dgm:cxn modelId="{CCFDC1C7-CC70-D74B-8815-3340191F2D71}" type="presParOf" srcId="{2214ECC4-B4F4-0349-A01B-B63BD692B99A}" destId="{FC6CE81E-261E-B94C-AE40-359E83B9E4F0}" srcOrd="7" destOrd="0" presId="urn:microsoft.com/office/officeart/2005/8/layout/list1"/>
    <dgm:cxn modelId="{8BC5ACBD-66F5-9346-9834-3A007F3CFC1E}" type="presParOf" srcId="{2214ECC4-B4F4-0349-A01B-B63BD692B99A}" destId="{F0F21717-C9A9-BB43-B453-F986275FEF4E}" srcOrd="8" destOrd="0" presId="urn:microsoft.com/office/officeart/2005/8/layout/list1"/>
    <dgm:cxn modelId="{DFBDB00C-4AAD-8045-B0EB-1D3C604EE420}" type="presParOf" srcId="{F0F21717-C9A9-BB43-B453-F986275FEF4E}" destId="{F5EF42B1-54D2-1A49-B817-7E43C3831844}" srcOrd="0" destOrd="0" presId="urn:microsoft.com/office/officeart/2005/8/layout/list1"/>
    <dgm:cxn modelId="{C5DF66A0-13E1-D042-94AA-A8CD9BC99B80}" type="presParOf" srcId="{F0F21717-C9A9-BB43-B453-F986275FEF4E}" destId="{F6F00B10-7ADD-B54D-893B-D4784D6997E9}" srcOrd="1" destOrd="0" presId="urn:microsoft.com/office/officeart/2005/8/layout/list1"/>
    <dgm:cxn modelId="{7EC3B91B-B251-4D48-B2F0-6CB4E87C8FDF}" type="presParOf" srcId="{2214ECC4-B4F4-0349-A01B-B63BD692B99A}" destId="{CF6C9C95-4D7D-CA4E-A027-227CF1C9C6E9}" srcOrd="9" destOrd="0" presId="urn:microsoft.com/office/officeart/2005/8/layout/list1"/>
    <dgm:cxn modelId="{3F1D08A5-D291-724C-B1FF-206CA9AAA8E4}" type="presParOf" srcId="{2214ECC4-B4F4-0349-A01B-B63BD692B99A}" destId="{B613D5A6-D472-A946-A1DB-6E2D1E309E6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61E571-243C-794C-ADF3-EB19E38F646B}">
      <dsp:nvSpPr>
        <dsp:cNvPr id="0" name=""/>
        <dsp:cNvSpPr/>
      </dsp:nvSpPr>
      <dsp:spPr>
        <a:xfrm>
          <a:off x="3601" y="268903"/>
          <a:ext cx="1574743" cy="222924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I am arguing X</a:t>
          </a:r>
        </a:p>
      </dsp:txBody>
      <dsp:txXfrm>
        <a:off x="49724" y="315026"/>
        <a:ext cx="1482497" cy="2137000"/>
      </dsp:txXfrm>
    </dsp:sp>
    <dsp:sp modelId="{B9A873FE-EEF7-3B43-B9C2-A1946219E46E}">
      <dsp:nvSpPr>
        <dsp:cNvPr id="0" name=""/>
        <dsp:cNvSpPr/>
      </dsp:nvSpPr>
      <dsp:spPr>
        <a:xfrm>
          <a:off x="1735820" y="1188258"/>
          <a:ext cx="333845" cy="39053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735820" y="1266365"/>
        <a:ext cx="233692" cy="234322"/>
      </dsp:txXfrm>
    </dsp:sp>
    <dsp:sp modelId="{742E5C8A-A7D6-2640-86E2-A009AD838E91}">
      <dsp:nvSpPr>
        <dsp:cNvPr id="0" name=""/>
        <dsp:cNvSpPr/>
      </dsp:nvSpPr>
      <dsp:spPr>
        <a:xfrm>
          <a:off x="2208243" y="268903"/>
          <a:ext cx="1574743" cy="2229246"/>
        </a:xfrm>
        <a:prstGeom prst="roundRect">
          <a:avLst>
            <a:gd name="adj" fmla="val 10000"/>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Based on the reasoning Y</a:t>
          </a:r>
        </a:p>
      </dsp:txBody>
      <dsp:txXfrm>
        <a:off x="2254366" y="315026"/>
        <a:ext cx="1482497" cy="2137000"/>
      </dsp:txXfrm>
    </dsp:sp>
    <dsp:sp modelId="{ACC20D05-E7F7-DA47-8602-2CD6ADB15E99}">
      <dsp:nvSpPr>
        <dsp:cNvPr id="0" name=""/>
        <dsp:cNvSpPr/>
      </dsp:nvSpPr>
      <dsp:spPr>
        <a:xfrm>
          <a:off x="3940461" y="1188258"/>
          <a:ext cx="333845" cy="390536"/>
        </a:xfrm>
        <a:prstGeom prst="rightArrow">
          <a:avLst>
            <a:gd name="adj1" fmla="val 60000"/>
            <a:gd name="adj2" fmla="val 50000"/>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940461" y="1266365"/>
        <a:ext cx="233692" cy="234322"/>
      </dsp:txXfrm>
    </dsp:sp>
    <dsp:sp modelId="{D4DC2254-B7F1-CF4D-B893-D88423B34689}">
      <dsp:nvSpPr>
        <dsp:cNvPr id="0" name=""/>
        <dsp:cNvSpPr/>
      </dsp:nvSpPr>
      <dsp:spPr>
        <a:xfrm>
          <a:off x="4412884" y="268903"/>
          <a:ext cx="1574743" cy="2229246"/>
        </a:xfrm>
        <a:prstGeom prst="roundRect">
          <a:avLst>
            <a:gd name="adj" fmla="val 10000"/>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e.g. “Sole and Despotic Dominion” cannot be considered a short story because, even though it has a conflict, it lacks other narrative elements like exposition, rising action, climax, etc.</a:t>
          </a:r>
        </a:p>
      </dsp:txBody>
      <dsp:txXfrm>
        <a:off x="4459007" y="315026"/>
        <a:ext cx="1482497" cy="2137000"/>
      </dsp:txXfrm>
    </dsp:sp>
    <dsp:sp modelId="{191EBA55-5848-744C-B872-CE0A886D09FA}">
      <dsp:nvSpPr>
        <dsp:cNvPr id="0" name=""/>
        <dsp:cNvSpPr/>
      </dsp:nvSpPr>
      <dsp:spPr>
        <a:xfrm>
          <a:off x="6145103" y="1188258"/>
          <a:ext cx="333845" cy="390536"/>
        </a:xfrm>
        <a:prstGeom prst="rightArrow">
          <a:avLst>
            <a:gd name="adj1" fmla="val 60000"/>
            <a:gd name="adj2" fmla="val 50000"/>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145103" y="1266365"/>
        <a:ext cx="233692" cy="234322"/>
      </dsp:txXfrm>
    </dsp:sp>
    <dsp:sp modelId="{D7D6E084-20AE-1046-B3E8-97AB85000945}">
      <dsp:nvSpPr>
        <dsp:cNvPr id="0" name=""/>
        <dsp:cNvSpPr/>
      </dsp:nvSpPr>
      <dsp:spPr>
        <a:xfrm>
          <a:off x="6617526" y="268903"/>
          <a:ext cx="1574743" cy="2229246"/>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A reader should be able to predict what you will be discussing in your essay just by reading the thesis statement.</a:t>
          </a:r>
        </a:p>
      </dsp:txBody>
      <dsp:txXfrm>
        <a:off x="6663649" y="315026"/>
        <a:ext cx="1482497" cy="2137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18D610-8F40-8F42-9729-A4053FE7E6F6}">
      <dsp:nvSpPr>
        <dsp:cNvPr id="0" name=""/>
        <dsp:cNvSpPr/>
      </dsp:nvSpPr>
      <dsp:spPr>
        <a:xfrm>
          <a:off x="2685028" y="535601"/>
          <a:ext cx="413995" cy="91440"/>
        </a:xfrm>
        <a:custGeom>
          <a:avLst/>
          <a:gdLst/>
          <a:ahLst/>
          <a:cxnLst/>
          <a:rect l="0" t="0" r="0" b="0"/>
          <a:pathLst>
            <a:path>
              <a:moveTo>
                <a:pt x="0" y="45720"/>
              </a:moveTo>
              <a:lnTo>
                <a:pt x="413995"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80911" y="579096"/>
        <a:ext cx="22229" cy="4450"/>
      </dsp:txXfrm>
    </dsp:sp>
    <dsp:sp modelId="{857C933E-5F3B-E64C-88C6-C0035F8BFF4B}">
      <dsp:nvSpPr>
        <dsp:cNvPr id="0" name=""/>
        <dsp:cNvSpPr/>
      </dsp:nvSpPr>
      <dsp:spPr>
        <a:xfrm>
          <a:off x="753803" y="1414"/>
          <a:ext cx="1933024" cy="115981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720" tIns="99425" rIns="94720" bIns="99425" numCol="1" spcCol="1270" anchor="ctr" anchorCtr="0">
          <a:noAutofit/>
        </a:bodyPr>
        <a:lstStyle/>
        <a:p>
          <a:pPr marL="0" lvl="0" indent="0" algn="ctr" defTabSz="533400">
            <a:lnSpc>
              <a:spcPct val="90000"/>
            </a:lnSpc>
            <a:spcBef>
              <a:spcPct val="0"/>
            </a:spcBef>
            <a:spcAft>
              <a:spcPct val="35000"/>
            </a:spcAft>
            <a:buNone/>
          </a:pPr>
          <a:r>
            <a:rPr lang="en-US" sz="1200" kern="1200" dirty="0"/>
            <a:t>1 strong and accurate topic sentence/claim for your paragraph. </a:t>
          </a:r>
        </a:p>
      </dsp:txBody>
      <dsp:txXfrm>
        <a:off x="753803" y="1414"/>
        <a:ext cx="1933024" cy="1159814"/>
      </dsp:txXfrm>
    </dsp:sp>
    <dsp:sp modelId="{5E3C6E2A-06EF-3345-A63F-70B8C1857C24}">
      <dsp:nvSpPr>
        <dsp:cNvPr id="0" name=""/>
        <dsp:cNvSpPr/>
      </dsp:nvSpPr>
      <dsp:spPr>
        <a:xfrm>
          <a:off x="5062648" y="535601"/>
          <a:ext cx="413995" cy="91440"/>
        </a:xfrm>
        <a:custGeom>
          <a:avLst/>
          <a:gdLst/>
          <a:ahLst/>
          <a:cxnLst/>
          <a:rect l="0" t="0" r="0" b="0"/>
          <a:pathLst>
            <a:path>
              <a:moveTo>
                <a:pt x="0" y="45720"/>
              </a:moveTo>
              <a:lnTo>
                <a:pt x="413995"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58531" y="579096"/>
        <a:ext cx="22229" cy="4450"/>
      </dsp:txXfrm>
    </dsp:sp>
    <dsp:sp modelId="{AB4579FD-82D1-7A4A-B5A6-E0F341FA10E0}">
      <dsp:nvSpPr>
        <dsp:cNvPr id="0" name=""/>
        <dsp:cNvSpPr/>
      </dsp:nvSpPr>
      <dsp:spPr>
        <a:xfrm>
          <a:off x="3131423" y="1414"/>
          <a:ext cx="1933024" cy="115981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720" tIns="99425" rIns="94720" bIns="99425" numCol="1" spcCol="1270" anchor="ctr" anchorCtr="0">
          <a:noAutofit/>
        </a:bodyPr>
        <a:lstStyle/>
        <a:p>
          <a:pPr marL="0" lvl="0" indent="0" algn="ctr" defTabSz="533400">
            <a:lnSpc>
              <a:spcPct val="90000"/>
            </a:lnSpc>
            <a:spcBef>
              <a:spcPct val="0"/>
            </a:spcBef>
            <a:spcAft>
              <a:spcPct val="35000"/>
            </a:spcAft>
            <a:buNone/>
          </a:pPr>
          <a:r>
            <a:rPr lang="en-US" sz="1200" kern="1200"/>
            <a:t>4-5 well-written, observant sentences. </a:t>
          </a:r>
        </a:p>
      </dsp:txBody>
      <dsp:txXfrm>
        <a:off x="3131423" y="1414"/>
        <a:ext cx="1933024" cy="1159814"/>
      </dsp:txXfrm>
    </dsp:sp>
    <dsp:sp modelId="{9AC26580-E70D-8F4E-BB8F-68FB4026D080}">
      <dsp:nvSpPr>
        <dsp:cNvPr id="0" name=""/>
        <dsp:cNvSpPr/>
      </dsp:nvSpPr>
      <dsp:spPr>
        <a:xfrm>
          <a:off x="1720315" y="1159429"/>
          <a:ext cx="4755240" cy="413995"/>
        </a:xfrm>
        <a:custGeom>
          <a:avLst/>
          <a:gdLst/>
          <a:ahLst/>
          <a:cxnLst/>
          <a:rect l="0" t="0" r="0" b="0"/>
          <a:pathLst>
            <a:path>
              <a:moveTo>
                <a:pt x="4755240" y="0"/>
              </a:moveTo>
              <a:lnTo>
                <a:pt x="4755240" y="224097"/>
              </a:lnTo>
              <a:lnTo>
                <a:pt x="0" y="224097"/>
              </a:lnTo>
              <a:lnTo>
                <a:pt x="0" y="413995"/>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8536" y="1364201"/>
        <a:ext cx="238798" cy="4450"/>
      </dsp:txXfrm>
    </dsp:sp>
    <dsp:sp modelId="{BE4F32BB-6BF6-E44F-82B7-65E0ED6CAD67}">
      <dsp:nvSpPr>
        <dsp:cNvPr id="0" name=""/>
        <dsp:cNvSpPr/>
      </dsp:nvSpPr>
      <dsp:spPr>
        <a:xfrm>
          <a:off x="5509043" y="1414"/>
          <a:ext cx="1933024" cy="115981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720" tIns="99425" rIns="94720" bIns="99425" numCol="1" spcCol="1270" anchor="ctr" anchorCtr="0">
          <a:noAutofit/>
        </a:bodyPr>
        <a:lstStyle/>
        <a:p>
          <a:pPr marL="0" lvl="0" indent="0" algn="ctr" defTabSz="533400">
            <a:lnSpc>
              <a:spcPct val="90000"/>
            </a:lnSpc>
            <a:spcBef>
              <a:spcPct val="0"/>
            </a:spcBef>
            <a:spcAft>
              <a:spcPct val="35000"/>
            </a:spcAft>
            <a:buNone/>
          </a:pPr>
          <a:r>
            <a:rPr lang="en-US" sz="1200" kern="1200"/>
            <a:t>Within those 4-5 sentences, you should include: </a:t>
          </a:r>
        </a:p>
      </dsp:txBody>
      <dsp:txXfrm>
        <a:off x="5509043" y="1414"/>
        <a:ext cx="1933024" cy="1159814"/>
      </dsp:txXfrm>
    </dsp:sp>
    <dsp:sp modelId="{01B4CAE9-3058-2B45-B662-C881B8BBBC24}">
      <dsp:nvSpPr>
        <dsp:cNvPr id="0" name=""/>
        <dsp:cNvSpPr/>
      </dsp:nvSpPr>
      <dsp:spPr>
        <a:xfrm>
          <a:off x="2685028" y="2140012"/>
          <a:ext cx="413995" cy="91440"/>
        </a:xfrm>
        <a:custGeom>
          <a:avLst/>
          <a:gdLst/>
          <a:ahLst/>
          <a:cxnLst/>
          <a:rect l="0" t="0" r="0" b="0"/>
          <a:pathLst>
            <a:path>
              <a:moveTo>
                <a:pt x="0" y="45720"/>
              </a:moveTo>
              <a:lnTo>
                <a:pt x="413995"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80911" y="2183507"/>
        <a:ext cx="22229" cy="4450"/>
      </dsp:txXfrm>
    </dsp:sp>
    <dsp:sp modelId="{066DF1E8-AB48-DC48-86BD-92C25ADCDCC5}">
      <dsp:nvSpPr>
        <dsp:cNvPr id="0" name=""/>
        <dsp:cNvSpPr/>
      </dsp:nvSpPr>
      <dsp:spPr>
        <a:xfrm>
          <a:off x="753803" y="1605824"/>
          <a:ext cx="1933024" cy="115981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720" tIns="99425" rIns="94720" bIns="99425" numCol="1" spcCol="1270" anchor="ctr" anchorCtr="0">
          <a:noAutofit/>
        </a:bodyPr>
        <a:lstStyle/>
        <a:p>
          <a:pPr marL="0" lvl="0" indent="0" algn="ctr" defTabSz="533400">
            <a:lnSpc>
              <a:spcPct val="90000"/>
            </a:lnSpc>
            <a:spcBef>
              <a:spcPct val="0"/>
            </a:spcBef>
            <a:spcAft>
              <a:spcPct val="35000"/>
            </a:spcAft>
            <a:buNone/>
          </a:pPr>
          <a:r>
            <a:rPr lang="en-US" sz="1200" kern="1200"/>
            <a:t>At least 1 well-chosen, framed, and grammatically integrated quotation. </a:t>
          </a:r>
        </a:p>
      </dsp:txBody>
      <dsp:txXfrm>
        <a:off x="753803" y="1605824"/>
        <a:ext cx="1933024" cy="1159814"/>
      </dsp:txXfrm>
    </dsp:sp>
    <dsp:sp modelId="{54ABC323-520D-BB41-B614-10CE12D2ADC3}">
      <dsp:nvSpPr>
        <dsp:cNvPr id="0" name=""/>
        <dsp:cNvSpPr/>
      </dsp:nvSpPr>
      <dsp:spPr>
        <a:xfrm>
          <a:off x="5062648" y="2140012"/>
          <a:ext cx="413995" cy="91440"/>
        </a:xfrm>
        <a:custGeom>
          <a:avLst/>
          <a:gdLst/>
          <a:ahLst/>
          <a:cxnLst/>
          <a:rect l="0" t="0" r="0" b="0"/>
          <a:pathLst>
            <a:path>
              <a:moveTo>
                <a:pt x="0" y="45720"/>
              </a:moveTo>
              <a:lnTo>
                <a:pt x="413995"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58531" y="2183507"/>
        <a:ext cx="22229" cy="4450"/>
      </dsp:txXfrm>
    </dsp:sp>
    <dsp:sp modelId="{DB418960-D272-C549-8B8E-A908D673BF5F}">
      <dsp:nvSpPr>
        <dsp:cNvPr id="0" name=""/>
        <dsp:cNvSpPr/>
      </dsp:nvSpPr>
      <dsp:spPr>
        <a:xfrm>
          <a:off x="3131423" y="1605824"/>
          <a:ext cx="1933024" cy="115981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720" tIns="99425" rIns="94720" bIns="99425" numCol="1" spcCol="1270" anchor="ctr" anchorCtr="0">
          <a:noAutofit/>
        </a:bodyPr>
        <a:lstStyle/>
        <a:p>
          <a:pPr marL="0" lvl="0" indent="0" algn="ctr" defTabSz="533400">
            <a:lnSpc>
              <a:spcPct val="90000"/>
            </a:lnSpc>
            <a:spcBef>
              <a:spcPct val="0"/>
            </a:spcBef>
            <a:spcAft>
              <a:spcPct val="35000"/>
            </a:spcAft>
            <a:buNone/>
          </a:pPr>
          <a:r>
            <a:rPr lang="en-US" sz="1200" kern="1200"/>
            <a:t>Discussion or explanation of that quotation that is </a:t>
          </a:r>
          <a:r>
            <a:rPr lang="en-US" sz="1200" i="1" kern="1200"/>
            <a:t>at least as long as the quotation</a:t>
          </a:r>
          <a:r>
            <a:rPr lang="en-US" sz="1200" kern="1200"/>
            <a:t>.</a:t>
          </a:r>
        </a:p>
      </dsp:txBody>
      <dsp:txXfrm>
        <a:off x="3131423" y="1605824"/>
        <a:ext cx="1933024" cy="1159814"/>
      </dsp:txXfrm>
    </dsp:sp>
    <dsp:sp modelId="{4C81B04C-8D1C-1A49-A206-98647B0AFD3C}">
      <dsp:nvSpPr>
        <dsp:cNvPr id="0" name=""/>
        <dsp:cNvSpPr/>
      </dsp:nvSpPr>
      <dsp:spPr>
        <a:xfrm>
          <a:off x="5509043" y="1605824"/>
          <a:ext cx="1933024" cy="115981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720" tIns="99425" rIns="94720" bIns="99425" numCol="1" spcCol="1270" anchor="ctr" anchorCtr="0">
          <a:noAutofit/>
        </a:bodyPr>
        <a:lstStyle/>
        <a:p>
          <a:pPr marL="0" lvl="0" indent="0" algn="ctr" defTabSz="533400">
            <a:lnSpc>
              <a:spcPct val="90000"/>
            </a:lnSpc>
            <a:spcBef>
              <a:spcPct val="0"/>
            </a:spcBef>
            <a:spcAft>
              <a:spcPct val="35000"/>
            </a:spcAft>
            <a:buNone/>
          </a:pPr>
          <a:r>
            <a:rPr lang="en-US" sz="1200" kern="1200"/>
            <a:t>1 final sentence that expands on the summary or indicates its implications. *This is not the same thing a “connector” sentence that you may have learned in high school. </a:t>
          </a:r>
        </a:p>
      </dsp:txBody>
      <dsp:txXfrm>
        <a:off x="5509043" y="1605824"/>
        <a:ext cx="1933024" cy="11598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F0CA7-074F-D54A-96BC-E1326A8A1861}">
      <dsp:nvSpPr>
        <dsp:cNvPr id="0" name=""/>
        <dsp:cNvSpPr/>
      </dsp:nvSpPr>
      <dsp:spPr>
        <a:xfrm>
          <a:off x="0" y="418861"/>
          <a:ext cx="8195872"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5023C7-3301-5E4B-990B-74B6ABED2C46}">
      <dsp:nvSpPr>
        <dsp:cNvPr id="0" name=""/>
        <dsp:cNvSpPr/>
      </dsp:nvSpPr>
      <dsp:spPr>
        <a:xfrm>
          <a:off x="409793" y="226981"/>
          <a:ext cx="5737110" cy="383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6849" tIns="0" rIns="216849" bIns="0" numCol="1" spcCol="1270" anchor="ctr" anchorCtr="0">
          <a:noAutofit/>
        </a:bodyPr>
        <a:lstStyle/>
        <a:p>
          <a:pPr marL="0" lvl="0" indent="0" algn="l" defTabSz="577850">
            <a:lnSpc>
              <a:spcPct val="90000"/>
            </a:lnSpc>
            <a:spcBef>
              <a:spcPct val="0"/>
            </a:spcBef>
            <a:spcAft>
              <a:spcPct val="35000"/>
            </a:spcAft>
            <a:buNone/>
          </a:pPr>
          <a:r>
            <a:rPr lang="en-US" sz="1300" kern="1200"/>
            <a:t>200-300 words (think: no more than 2/3 of a typed page) </a:t>
          </a:r>
        </a:p>
      </dsp:txBody>
      <dsp:txXfrm>
        <a:off x="428527" y="245715"/>
        <a:ext cx="5699642" cy="346292"/>
      </dsp:txXfrm>
    </dsp:sp>
    <dsp:sp modelId="{5A4ECE90-6416-5C4B-99CE-6994F8BF5871}">
      <dsp:nvSpPr>
        <dsp:cNvPr id="0" name=""/>
        <dsp:cNvSpPr/>
      </dsp:nvSpPr>
      <dsp:spPr>
        <a:xfrm>
          <a:off x="0" y="1008541"/>
          <a:ext cx="8195872" cy="327600"/>
        </a:xfrm>
        <a:prstGeom prst="rect">
          <a:avLst/>
        </a:prstGeom>
        <a:solidFill>
          <a:schemeClr val="lt1">
            <a:alpha val="90000"/>
            <a:hueOff val="0"/>
            <a:satOff val="0"/>
            <a:lumOff val="0"/>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993223-37D0-CD48-A2F9-582F2100E612}">
      <dsp:nvSpPr>
        <dsp:cNvPr id="0" name=""/>
        <dsp:cNvSpPr/>
      </dsp:nvSpPr>
      <dsp:spPr>
        <a:xfrm>
          <a:off x="409793" y="816661"/>
          <a:ext cx="5737110" cy="38376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6849" tIns="0" rIns="216849" bIns="0" numCol="1" spcCol="1270" anchor="ctr" anchorCtr="0">
          <a:noAutofit/>
        </a:bodyPr>
        <a:lstStyle/>
        <a:p>
          <a:pPr marL="0" lvl="0" indent="0" algn="l" defTabSz="577850">
            <a:lnSpc>
              <a:spcPct val="90000"/>
            </a:lnSpc>
            <a:spcBef>
              <a:spcPct val="0"/>
            </a:spcBef>
            <a:spcAft>
              <a:spcPct val="35000"/>
            </a:spcAft>
            <a:buNone/>
          </a:pPr>
          <a:r>
            <a:rPr lang="en-US" sz="1300" kern="1200"/>
            <a:t>A logical unit that presents a well-defined idea with evidence and analysis </a:t>
          </a:r>
        </a:p>
      </dsp:txBody>
      <dsp:txXfrm>
        <a:off x="428527" y="835395"/>
        <a:ext cx="5699642" cy="346292"/>
      </dsp:txXfrm>
    </dsp:sp>
    <dsp:sp modelId="{B613D5A6-D472-A946-A1DB-6E2D1E309E62}">
      <dsp:nvSpPr>
        <dsp:cNvPr id="0" name=""/>
        <dsp:cNvSpPr/>
      </dsp:nvSpPr>
      <dsp:spPr>
        <a:xfrm>
          <a:off x="0" y="1598221"/>
          <a:ext cx="8195872" cy="94185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6091" tIns="270764" rIns="636091"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In an essay or any other extended piece of writing, a paragraph is at once </a:t>
          </a:r>
          <a:r>
            <a:rPr lang="en-US" sz="1300" i="1" kern="1200" dirty="0"/>
            <a:t>self-contained </a:t>
          </a:r>
          <a:r>
            <a:rPr lang="en-US" sz="1300" kern="1200" dirty="0"/>
            <a:t>and </a:t>
          </a:r>
          <a:r>
            <a:rPr lang="en-US" sz="1300" i="1" kern="1200" dirty="0"/>
            <a:t>in relationship to the paragraphs around it. </a:t>
          </a:r>
          <a:endParaRPr lang="en-US" sz="1300" kern="1200" dirty="0"/>
        </a:p>
        <a:p>
          <a:pPr marL="228600" lvl="2" indent="-114300" algn="l" defTabSz="577850">
            <a:lnSpc>
              <a:spcPct val="90000"/>
            </a:lnSpc>
            <a:spcBef>
              <a:spcPct val="0"/>
            </a:spcBef>
            <a:spcAft>
              <a:spcPct val="15000"/>
            </a:spcAft>
            <a:buChar char="•"/>
          </a:pPr>
          <a:r>
            <a:rPr lang="en-US" sz="1300" kern="1200"/>
            <a:t>A relationship might be opposition, continuation, expansion…</a:t>
          </a:r>
        </a:p>
      </dsp:txBody>
      <dsp:txXfrm>
        <a:off x="0" y="1598221"/>
        <a:ext cx="8195872" cy="941850"/>
      </dsp:txXfrm>
    </dsp:sp>
    <dsp:sp modelId="{F6F00B10-7ADD-B54D-893B-D4784D6997E9}">
      <dsp:nvSpPr>
        <dsp:cNvPr id="0" name=""/>
        <dsp:cNvSpPr/>
      </dsp:nvSpPr>
      <dsp:spPr>
        <a:xfrm>
          <a:off x="409793" y="1406341"/>
          <a:ext cx="5737110" cy="3837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6849" tIns="0" rIns="216849" bIns="0" numCol="1" spcCol="1270" anchor="ctr" anchorCtr="0">
          <a:noAutofit/>
        </a:bodyPr>
        <a:lstStyle/>
        <a:p>
          <a:pPr marL="0" lvl="0" indent="0" algn="l" defTabSz="577850">
            <a:lnSpc>
              <a:spcPct val="90000"/>
            </a:lnSpc>
            <a:spcBef>
              <a:spcPct val="0"/>
            </a:spcBef>
            <a:spcAft>
              <a:spcPct val="35000"/>
            </a:spcAft>
            <a:buNone/>
          </a:pPr>
          <a:r>
            <a:rPr lang="en-US" sz="1300" kern="1200"/>
            <a:t>Stand-alone or as part of a progression of ideas </a:t>
          </a:r>
        </a:p>
      </dsp:txBody>
      <dsp:txXfrm>
        <a:off x="428527" y="1425075"/>
        <a:ext cx="569964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131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3FF3-0EB4-73F9-3CE5-0A48D71FA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1DD7F-5284-E574-0899-0C54B3F72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A3412-FBFD-DED5-D90C-B4A34EC95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DB2FEB-2270-81B7-01FD-89793409813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0382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6BC40-CA53-DF96-F35E-3F95FD651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CF047-E41A-D3C7-4D24-056D443A8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43E58-2482-BB08-A585-A7940CBCC652}"/>
              </a:ext>
            </a:extLst>
          </p:cNvPr>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a:extLst>
              <a:ext uri="{FF2B5EF4-FFF2-40B4-BE49-F238E27FC236}">
                <a16:creationId xmlns:a16="http://schemas.microsoft.com/office/drawing/2014/main" id="{450E7A6F-15D3-7CB0-5853-B9545EC9BDF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84640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9764-48BC-884E-47E2-544CBF002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6CB92-7580-62AA-5C60-420256A60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D2A99-519D-0B43-EC87-D8FAFAA01612}"/>
              </a:ext>
            </a:extLst>
          </p:cNvPr>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a:extLst>
              <a:ext uri="{FF2B5EF4-FFF2-40B4-BE49-F238E27FC236}">
                <a16:creationId xmlns:a16="http://schemas.microsoft.com/office/drawing/2014/main" id="{17C2C697-548E-A943-8BB8-D20C4F0C1AD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95652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C4945-1F88-9A8C-54FE-F2B4F36B4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8AE84-41C8-D595-D239-B06358EB5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A2B90-482D-6346-E0C7-541AEF871C51}"/>
              </a:ext>
            </a:extLst>
          </p:cNvPr>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a:extLst>
              <a:ext uri="{FF2B5EF4-FFF2-40B4-BE49-F238E27FC236}">
                <a16:creationId xmlns:a16="http://schemas.microsoft.com/office/drawing/2014/main" id="{BF9511BE-5186-68D9-1A9C-A0EA4EAE950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44132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339DC-15AE-75A4-87B5-6575A82FE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DEE75-A2AB-5416-3B4B-18CC240A08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65153-08D3-73D8-193B-7ECD7216B29C}"/>
              </a:ext>
            </a:extLst>
          </p:cNvPr>
          <p:cNvSpPr>
            <a:spLocks noGrp="1"/>
          </p:cNvSpPr>
          <p:nvPr>
            <p:ph type="body" idx="1"/>
          </p:nvPr>
        </p:nvSpPr>
        <p:spPr/>
        <p:txBody>
          <a:bodyPr/>
          <a:lstStyle/>
          <a:p>
            <a:r>
              <a:rPr lang="en-US" dirty="0"/>
              <a:t>We are going to talk about paragraph structure:
Let me start with the basic requirements for an effective paragraph. 
A paragraph should be around 200 to 300 words, which should be no more than two-thirds of a typed page. 
Each paragraph presents one clear idea with evidence and analysis. 
A well-written paragraph is that it can stand alone as a piece of writing while also fitting seamlessly with other paragraphs around it.</a:t>
            </a:r>
          </a:p>
        </p:txBody>
      </p:sp>
      <p:sp>
        <p:nvSpPr>
          <p:cNvPr id="4" name="Slide Number Placeholder 3">
            <a:extLst>
              <a:ext uri="{FF2B5EF4-FFF2-40B4-BE49-F238E27FC236}">
                <a16:creationId xmlns:a16="http://schemas.microsoft.com/office/drawing/2014/main" id="{28C46702-3FB3-9E29-577B-9FAC9CC6FE2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89752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of your paragraphs will need: </a:t>
            </a:r>
          </a:p>
          <a:p>
            <a:endParaRPr lang="en-US" dirty="0"/>
          </a:p>
        </p:txBody>
      </p:sp>
      <p:sp>
        <p:nvSpPr>
          <p:cNvPr id="4" name="Slide Number Placeholder 3"/>
          <p:cNvSpPr>
            <a:spLocks noGrp="1"/>
          </p:cNvSpPr>
          <p:nvPr>
            <p:ph type="sldNum" sz="quarter" idx="5"/>
          </p:nvPr>
        </p:nvSpPr>
        <p:spPr/>
        <p:txBody>
          <a:bodyPr/>
          <a:lstStyle/>
          <a:p>
            <a:fld id="{37061242-7FE9-4242-8AB1-E961F21F8E49}" type="slidenum">
              <a:rPr lang="en-US" smtClean="0"/>
              <a:t>13</a:t>
            </a:fld>
            <a:endParaRPr lang="en-US"/>
          </a:p>
        </p:txBody>
      </p:sp>
    </p:spTree>
    <p:extLst>
      <p:ext uri="{BB962C8B-B14F-4D97-AF65-F5344CB8AC3E}">
        <p14:creationId xmlns:p14="http://schemas.microsoft.com/office/powerpoint/2010/main" val="4006453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Paragraphs have a rigid and predictable structure. This structure consists of three essential components that work together to create a compelling argument: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you need a strong topic sentence or claim. 
This sentence states what you will demonstrate in this paragraph. 
Think of it as a mini-argument that expresses clearly what you're trying to say. 
Your topic sentence must link back to your overall thesis because it functions as a subclaim to your main argument. 
Since it can be called as "claim." So, it needs to take a position. Which means something that you want to say and you're able to defend that.
If you're rereading a paragraph, w ha t you've written and it seems unclear, the first thing to check is whether your topic sentence is clear enough.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you need a strong topic sentence or claim. 
This sentence states what you will demonstrate in this paragraph. 
Think of it as a mini-argument that expresses clearly what you're trying to say. 
Your topic sentence must link back to your overall thesis because it functions as a subclaim to your main argument. 
Since it can be called as "claim." So, it needs to take a position. Which means something that you want to say and you're able to defend that.
If you're rereading a paragraph, w ha t you've written and it seems unclear, the first thing to check is whether your topic sentence is clear enough.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component is your evidence and analysis, which should be four to five well-written, observant sentences. 
Within these sentences, you must include at least one well-chosen, framed, and grammatically integrated quotation. 
This is where you show that you've clearly engaged with the texts you've chosen to write about. 
Your evidence comes from the text through quotations, but you also need to put things into your own words using those "they say" skills we discussed earlier.
Please don't just drop in a quotation. 
What we often see is a quotation that stands as its own sentence, and you may call it an "orphan quotation." 
Instead, you can use the “sandwich method” from the they say/I say book.
You should introduce the idea in your own words, then quote, then explain why you think that quotation is important. 
You must be intentional about when you quote from the texts. We want you to explain why you've chosen to include a specific quotation, and we want you to introduce it properly. 
This means you're not just dropping in other people's words without context, but you're explaining why you've done it, showing that you understand the other person's perspective and that you understand the quotation itself.
Your use of evidence must be grammatically integrated into your sentences. Linking phrases such as "for instance" or "for example" are helpful because they show the connection between your citation and the point you're making. 
Remember, your discussion or explanation of that quotation should be at least as long as the quotation itself.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component is your evidence and analysis, which should be four to five well-written, observant sentences. 
Within these sentences, you must include at least one well-chosen, framed, and grammatically integrated quotation. 
This is where you show that you've clearly engaged with the texts you've chosen to write about. 
Your evidence comes from the text through quotations, but you also need to put things into your own words using those "they say" skills we discussed earlier.
Please don't just drop in a quotation. 
What we often see is a quotation that stands as its own sentence, and you may call it an "orphan quotation." 
Instead, you can use the “sandwich method” from the they say/I say book.
You should introduce the idea in your own words, then quote, then explain why you think that quotation is important. 
You must be intentional about when you quote from the texts. We want you to explain why you've chosen to include a specific quotation, and we want you to introduce it properly. 
This means you're not just dropping in other people's words without context, but you're explaining why you've done it, showing that you understand the other person's perspective and that you understand the quotation itself.
Your use of evidence must be grammatically integrated into your sentences. Linking phrases such as "for instance" or "for example" are helpful because they show the connection between your citation and the point you're making. 
Remember, your discussion or explanation of that quotation should be at least as long as the quotation itself.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and final component is the "so what" sentence. 
This is your closing statement that indicates the significance of your topic, evidence, and analysis. It serves as a closing frame for the paragraph. 
In a standalone paragraph, this sentence indicates the importance of the paragraph itself. 
It answers the question: what have you tried to say in this paragraph, why have you included it, why is it there? 
In an essay, this statement refers to your thesis statement or argument. 
Each of your paragraphs, all your topic sentences, and all of those "so what" sentences should connect back to your overall argument. 
This statement does not expand outwards or refer to the next paragraph.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and final component is the "so what" sentence. 
This is your closing statement that indicates the significance of your topic, evidence, and analysis. It serves as a closing frame for the paragraph. 
In a standalone paragraph, this sentence indicates the importance of the paragraph itself. 
It answers the question: what have you tried to say in this paragraph, why have you included it, why is it there? 
In an essay, this statement refers to your thesis statement or argument. 
Each of your paragraphs, all your topic sentences, and all of those "so what" sentences should connect back to your overall argument. 
This statement does not expand outwards or refer to the next paragraph.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ACC7D-2349-F93D-F660-D2896D13D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4571B-5A9A-6E3A-8584-B7B5E0340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558AE-6AF7-2033-F0FC-10B13F57C4C8}"/>
              </a:ext>
            </a:extLst>
          </p:cNvPr>
          <p:cNvSpPr>
            <a:spLocks noGrp="1"/>
          </p:cNvSpPr>
          <p:nvPr>
            <p:ph type="body" idx="1"/>
          </p:nvPr>
        </p:nvSpPr>
        <p:spPr/>
        <p:txBody>
          <a:bodyPr/>
          <a:lstStyle/>
          <a:p>
            <a:r>
              <a:rPr lang="en-US" dirty="0"/>
              <a:t>The third and final component is the "so what" sentence. 
This is your closing statement that indicates the significance of your topic, evidence, and analysis. It serves as a closing frame for the paragraph. 
In a standalone paragraph, this sentence indicates the importance of the paragraph itself. 
It answers the question: what have you tried to say in this paragraph, why have you included it, why is it there? 
In an essay, this statement refers to your thesis statement or argument. 
Each of your paragraphs, all your topic sentences, and all of those "so what" sentences should connect back to your overall argument. 
This statement does not expand outwards or refer to the next paragraph.</a:t>
            </a:r>
          </a:p>
        </p:txBody>
      </p:sp>
      <p:sp>
        <p:nvSpPr>
          <p:cNvPr id="4" name="Slide Number Placeholder 3">
            <a:extLst>
              <a:ext uri="{FF2B5EF4-FFF2-40B4-BE49-F238E27FC236}">
                <a16:creationId xmlns:a16="http://schemas.microsoft.com/office/drawing/2014/main" id="{8EF9CA37-CDA1-AE7B-BF8C-598779B2BEC9}"/>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111459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(Purdue OWL) is widely regarded as one of the most authoritative and practical academic writing resources available.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8F1A1-7182-C3C2-90DF-F15FA61AA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5A51A-3F1F-2984-E68C-FC4B343F5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E3057A-4DEF-CF42-AE04-0EF04C844CF6}"/>
              </a:ext>
            </a:extLst>
          </p:cNvPr>
          <p:cNvSpPr>
            <a:spLocks noGrp="1"/>
          </p:cNvSpPr>
          <p:nvPr>
            <p:ph type="dt" sz="half" idx="10"/>
          </p:nvPr>
        </p:nvSpPr>
        <p:spPr/>
        <p:txBody>
          <a:bodyPr/>
          <a:lstStyle/>
          <a:p>
            <a:fld id="{C3FE843F-D55C-3346-AAC2-DCDC20877A7B}" type="datetimeFigureOut">
              <a:rPr lang="en-US" smtClean="0"/>
              <a:t>1/13/2026</a:t>
            </a:fld>
            <a:endParaRPr lang="en-US"/>
          </a:p>
        </p:txBody>
      </p:sp>
      <p:sp>
        <p:nvSpPr>
          <p:cNvPr id="5" name="Footer Placeholder 4">
            <a:extLst>
              <a:ext uri="{FF2B5EF4-FFF2-40B4-BE49-F238E27FC236}">
                <a16:creationId xmlns:a16="http://schemas.microsoft.com/office/drawing/2014/main" id="{9D2FB94C-D71D-5F24-809D-CD2A6EB6D5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9FAD74-751F-8E8E-F35A-AB52995CDCA1}"/>
              </a:ext>
            </a:extLst>
          </p:cNvPr>
          <p:cNvSpPr>
            <a:spLocks noGrp="1"/>
          </p:cNvSpPr>
          <p:nvPr>
            <p:ph type="sldNum" sz="quarter" idx="12"/>
          </p:nvPr>
        </p:nvSpPr>
        <p:spPr/>
        <p:txBody>
          <a:bodyPr/>
          <a:lstStyle/>
          <a:p>
            <a:fld id="{FAD770F1-22AA-BF42-9F1A-265A596FD0A0}" type="slidenum">
              <a:rPr lang="en-US" smtClean="0"/>
              <a:t>‹#›</a:t>
            </a:fld>
            <a:endParaRPr lang="en-US"/>
          </a:p>
        </p:txBody>
      </p:sp>
    </p:spTree>
    <p:extLst>
      <p:ext uri="{BB962C8B-B14F-4D97-AF65-F5344CB8AC3E}">
        <p14:creationId xmlns:p14="http://schemas.microsoft.com/office/powerpoint/2010/main" val="42186379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anvas.ubc.ca/courses/179607/assignments/2381453"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nybooks.com/articles/2008/03/20/the-charms-of-wikipedia/"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canvas.ubc.ca/courses/179607/files/43797081/download?download_frd=1" TargetMode="External"/><Relationship Id="rId4" Type="http://schemas.openxmlformats.org/officeDocument/2006/relationships/hyperlink" Target="https://canvas.ubc.ca/courses/179607/files/43797081?wrap=1"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canvas.ubc.ca/courses/179607/files/43796971?wrap=1"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canvas.ubc.ca/courses/179607/files/43797071?wrap=1"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docs.google.com/document/d/1ivRm3RtELvlMPR0EycmPy_Bzi0Rd1ZilCOF9LtZafDQ/edit?tab=t.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searchengine.show/playboi-farti-and-his-ai-homework-machine/"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canvas.ubc.ca/courses/179607/files/43851181?wrap=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owl.purdue.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43888" y="1131888"/>
            <a:ext cx="900112" cy="1131887"/>
          </a:xfrm>
          <a:prstGeom prst="rect">
            <a:avLst/>
          </a:prstGeom>
          <a:solidFill>
            <a:srgbClr val="002040"/>
          </a:solidFill>
          <a:ln/>
        </p:spPr>
        <p:txBody>
          <a:bodyPr/>
          <a:lstStyle/>
          <a:p>
            <a:endParaRPr lang="en-CA"/>
          </a:p>
        </p:txBody>
      </p:sp>
      <p:sp>
        <p:nvSpPr>
          <p:cNvPr id="4" name="Text 1"/>
          <p:cNvSpPr/>
          <p:nvPr/>
        </p:nvSpPr>
        <p:spPr>
          <a:xfrm>
            <a:off x="800100" y="3143250"/>
            <a:ext cx="6952284" cy="321394"/>
          </a:xfrm>
          <a:prstGeom prst="rect">
            <a:avLst/>
          </a:prstGeom>
          <a:noFill/>
          <a:ln/>
        </p:spPr>
        <p:txBody>
          <a:bodyPr wrap="square" rtlCol="0" anchor="ctr"/>
          <a:lstStyle/>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Week 2 Tutorial</a:t>
            </a:r>
            <a:endParaRPr lang="en-US" sz="1238" dirty="0"/>
          </a:p>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Zhehao Sun</a:t>
            </a:r>
            <a:endParaRPr lang="en-US" sz="1238" dirty="0"/>
          </a:p>
          <a:p>
            <a:pPr>
              <a:lnSpc>
                <a:spcPts val="2063"/>
              </a:lnSpc>
            </a:pPr>
            <a:r>
              <a:rPr lang="en-US" sz="1238" dirty="0">
                <a:solidFill>
                  <a:srgbClr val="002040">
                    <a:alpha val="99000"/>
                  </a:srgbClr>
                </a:solidFill>
                <a:latin typeface="Inter" pitchFamily="34" charset="0"/>
                <a:ea typeface="Inter" pitchFamily="34" charset="-122"/>
                <a:cs typeface="Inter" pitchFamily="34" charset="-120"/>
              </a:rPr>
              <a:t>Contact: zhehao.sun@ubc.ca</a:t>
            </a:r>
            <a:endParaRPr lang="en-US" sz="1238" dirty="0"/>
          </a:p>
        </p:txBody>
      </p:sp>
      <p:sp>
        <p:nvSpPr>
          <p:cNvPr id="5" name="Text 2"/>
          <p:cNvSpPr/>
          <p:nvPr/>
        </p:nvSpPr>
        <p:spPr>
          <a:xfrm>
            <a:off x="809625" y="1133475"/>
            <a:ext cx="7891463" cy="1571625"/>
          </a:xfrm>
          <a:prstGeom prst="rect">
            <a:avLst/>
          </a:prstGeom>
          <a:noFill/>
          <a:ln/>
        </p:spPr>
        <p:txBody>
          <a:bodyPr wrap="square" rtlCol="0" anchor="ctr"/>
          <a:lstStyle/>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ENGL/ DIHU 155</a:t>
            </a:r>
            <a:endParaRPr lang="en-US" sz="2888" dirty="0"/>
          </a:p>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Reading, Writing, and Making with Technology in the Humanities</a:t>
            </a:r>
            <a:endParaRPr lang="en-US" sz="288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9954" y="471002"/>
            <a:ext cx="9128419" cy="572700"/>
          </a:xfrm>
          <a:prstGeom prst="rect">
            <a:avLst/>
          </a:prstGeom>
          <a:noFill/>
          <a:ln/>
        </p:spPr>
        <p:txBody>
          <a:bodyPr/>
          <a:lstStyle/>
          <a:p>
            <a:endParaRPr lang="en-CA"/>
          </a:p>
        </p:txBody>
      </p:sp>
      <p:sp>
        <p:nvSpPr>
          <p:cNvPr id="4" name="Shape 2"/>
          <p:cNvSpPr/>
          <p:nvPr/>
        </p:nvSpPr>
        <p:spPr>
          <a:xfrm>
            <a:off x="796984" y="3122327"/>
            <a:ext cx="4429125" cy="1504950"/>
          </a:xfrm>
          <a:prstGeom prst="rect">
            <a:avLst/>
          </a:prstGeom>
          <a:noFill/>
          <a:ln/>
        </p:spPr>
        <p:txBody>
          <a:bodyPr/>
          <a:lstStyle/>
          <a:p>
            <a:endParaRPr lang="en-CA"/>
          </a:p>
        </p:txBody>
      </p:sp>
      <p:sp>
        <p:nvSpPr>
          <p:cNvPr id="5" name="Shape 3"/>
          <p:cNvSpPr/>
          <p:nvPr/>
        </p:nvSpPr>
        <p:spPr>
          <a:xfrm>
            <a:off x="796984" y="3122327"/>
            <a:ext cx="4430236" cy="1654492"/>
          </a:xfrm>
          <a:prstGeom prst="rect">
            <a:avLst/>
          </a:prstGeom>
          <a:noFill/>
          <a:ln/>
        </p:spPr>
        <p:txBody>
          <a:bodyPr/>
          <a:lstStyle/>
          <a:p>
            <a:endParaRPr lang="en-CA"/>
          </a:p>
        </p:txBody>
      </p:sp>
      <p:sp>
        <p:nvSpPr>
          <p:cNvPr id="6" name="Shape 4"/>
          <p:cNvSpPr/>
          <p:nvPr/>
        </p:nvSpPr>
        <p:spPr>
          <a:xfrm>
            <a:off x="9954" y="471002"/>
            <a:ext cx="9128419" cy="572700"/>
          </a:xfrm>
          <a:prstGeom prst="rect">
            <a:avLst/>
          </a:prstGeom>
          <a:noFill/>
          <a:ln/>
        </p:spPr>
        <p:txBody>
          <a:bodyPr/>
          <a:lstStyle/>
          <a:p>
            <a:endParaRPr lang="en-CA"/>
          </a:p>
        </p:txBody>
      </p:sp>
      <p:sp>
        <p:nvSpPr>
          <p:cNvPr id="10" name="Text 5"/>
          <p:cNvSpPr/>
          <p:nvPr/>
        </p:nvSpPr>
        <p:spPr>
          <a:xfrm>
            <a:off x="2753667" y="1744504"/>
            <a:ext cx="3409979" cy="1654492"/>
          </a:xfrm>
          <a:prstGeom prst="rect">
            <a:avLst/>
          </a:prstGeom>
          <a:noFill/>
          <a:ln/>
        </p:spPr>
        <p:txBody>
          <a:bodyPr wrap="square" rtlCol="0" anchor="ctr"/>
          <a:lstStyle/>
          <a:p>
            <a:pPr marL="0" indent="0" algn="l">
              <a:lnSpc>
                <a:spcPts val="1498"/>
              </a:lnSpc>
              <a:buNone/>
            </a:pPr>
            <a:r>
              <a:rPr lang="en-US" sz="1238" b="1" dirty="0">
                <a:solidFill>
                  <a:srgbClr val="C00000">
                    <a:alpha val="99000"/>
                  </a:srgbClr>
                </a:solidFill>
                <a:latin typeface="Inter" pitchFamily="34" charset="0"/>
                <a:ea typeface="Inter" pitchFamily="34" charset="-122"/>
                <a:cs typeface="Inter" pitchFamily="34" charset="-120"/>
              </a:rPr>
              <a:t>Due Next Monday: </a:t>
            </a:r>
            <a:endParaRPr lang="en-US" sz="1238" dirty="0"/>
          </a:p>
          <a:p>
            <a:r>
              <a:rPr lang="en-CA" dirty="0">
                <a:hlinkClick r:id="rId3"/>
              </a:rPr>
              <a:t>Week 3 Engagement Assignment</a:t>
            </a:r>
            <a:endParaRPr lang="en-CA" dirty="0"/>
          </a:p>
          <a:p>
            <a:endParaRPr lang="en-CA" dirty="0"/>
          </a:p>
          <a:p>
            <a:pPr marL="0" indent="0" algn="l">
              <a:lnSpc>
                <a:spcPts val="1498"/>
              </a:lnSpc>
              <a:buNone/>
            </a:pPr>
            <a:r>
              <a:rPr lang="en-US" sz="1238" b="1" dirty="0">
                <a:solidFill>
                  <a:srgbClr val="C00000">
                    <a:alpha val="99000"/>
                  </a:srgbClr>
                </a:solidFill>
                <a:latin typeface="Inter" pitchFamily="34" charset="0"/>
                <a:ea typeface="Inter" pitchFamily="34" charset="-122"/>
                <a:cs typeface="Inter" pitchFamily="34" charset="-120"/>
              </a:rPr>
              <a:t>No Tutorial/ Discussion Session Next Week </a:t>
            </a:r>
            <a:endParaRPr lang="en-US" sz="1238" dirty="0"/>
          </a:p>
        </p:txBody>
      </p:sp>
      <p:sp>
        <p:nvSpPr>
          <p:cNvPr id="11" name="Text 6"/>
          <p:cNvSpPr/>
          <p:nvPr/>
        </p:nvSpPr>
        <p:spPr>
          <a:xfrm>
            <a:off x="9954" y="471002"/>
            <a:ext cx="9585619"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8623" y="469004"/>
            <a:ext cx="9134748" cy="572700"/>
          </a:xfrm>
          <a:prstGeom prst="rect">
            <a:avLst/>
          </a:prstGeom>
          <a:noFill/>
          <a:ln/>
        </p:spPr>
        <p:txBody>
          <a:bodyPr/>
          <a:lstStyle/>
          <a:p>
            <a:endParaRPr lang="en-CA"/>
          </a:p>
        </p:txBody>
      </p:sp>
      <p:sp>
        <p:nvSpPr>
          <p:cNvPr id="4" name="Shape 2"/>
          <p:cNvSpPr/>
          <p:nvPr/>
        </p:nvSpPr>
        <p:spPr>
          <a:xfrm>
            <a:off x="639128" y="1046230"/>
            <a:ext cx="7863935" cy="3303392"/>
          </a:xfrm>
          <a:prstGeom prst="rect">
            <a:avLst/>
          </a:prstGeom>
          <a:noFill/>
          <a:ln/>
        </p:spPr>
        <p:txBody>
          <a:bodyPr/>
          <a:lstStyle/>
          <a:p>
            <a:endParaRPr lang="en-CA"/>
          </a:p>
        </p:txBody>
      </p:sp>
      <p:sp>
        <p:nvSpPr>
          <p:cNvPr id="5" name="Shape 3"/>
          <p:cNvSpPr/>
          <p:nvPr/>
        </p:nvSpPr>
        <p:spPr>
          <a:xfrm>
            <a:off x="639128" y="1046230"/>
            <a:ext cx="7863935" cy="3303392"/>
          </a:xfrm>
          <a:prstGeom prst="rect">
            <a:avLst/>
          </a:prstGeom>
          <a:noFill/>
          <a:ln/>
        </p:spPr>
        <p:txBody>
          <a:bodyPr/>
          <a:lstStyle/>
          <a:p>
            <a:endParaRPr lang="en-CA"/>
          </a:p>
        </p:txBody>
      </p:sp>
      <p:sp>
        <p:nvSpPr>
          <p:cNvPr id="6" name="Shape 4"/>
          <p:cNvSpPr/>
          <p:nvPr/>
        </p:nvSpPr>
        <p:spPr>
          <a:xfrm>
            <a:off x="8623" y="469004"/>
            <a:ext cx="9134748" cy="572700"/>
          </a:xfrm>
          <a:prstGeom prst="rect">
            <a:avLst/>
          </a:prstGeom>
          <a:noFill/>
          <a:ln/>
        </p:spPr>
        <p:txBody>
          <a:bodyPr/>
          <a:lstStyle/>
          <a:p>
            <a:endParaRPr lang="en-CA"/>
          </a:p>
        </p:txBody>
      </p:sp>
      <p:sp>
        <p:nvSpPr>
          <p:cNvPr id="8" name="Text 5"/>
          <p:cNvSpPr/>
          <p:nvPr/>
        </p:nvSpPr>
        <p:spPr>
          <a:xfrm>
            <a:off x="570453" y="1534819"/>
            <a:ext cx="8321135" cy="3303392"/>
          </a:xfrm>
          <a:prstGeom prst="rect">
            <a:avLst/>
          </a:prstGeom>
          <a:noFill/>
          <a:ln/>
        </p:spPr>
        <p:txBody>
          <a:bodyPr wrap="square" rtlCol="0" anchor="ctr"/>
          <a:lstStyle/>
          <a:p>
            <a:pPr marL="0" indent="0" algn="l">
              <a:lnSpc>
                <a:spcPts val="1694"/>
              </a:lnSpc>
              <a:buNone/>
            </a:pPr>
            <a:r>
              <a:rPr lang="en-US" sz="1400" b="1" dirty="0">
                <a:solidFill>
                  <a:srgbClr val="C00000">
                    <a:alpha val="99000"/>
                  </a:srgbClr>
                </a:solidFill>
                <a:latin typeface="Inter" pitchFamily="34" charset="0"/>
                <a:ea typeface="Inter" pitchFamily="34" charset="-122"/>
                <a:cs typeface="Inter" pitchFamily="34" charset="-120"/>
              </a:rPr>
              <a:t>For Next Monday In-Class Essay </a:t>
            </a:r>
          </a:p>
          <a:p>
            <a:pPr marL="0" indent="0" algn="l">
              <a:lnSpc>
                <a:spcPts val="1694"/>
              </a:lnSpc>
              <a:buNone/>
            </a:pPr>
            <a:endParaRPr lang="en-US" sz="1400" dirty="0"/>
          </a:p>
          <a:p>
            <a:r>
              <a:rPr lang="en-US" sz="1400" b="1" dirty="0">
                <a:solidFill>
                  <a:srgbClr val="BDE3FF">
                    <a:alpha val="99000"/>
                  </a:srgbClr>
                </a:solidFill>
                <a:latin typeface="Inter" pitchFamily="34" charset="0"/>
                <a:ea typeface="Inter" pitchFamily="34" charset="-122"/>
                <a:cs typeface="Inter" pitchFamily="34" charset="-120"/>
              </a:rPr>
              <a:t>Readings</a:t>
            </a:r>
          </a:p>
          <a:p>
            <a:endParaRPr lang="en-US" sz="1400" b="1" dirty="0">
              <a:solidFill>
                <a:srgbClr val="BDE3FF">
                  <a:alpha val="99000"/>
                </a:srgbClr>
              </a:solidFill>
              <a:latin typeface="Inter" pitchFamily="34" charset="0"/>
              <a:ea typeface="Inter" pitchFamily="34" charset="-122"/>
            </a:endParaRPr>
          </a:p>
          <a:p>
            <a:r>
              <a:rPr lang="en-CA" sz="1400" b="1" dirty="0">
                <a:solidFill>
                  <a:srgbClr val="BDE3FF">
                    <a:alpha val="99000"/>
                  </a:srgbClr>
                </a:solidFill>
                <a:latin typeface="Inter" pitchFamily="34" charset="0"/>
                <a:ea typeface="Inter" pitchFamily="34" charset="-122"/>
              </a:rPr>
              <a:t>Nicholson Reading: Baker, Nicholson. "</a:t>
            </a:r>
            <a:r>
              <a:rPr lang="en-CA" sz="1400" b="1" dirty="0">
                <a:solidFill>
                  <a:srgbClr val="BDE3FF">
                    <a:alpha val="99000"/>
                  </a:srgbClr>
                </a:solidFill>
                <a:latin typeface="Inter" pitchFamily="34" charset="0"/>
                <a:ea typeface="Inter" pitchFamily="34" charset="-122"/>
                <a:hlinkClick r:id="rId3">
                  <a:extLst>
                    <a:ext uri="{A12FA001-AC4F-418D-AE19-62706E023703}">
                      <ahyp:hlinkClr xmlns:ahyp="http://schemas.microsoft.com/office/drawing/2018/hyperlinkcolor" val="tx"/>
                    </a:ext>
                  </a:extLst>
                </a:hlinkClick>
              </a:rPr>
              <a:t>The Charms of Wikipedia</a:t>
            </a:r>
            <a:r>
              <a:rPr lang="en-CA" sz="1400" b="1" dirty="0">
                <a:solidFill>
                  <a:srgbClr val="BDE3FF">
                    <a:alpha val="99000"/>
                  </a:srgbClr>
                </a:solidFill>
                <a:latin typeface="Inter" pitchFamily="34" charset="0"/>
                <a:ea typeface="Inter" pitchFamily="34" charset="-122"/>
              </a:rPr>
              <a:t>." The New York review of books, Volume 55, 03/2008. (Find on UBCO Library catalogue)</a:t>
            </a:r>
          </a:p>
          <a:p>
            <a:pPr marL="285750" indent="-285750">
              <a:buFontTx/>
              <a:buChar char="-"/>
            </a:pPr>
            <a:endParaRPr lang="en-CA" sz="1400" b="1" dirty="0">
              <a:solidFill>
                <a:srgbClr val="BDE3FF">
                  <a:alpha val="99000"/>
                </a:srgbClr>
              </a:solidFill>
              <a:latin typeface="Inter" pitchFamily="34" charset="0"/>
              <a:ea typeface="Inter" pitchFamily="34" charset="-122"/>
            </a:endParaRPr>
          </a:p>
          <a:p>
            <a:r>
              <a:rPr lang="en-CA" sz="1400" b="1" dirty="0">
                <a:solidFill>
                  <a:srgbClr val="BDE3FF">
                    <a:alpha val="99000"/>
                  </a:srgbClr>
                </a:solidFill>
                <a:latin typeface="Inter" pitchFamily="34" charset="0"/>
                <a:ea typeface="Inter" pitchFamily="34" charset="-122"/>
              </a:rPr>
              <a:t>Snow Reading: </a:t>
            </a:r>
            <a:r>
              <a:rPr lang="en-CA" sz="1400" b="1" dirty="0">
                <a:solidFill>
                  <a:srgbClr val="BDE3FF">
                    <a:alpha val="99000"/>
                  </a:srgbClr>
                </a:solidFill>
                <a:latin typeface="Inter" pitchFamily="34" charset="0"/>
                <a:ea typeface="Inter" pitchFamily="34" charset="-122"/>
                <a:hlinkClick r:id="rId4" tooltip="snow_1959.pdf">
                  <a:extLst>
                    <a:ext uri="{A12FA001-AC4F-418D-AE19-62706E023703}">
                      <ahyp:hlinkClr xmlns:ahyp="http://schemas.microsoft.com/office/drawing/2018/hyperlinkcolor" val="tx"/>
                    </a:ext>
                  </a:extLst>
                </a:hlinkClick>
              </a:rPr>
              <a:t>Snow, C.P. "The Rede Lecture." The Two Cultures. 1959. </a:t>
            </a:r>
            <a:r>
              <a:rPr lang="en-CA" sz="1400" b="1" dirty="0">
                <a:solidFill>
                  <a:srgbClr val="BDE3FF">
                    <a:alpha val="99000"/>
                  </a:srgbClr>
                </a:solidFill>
                <a:latin typeface="Inter" pitchFamily="34" charset="0"/>
                <a:ea typeface="Inter" pitchFamily="34" charset="-122"/>
                <a:hlinkClick r:id="rId5">
                  <a:extLst>
                    <a:ext uri="{A12FA001-AC4F-418D-AE19-62706E023703}">
                      <ahyp:hlinkClr xmlns:ahyp="http://schemas.microsoft.com/office/drawing/2018/hyperlinkcolor" val="tx"/>
                    </a:ext>
                  </a:extLst>
                </a:hlinkClick>
              </a:rPr>
              <a:t>Download Snow, C.P. "The Rede Lecture." The Two Cultures. 1959.</a:t>
            </a:r>
            <a:endParaRPr lang="en-CA" sz="1400" b="1" dirty="0">
              <a:solidFill>
                <a:srgbClr val="BDE3FF">
                  <a:alpha val="99000"/>
                </a:srgbClr>
              </a:solidFill>
              <a:latin typeface="Inter" pitchFamily="34" charset="0"/>
              <a:ea typeface="Inter" pitchFamily="34" charset="-122"/>
            </a:endParaRPr>
          </a:p>
          <a:p>
            <a:r>
              <a:rPr lang="en-CA" sz="1400" b="1" dirty="0">
                <a:solidFill>
                  <a:srgbClr val="BDE3FF">
                    <a:alpha val="99000"/>
                  </a:srgbClr>
                </a:solidFill>
                <a:latin typeface="Inter" pitchFamily="34" charset="0"/>
                <a:ea typeface="Inter" pitchFamily="34" charset="-122"/>
              </a:rPr>
              <a:t>In library catalogue, you can also find the Snow essay at call number AZ361</a:t>
            </a:r>
          </a:p>
          <a:p>
            <a:endParaRPr lang="en-CA" sz="1400" b="1" dirty="0">
              <a:solidFill>
                <a:srgbClr val="BDE3FF">
                  <a:alpha val="99000"/>
                </a:srgbClr>
              </a:solidFill>
              <a:latin typeface="Inter" pitchFamily="34" charset="0"/>
              <a:ea typeface="Inter" pitchFamily="34" charset="-122"/>
            </a:endParaRPr>
          </a:p>
          <a:p>
            <a:endParaRPr lang="en-CA" sz="1400" b="1" dirty="0">
              <a:solidFill>
                <a:srgbClr val="BDE3FF">
                  <a:alpha val="99000"/>
                </a:srgbClr>
              </a:solidFill>
              <a:latin typeface="Inter" pitchFamily="34" charset="0"/>
              <a:ea typeface="Inter" pitchFamily="34" charset="-122"/>
            </a:endParaRPr>
          </a:p>
        </p:txBody>
      </p:sp>
      <p:sp>
        <p:nvSpPr>
          <p:cNvPr id="9" name="Text 6"/>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40"/>
        </a:solidFill>
        <a:effectLst/>
      </p:bgPr>
    </p:bg>
    <p:spTree>
      <p:nvGrpSpPr>
        <p:cNvPr id="1" name="">
          <a:extLst>
            <a:ext uri="{FF2B5EF4-FFF2-40B4-BE49-F238E27FC236}">
              <a16:creationId xmlns:a16="http://schemas.microsoft.com/office/drawing/2014/main" id="{6C027DDE-6820-A145-2B3C-3781D18CD3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A17DDC-99C8-1B86-A343-8EE7B902443A}"/>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A9F655FF-4B32-B7F5-0A63-62644CE80420}"/>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E8C8CF53-E5FA-8720-11E1-8A1BAF9721A8}"/>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B6F360A3-283D-BFBE-A1B1-A6214385BBE0}"/>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9DC8CAAE-80BA-02C4-92F7-E64106876A14}"/>
              </a:ext>
            </a:extLst>
          </p:cNvPr>
          <p:cNvSpPr/>
          <p:nvPr/>
        </p:nvSpPr>
        <p:spPr>
          <a:xfrm>
            <a:off x="8623" y="469004"/>
            <a:ext cx="9134748" cy="572700"/>
          </a:xfrm>
          <a:prstGeom prst="rect">
            <a:avLst/>
          </a:prstGeom>
          <a:noFill/>
          <a:ln/>
        </p:spPr>
        <p:txBody>
          <a:bodyPr/>
          <a:lstStyle/>
          <a:p>
            <a:endParaRPr lang="en-CA"/>
          </a:p>
        </p:txBody>
      </p:sp>
      <p:sp>
        <p:nvSpPr>
          <p:cNvPr id="8" name="Text 5">
            <a:extLst>
              <a:ext uri="{FF2B5EF4-FFF2-40B4-BE49-F238E27FC236}">
                <a16:creationId xmlns:a16="http://schemas.microsoft.com/office/drawing/2014/main" id="{266A6997-B232-30A2-0B46-1D015B9826DE}"/>
              </a:ext>
            </a:extLst>
          </p:cNvPr>
          <p:cNvSpPr/>
          <p:nvPr/>
        </p:nvSpPr>
        <p:spPr>
          <a:xfrm>
            <a:off x="639128" y="1046230"/>
            <a:ext cx="8321135" cy="3303392"/>
          </a:xfrm>
          <a:prstGeom prst="rect">
            <a:avLst/>
          </a:prstGeom>
          <a:noFill/>
          <a:ln/>
        </p:spPr>
        <p:txBody>
          <a:bodyPr wrap="square" rtlCol="0" anchor="ctr"/>
          <a:lstStyle/>
          <a:p>
            <a:pPr>
              <a:lnSpc>
                <a:spcPts val="1694"/>
              </a:lnSpc>
            </a:pPr>
            <a:r>
              <a:rPr lang="en-US" sz="1400" b="1" dirty="0">
                <a:solidFill>
                  <a:srgbClr val="C00000">
                    <a:alpha val="99000"/>
                  </a:srgbClr>
                </a:solidFill>
                <a:latin typeface="Inter" pitchFamily="34" charset="0"/>
                <a:ea typeface="Inter" pitchFamily="34" charset="-122"/>
              </a:rPr>
              <a:t>Readings for Week 4 (January 26th)</a:t>
            </a:r>
          </a:p>
          <a:p>
            <a:pPr>
              <a:lnSpc>
                <a:spcPts val="1694"/>
              </a:lnSpc>
            </a:pPr>
            <a:endParaRPr lang="en-US" sz="1400" b="1" dirty="0">
              <a:solidFill>
                <a:srgbClr val="C00000">
                  <a:alpha val="99000"/>
                </a:srgbClr>
              </a:solidFill>
              <a:latin typeface="Inter" pitchFamily="34" charset="0"/>
              <a:ea typeface="Inter" pitchFamily="34" charset="-122"/>
            </a:endParaRPr>
          </a:p>
          <a:p>
            <a:pPr indent="-285750">
              <a:buFont typeface="Arial" panose="020B0604020202020204" pitchFamily="34" charset="0"/>
              <a:buChar char="•"/>
            </a:pPr>
            <a:r>
              <a:rPr lang="en-US" sz="1400" b="1" dirty="0">
                <a:solidFill>
                  <a:srgbClr val="BDE3FF">
                    <a:alpha val="99000"/>
                  </a:srgbClr>
                </a:solidFill>
                <a:latin typeface="Inter" pitchFamily="34" charset="0"/>
                <a:ea typeface="Inter" pitchFamily="34" charset="-122"/>
              </a:rPr>
              <a:t>McLuhan, Marshall. Selections from "</a:t>
            </a:r>
            <a:r>
              <a:rPr lang="en-US" sz="1400" b="1" dirty="0">
                <a:solidFill>
                  <a:srgbClr val="BDE3FF">
                    <a:alpha val="99000"/>
                  </a:srgbClr>
                </a:solidFill>
                <a:latin typeface="Inter" pitchFamily="34" charset="0"/>
                <a:ea typeface="Inter" pitchFamily="34" charset="-122"/>
                <a:hlinkClick r:id="rId3"/>
              </a:rPr>
              <a:t>The Medium is the Message</a:t>
            </a:r>
            <a:r>
              <a:rPr lang="en-US" sz="1400" b="1" dirty="0">
                <a:solidFill>
                  <a:srgbClr val="BDE3FF">
                    <a:alpha val="99000"/>
                  </a:srgbClr>
                </a:solidFill>
                <a:latin typeface="Inter" pitchFamily="34" charset="0"/>
                <a:ea typeface="Inter" pitchFamily="34" charset="-122"/>
              </a:rPr>
              <a:t>." From Understanding Media: The Extensions of Man. On Canvas Download On Canvas.</a:t>
            </a:r>
          </a:p>
          <a:p>
            <a:pPr marL="0" lvl="1"/>
            <a:r>
              <a:rPr lang="en-US" sz="1400" b="1" dirty="0">
                <a:solidFill>
                  <a:srgbClr val="BDE3FF">
                    <a:alpha val="99000"/>
                  </a:srgbClr>
                </a:solidFill>
                <a:latin typeface="Inter" pitchFamily="34" charset="0"/>
                <a:ea typeface="Inter" pitchFamily="34" charset="-122"/>
              </a:rPr>
              <a:t>Read </a:t>
            </a:r>
            <a:r>
              <a:rPr lang="en-US" sz="1400" b="1" dirty="0" err="1">
                <a:solidFill>
                  <a:srgbClr val="BDE3FF">
                    <a:alpha val="99000"/>
                  </a:srgbClr>
                </a:solidFill>
                <a:latin typeface="Inter" pitchFamily="34" charset="0"/>
                <a:ea typeface="Inter" pitchFamily="34" charset="-122"/>
              </a:rPr>
              <a:t>pg</a:t>
            </a:r>
            <a:r>
              <a:rPr lang="en-US" sz="1400" b="1" dirty="0">
                <a:solidFill>
                  <a:srgbClr val="BDE3FF">
                    <a:alpha val="99000"/>
                  </a:srgbClr>
                </a:solidFill>
                <a:latin typeface="Inter" pitchFamily="34" charset="0"/>
                <a:ea typeface="Inter" pitchFamily="34" charset="-122"/>
              </a:rPr>
              <a:t> 1-10 + </a:t>
            </a:r>
            <a:r>
              <a:rPr lang="en-US" sz="1400" b="1" dirty="0" err="1">
                <a:solidFill>
                  <a:srgbClr val="BDE3FF">
                    <a:alpha val="99000"/>
                  </a:srgbClr>
                </a:solidFill>
                <a:latin typeface="Inter" pitchFamily="34" charset="0"/>
                <a:ea typeface="Inter" pitchFamily="34" charset="-122"/>
              </a:rPr>
              <a:t>pg</a:t>
            </a:r>
            <a:r>
              <a:rPr lang="en-US" sz="1400" b="1" dirty="0">
                <a:solidFill>
                  <a:srgbClr val="BDE3FF">
                    <a:alpha val="99000"/>
                  </a:srgbClr>
                </a:solidFill>
                <a:latin typeface="Inter" pitchFamily="34" charset="0"/>
                <a:ea typeface="Inter" pitchFamily="34" charset="-122"/>
              </a:rPr>
              <a:t> 15.</a:t>
            </a:r>
          </a:p>
          <a:p>
            <a:pPr marL="0" lvl="1"/>
            <a:endParaRPr lang="en-US" sz="1400" b="1" dirty="0">
              <a:solidFill>
                <a:srgbClr val="BDE3FF">
                  <a:alpha val="99000"/>
                </a:srgbClr>
              </a:solidFill>
              <a:latin typeface="Inter" pitchFamily="34" charset="0"/>
              <a:ea typeface="Inter" pitchFamily="34" charset="-122"/>
            </a:endParaRPr>
          </a:p>
          <a:p>
            <a:pPr indent="-285750">
              <a:buFont typeface="Arial" panose="020B0604020202020204" pitchFamily="34" charset="0"/>
              <a:buChar char="•"/>
            </a:pPr>
            <a:r>
              <a:rPr lang="en-US" sz="1400" b="1" dirty="0">
                <a:solidFill>
                  <a:srgbClr val="BDE3FF">
                    <a:alpha val="99000"/>
                  </a:srgbClr>
                </a:solidFill>
                <a:latin typeface="Inter" pitchFamily="34" charset="0"/>
                <a:ea typeface="Inter" pitchFamily="34" charset="-122"/>
              </a:rPr>
              <a:t>Marx, Leo. Selections from "'Technology': The Emergence of a Hazardous Concept." Social Research. Vol.  64, no. 3. (available through UBCO Library)</a:t>
            </a:r>
          </a:p>
          <a:p>
            <a:pPr marL="0" lvl="1"/>
            <a:r>
              <a:rPr lang="en-US" sz="1400" b="1" dirty="0">
                <a:solidFill>
                  <a:srgbClr val="BDE3FF">
                    <a:alpha val="99000"/>
                  </a:srgbClr>
                </a:solidFill>
                <a:latin typeface="Inter" pitchFamily="34" charset="0"/>
                <a:ea typeface="Inter" pitchFamily="34" charset="-122"/>
              </a:rPr>
              <a:t>Read pg. 965-980</a:t>
            </a:r>
          </a:p>
          <a:p>
            <a:pPr marL="0" lvl="1"/>
            <a:endParaRPr lang="en-US" sz="1400" b="1" dirty="0">
              <a:solidFill>
                <a:srgbClr val="BDE3FF">
                  <a:alpha val="99000"/>
                </a:srgbClr>
              </a:solidFill>
              <a:latin typeface="Inter" pitchFamily="34" charset="0"/>
              <a:ea typeface="Inter" pitchFamily="34" charset="-122"/>
            </a:endParaRPr>
          </a:p>
          <a:p>
            <a:pPr indent="-285750">
              <a:buFont typeface="Arial" panose="020B0604020202020204" pitchFamily="34" charset="0"/>
              <a:buChar char="•"/>
            </a:pPr>
            <a:r>
              <a:rPr lang="en-CA" sz="1400" b="1" dirty="0">
                <a:solidFill>
                  <a:srgbClr val="BDE3FF">
                    <a:alpha val="99000"/>
                  </a:srgbClr>
                </a:solidFill>
                <a:latin typeface="Inter" pitchFamily="34" charset="0"/>
                <a:ea typeface="Inter" pitchFamily="34" charset="-122"/>
              </a:rPr>
              <a:t>Acheson, Katherine O. </a:t>
            </a:r>
            <a:r>
              <a:rPr lang="en-CA" sz="1400" b="1" dirty="0">
                <a:solidFill>
                  <a:srgbClr val="BDE3FF">
                    <a:alpha val="99000"/>
                  </a:srgbClr>
                </a:solidFill>
                <a:latin typeface="Inter" pitchFamily="34" charset="0"/>
                <a:ea typeface="Inter" pitchFamily="34" charset="-122"/>
                <a:hlinkClick r:id="rId4"/>
              </a:rPr>
              <a:t>Writing Essays About Literature</a:t>
            </a:r>
            <a:r>
              <a:rPr lang="en-CA" sz="1400" b="1" dirty="0">
                <a:solidFill>
                  <a:srgbClr val="BDE3FF">
                    <a:alpha val="99000"/>
                  </a:srgbClr>
                </a:solidFill>
                <a:latin typeface="Inter" pitchFamily="34" charset="0"/>
                <a:ea typeface="Inter" pitchFamily="34" charset="-122"/>
              </a:rPr>
              <a:t> (chapter 7 &amp; 8 available on canvas)</a:t>
            </a:r>
          </a:p>
        </p:txBody>
      </p:sp>
      <p:sp>
        <p:nvSpPr>
          <p:cNvPr id="9" name="Text 6">
            <a:extLst>
              <a:ext uri="{FF2B5EF4-FFF2-40B4-BE49-F238E27FC236}">
                <a16:creationId xmlns:a16="http://schemas.microsoft.com/office/drawing/2014/main" id="{A4627D39-DD00-1BF3-7524-2262051BD18D}"/>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extLst>
      <p:ext uri="{BB962C8B-B14F-4D97-AF65-F5344CB8AC3E}">
        <p14:creationId xmlns:p14="http://schemas.microsoft.com/office/powerpoint/2010/main" val="416541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8623" y="469004"/>
            <a:ext cx="9134748" cy="572700"/>
          </a:xfrm>
          <a:prstGeom prst="rect">
            <a:avLst/>
          </a:prstGeom>
          <a:noFill/>
          <a:ln/>
        </p:spPr>
        <p:txBody>
          <a:bodyPr/>
          <a:lstStyle/>
          <a:p>
            <a:endParaRPr lang="en-CA"/>
          </a:p>
        </p:txBody>
      </p:sp>
      <p:sp>
        <p:nvSpPr>
          <p:cNvPr id="4" name="Shape 2"/>
          <p:cNvSpPr/>
          <p:nvPr/>
        </p:nvSpPr>
        <p:spPr>
          <a:xfrm>
            <a:off x="639128" y="1046230"/>
            <a:ext cx="7863935" cy="3303392"/>
          </a:xfrm>
          <a:prstGeom prst="rect">
            <a:avLst/>
          </a:prstGeom>
          <a:noFill/>
          <a:ln/>
        </p:spPr>
        <p:txBody>
          <a:bodyPr/>
          <a:lstStyle/>
          <a:p>
            <a:endParaRPr lang="en-CA"/>
          </a:p>
        </p:txBody>
      </p:sp>
      <p:sp>
        <p:nvSpPr>
          <p:cNvPr id="5" name="Shape 3"/>
          <p:cNvSpPr/>
          <p:nvPr/>
        </p:nvSpPr>
        <p:spPr>
          <a:xfrm>
            <a:off x="639128" y="1046230"/>
            <a:ext cx="7863935" cy="3303392"/>
          </a:xfrm>
          <a:prstGeom prst="rect">
            <a:avLst/>
          </a:prstGeom>
          <a:noFill/>
          <a:ln/>
        </p:spPr>
        <p:txBody>
          <a:bodyPr/>
          <a:lstStyle/>
          <a:p>
            <a:endParaRPr lang="en-CA"/>
          </a:p>
        </p:txBody>
      </p:sp>
      <p:sp>
        <p:nvSpPr>
          <p:cNvPr id="6" name="Shape 4"/>
          <p:cNvSpPr/>
          <p:nvPr/>
        </p:nvSpPr>
        <p:spPr>
          <a:xfrm>
            <a:off x="8623" y="469004"/>
            <a:ext cx="9134748" cy="572700"/>
          </a:xfrm>
          <a:prstGeom prst="rect">
            <a:avLst/>
          </a:prstGeom>
          <a:noFill/>
          <a:ln/>
        </p:spPr>
        <p:txBody>
          <a:bodyPr/>
          <a:lstStyle/>
          <a:p>
            <a:endParaRPr lang="en-CA"/>
          </a:p>
        </p:txBody>
      </p:sp>
      <p:pic>
        <p:nvPicPr>
          <p:cNvPr id="8" name="Image 1" descr="preencoded.png"/>
          <p:cNvPicPr>
            <a:picLocks noChangeAspect="1"/>
          </p:cNvPicPr>
          <p:nvPr/>
        </p:nvPicPr>
        <p:blipFill>
          <a:blip r:embed="rId3"/>
          <a:stretch>
            <a:fillRect/>
          </a:stretch>
        </p:blipFill>
        <p:spPr>
          <a:xfrm>
            <a:off x="3341618" y="1310798"/>
            <a:ext cx="4862066" cy="2965406"/>
          </a:xfrm>
          <a:prstGeom prst="rect">
            <a:avLst/>
          </a:prstGeom>
        </p:spPr>
      </p:pic>
      <p:sp>
        <p:nvSpPr>
          <p:cNvPr id="9" name="Text 5"/>
          <p:cNvSpPr/>
          <p:nvPr/>
        </p:nvSpPr>
        <p:spPr>
          <a:xfrm>
            <a:off x="639128" y="1046230"/>
            <a:ext cx="8321135" cy="3303392"/>
          </a:xfrm>
          <a:prstGeom prst="rect">
            <a:avLst/>
          </a:prstGeom>
          <a:noFill/>
          <a:ln/>
        </p:spPr>
        <p:txBody>
          <a:bodyPr wrap="square" rtlCol="0" anchor="ctr"/>
          <a:lstStyle/>
          <a:p>
            <a:pPr marL="0" indent="0" algn="l">
              <a:lnSpc>
                <a:spcPts val="2496"/>
              </a:lnSpc>
              <a:buNone/>
            </a:pPr>
            <a:r>
              <a:rPr lang="en-US" sz="2063" dirty="0">
                <a:solidFill>
                  <a:srgbClr val="BDE3FF">
                    <a:alpha val="99000"/>
                  </a:srgbClr>
                </a:solidFill>
                <a:latin typeface="Inter" pitchFamily="34" charset="0"/>
                <a:ea typeface="Inter" pitchFamily="34" charset="-122"/>
                <a:cs typeface="Inter" pitchFamily="34" charset="-120"/>
              </a:rPr>
              <a:t>Office Hours</a:t>
            </a:r>
          </a:p>
          <a:p>
            <a:pPr marL="0" indent="0" algn="l">
              <a:lnSpc>
                <a:spcPts val="2496"/>
              </a:lnSpc>
              <a:buNone/>
            </a:pPr>
            <a:r>
              <a:rPr lang="en-US" sz="2063" dirty="0">
                <a:solidFill>
                  <a:srgbClr val="BDE3FF">
                    <a:alpha val="99000"/>
                  </a:srgbClr>
                </a:solidFill>
                <a:latin typeface="Inter" pitchFamily="34" charset="0"/>
                <a:ea typeface="Inter" pitchFamily="34" charset="-122"/>
                <a:hlinkClick r:id="rId4"/>
              </a:rPr>
              <a:t>Sign Up Sheet</a:t>
            </a:r>
            <a:endParaRPr lang="en-US" sz="2063" dirty="0"/>
          </a:p>
          <a:p>
            <a:pPr marL="0" indent="0" algn="l">
              <a:lnSpc>
                <a:spcPts val="1498"/>
              </a:lnSpc>
              <a:buNone/>
            </a:pPr>
            <a:r>
              <a:rPr lang="en-US" sz="1238" dirty="0">
                <a:solidFill>
                  <a:srgbClr val="BDE3FF">
                    <a:alpha val="99000"/>
                  </a:srgbClr>
                </a:solidFill>
                <a:latin typeface="Inter" pitchFamily="34" charset="0"/>
                <a:ea typeface="Inter" pitchFamily="34" charset="-122"/>
                <a:cs typeface="Inter" pitchFamily="34" charset="-120"/>
              </a:rPr>
              <a:t>Fridays 10:00 – 12:00</a:t>
            </a:r>
            <a:endParaRPr lang="en-US" sz="2063" dirty="0"/>
          </a:p>
        </p:txBody>
      </p:sp>
      <p:sp>
        <p:nvSpPr>
          <p:cNvPr id="10" name="Text 6"/>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438815" y="1284076"/>
            <a:ext cx="8162458" cy="6035498"/>
          </a:xfrm>
          <a:prstGeom prst="rect">
            <a:avLst/>
          </a:prstGeom>
          <a:noFill/>
          <a:ln/>
        </p:spPr>
        <p:txBody>
          <a:bodyPr/>
          <a:lstStyle/>
          <a:p>
            <a:endParaRPr lang="en-CA"/>
          </a:p>
        </p:txBody>
      </p:sp>
      <p:sp>
        <p:nvSpPr>
          <p:cNvPr id="5" name="Shape 2"/>
          <p:cNvSpPr/>
          <p:nvPr/>
        </p:nvSpPr>
        <p:spPr>
          <a:xfrm>
            <a:off x="438815" y="1284076"/>
            <a:ext cx="8162458" cy="6035498"/>
          </a:xfrm>
          <a:prstGeom prst="rect">
            <a:avLst/>
          </a:prstGeom>
          <a:noFill/>
          <a:ln/>
        </p:spPr>
        <p:txBody>
          <a:bodyPr/>
          <a:lstStyle/>
          <a:p>
            <a:endParaRPr lang="en-CA"/>
          </a:p>
        </p:txBody>
      </p:sp>
      <p:sp>
        <p:nvSpPr>
          <p:cNvPr id="7" name="Text 3"/>
          <p:cNvSpPr/>
          <p:nvPr/>
        </p:nvSpPr>
        <p:spPr>
          <a:xfrm>
            <a:off x="438955" y="411510"/>
            <a:ext cx="8365720" cy="623332"/>
          </a:xfrm>
          <a:prstGeom prst="rect">
            <a:avLst/>
          </a:prstGeom>
          <a:noFill/>
          <a:ln/>
        </p:spPr>
        <p:txBody>
          <a:bodyPr wrap="square" rtlCol="0" anchor="ctr"/>
          <a:lstStyle/>
          <a:p>
            <a:pPr>
              <a:lnSpc>
                <a:spcPts val="3713"/>
              </a:lnSpc>
            </a:pPr>
            <a:r>
              <a:rPr lang="en-US" sz="2800" b="1" dirty="0">
                <a:solidFill>
                  <a:schemeClr val="accent1">
                    <a:lumMod val="75000"/>
                  </a:schemeClr>
                </a:solidFill>
              </a:rPr>
              <a:t>Writing Prompts</a:t>
            </a:r>
            <a:endParaRPr lang="en-US" sz="2475" dirty="0">
              <a:solidFill>
                <a:schemeClr val="accent1">
                  <a:lumMod val="75000"/>
                </a:schemeClr>
              </a:solidFill>
            </a:endParaRPr>
          </a:p>
        </p:txBody>
      </p:sp>
      <p:sp>
        <p:nvSpPr>
          <p:cNvPr id="8" name="Text 4"/>
          <p:cNvSpPr/>
          <p:nvPr/>
        </p:nvSpPr>
        <p:spPr>
          <a:xfrm>
            <a:off x="735330" y="1241108"/>
            <a:ext cx="7726680" cy="3163252"/>
          </a:xfrm>
          <a:prstGeom prst="rect">
            <a:avLst/>
          </a:prstGeom>
          <a:noFill/>
          <a:ln/>
        </p:spPr>
        <p:txBody>
          <a:bodyPr wrap="square" rtlCol="0" anchor="ctr"/>
          <a:lstStyle/>
          <a:p>
            <a:r>
              <a:rPr lang="en-US" sz="2000" dirty="0">
                <a:hlinkClick r:id="rId3"/>
              </a:rPr>
              <a:t>Playboi </a:t>
            </a:r>
            <a:r>
              <a:rPr lang="en-US" sz="2000" dirty="0" err="1">
                <a:hlinkClick r:id="rId3"/>
              </a:rPr>
              <a:t>Farti</a:t>
            </a:r>
            <a:endParaRPr lang="en-US" sz="2000" dirty="0"/>
          </a:p>
          <a:p>
            <a:pPr marL="342900" indent="-342900">
              <a:buFont typeface="Arial" panose="020B0604020202020204" pitchFamily="34" charset="0"/>
              <a:buChar char="•"/>
            </a:pPr>
            <a:r>
              <a:rPr lang="en-US" sz="2000" dirty="0"/>
              <a:t>What views about AI were expressed in this podcast, and by whom?</a:t>
            </a:r>
          </a:p>
          <a:p>
            <a:pPr marL="342900" indent="-342900">
              <a:buFont typeface="Arial" panose="020B0604020202020204" pitchFamily="34" charset="0"/>
              <a:buChar char="•"/>
            </a:pPr>
            <a:r>
              <a:rPr lang="en-US" sz="2000" dirty="0"/>
              <a:t>Who do you agree with, and why?</a:t>
            </a:r>
          </a:p>
          <a:p>
            <a:pPr marL="342900" indent="-342900">
              <a:buFont typeface="Arial" panose="020B0604020202020204" pitchFamily="34" charset="0"/>
              <a:buChar char="•"/>
            </a:pPr>
            <a:r>
              <a:rPr lang="en-US" sz="2000" dirty="0"/>
              <a:t>Who do you disagree with, and why?</a:t>
            </a:r>
          </a:p>
          <a:p>
            <a:pPr marL="342900" indent="-342900">
              <a:buFont typeface="Arial" panose="020B0604020202020204" pitchFamily="34" charset="0"/>
              <a:buChar char="•"/>
            </a:pPr>
            <a:r>
              <a:rPr lang="en-US" sz="2000" dirty="0"/>
              <a:t>How do the themes in this podcast relate to something you have either personally experienced, or learned about in another course?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8623" y="281968"/>
            <a:ext cx="9134748" cy="572700"/>
          </a:xfrm>
          <a:prstGeom prst="rect">
            <a:avLst/>
          </a:prstGeom>
          <a:noFill/>
          <a:ln/>
        </p:spPr>
        <p:txBody>
          <a:bodyPr/>
          <a:lstStyle/>
          <a:p>
            <a:endParaRPr lang="en-CA"/>
          </a:p>
        </p:txBody>
      </p:sp>
      <p:sp>
        <p:nvSpPr>
          <p:cNvPr id="4" name="Shape 2"/>
          <p:cNvSpPr/>
          <p:nvPr/>
        </p:nvSpPr>
        <p:spPr>
          <a:xfrm>
            <a:off x="319088" y="1271588"/>
            <a:ext cx="8167687" cy="3557588"/>
          </a:xfrm>
          <a:prstGeom prst="rect">
            <a:avLst/>
          </a:prstGeom>
          <a:noFill/>
          <a:ln/>
        </p:spPr>
        <p:txBody>
          <a:bodyPr/>
          <a:lstStyle/>
          <a:p>
            <a:endParaRPr lang="en-CA"/>
          </a:p>
        </p:txBody>
      </p:sp>
      <p:sp>
        <p:nvSpPr>
          <p:cNvPr id="5" name="Shape 3"/>
          <p:cNvSpPr/>
          <p:nvPr/>
        </p:nvSpPr>
        <p:spPr>
          <a:xfrm>
            <a:off x="319088" y="1271588"/>
            <a:ext cx="8167252" cy="4123629"/>
          </a:xfrm>
          <a:prstGeom prst="rect">
            <a:avLst/>
          </a:prstGeom>
          <a:noFill/>
          <a:ln w="25400">
            <a:solidFill>
              <a:srgbClr val="002040"/>
            </a:solidFill>
            <a:prstDash val="solid"/>
          </a:ln>
        </p:spPr>
        <p:txBody>
          <a:bodyPr/>
          <a:lstStyle/>
          <a:p>
            <a:endParaRPr lang="en-CA"/>
          </a:p>
        </p:txBody>
      </p:sp>
      <p:sp>
        <p:nvSpPr>
          <p:cNvPr id="6" name="Shape 4"/>
          <p:cNvSpPr/>
          <p:nvPr/>
        </p:nvSpPr>
        <p:spPr>
          <a:xfrm>
            <a:off x="8623" y="281968"/>
            <a:ext cx="9134748" cy="572700"/>
          </a:xfrm>
          <a:prstGeom prst="rect">
            <a:avLst/>
          </a:prstGeom>
          <a:noFill/>
          <a:ln/>
        </p:spPr>
        <p:txBody>
          <a:bodyPr/>
          <a:lstStyle/>
          <a:p>
            <a:endParaRPr lang="en-CA"/>
          </a:p>
        </p:txBody>
      </p:sp>
      <p:sp>
        <p:nvSpPr>
          <p:cNvPr id="8" name="Text 5"/>
          <p:cNvSpPr/>
          <p:nvPr/>
        </p:nvSpPr>
        <p:spPr>
          <a:xfrm>
            <a:off x="267136" y="13493"/>
            <a:ext cx="8624452" cy="3232628"/>
          </a:xfrm>
          <a:prstGeom prst="rect">
            <a:avLst/>
          </a:prstGeom>
          <a:noFill/>
          <a:ln/>
        </p:spPr>
        <p:txBody>
          <a:bodyPr wrap="square" rtlCol="0" anchor="ctr"/>
          <a:lstStyle/>
          <a:p>
            <a:pPr>
              <a:lnSpc>
                <a:spcPts val="1362"/>
              </a:lnSpc>
            </a:pPr>
            <a:r>
              <a:rPr lang="en-CA" sz="1125" dirty="0">
                <a:solidFill>
                  <a:srgbClr val="BDE3FF">
                    <a:alpha val="99000"/>
                  </a:srgbClr>
                </a:solidFill>
                <a:latin typeface="Inter" pitchFamily="34" charset="0"/>
                <a:ea typeface="Inter" pitchFamily="34" charset="-122"/>
                <a:cs typeface="Inter" pitchFamily="34" charset="-120"/>
              </a:rPr>
              <a:t>You have unlimited time to complete this assignment.</a:t>
            </a:r>
          </a:p>
          <a:p>
            <a:pPr>
              <a:lnSpc>
                <a:spcPts val="1362"/>
              </a:lnSpc>
            </a:pPr>
            <a:r>
              <a:rPr lang="en-CA" sz="1125" b="1" dirty="0">
                <a:solidFill>
                  <a:srgbClr val="BDE3FF">
                    <a:alpha val="99000"/>
                  </a:srgbClr>
                </a:solidFill>
                <a:latin typeface="Inter" pitchFamily="34" charset="0"/>
                <a:ea typeface="Inter" pitchFamily="34" charset="-122"/>
                <a:cs typeface="Inter" pitchFamily="34" charset="-120"/>
              </a:rPr>
              <a:t>A-Grade Contracts: </a:t>
            </a:r>
            <a:r>
              <a:rPr lang="en-CA" sz="1125" dirty="0">
                <a:solidFill>
                  <a:srgbClr val="BDE3FF">
                    <a:alpha val="99000"/>
                  </a:srgbClr>
                </a:solidFill>
                <a:latin typeface="Inter" pitchFamily="34" charset="0"/>
                <a:ea typeface="Inter" pitchFamily="34" charset="-122"/>
                <a:cs typeface="Inter" pitchFamily="34" charset="-120"/>
              </a:rPr>
              <a:t>A-grade contracts agree to complete 2 full essays, both A and B, 1on each reading provided. You will therefore do 1 assignment on the Baker essay </a:t>
            </a:r>
            <a:r>
              <a:rPr lang="en-CA" sz="1125" dirty="0" err="1">
                <a:solidFill>
                  <a:srgbClr val="BDE3FF">
                    <a:alpha val="99000"/>
                  </a:srgbClr>
                </a:solidFill>
                <a:latin typeface="Inter" pitchFamily="34" charset="0"/>
                <a:ea typeface="Inter" pitchFamily="34" charset="-122"/>
                <a:cs typeface="Inter" pitchFamily="34" charset="-120"/>
              </a:rPr>
              <a:t>andanother</a:t>
            </a:r>
            <a:r>
              <a:rPr lang="en-CA" sz="1125" dirty="0">
                <a:solidFill>
                  <a:srgbClr val="BDE3FF">
                    <a:alpha val="99000"/>
                  </a:srgbClr>
                </a:solidFill>
                <a:latin typeface="Inter" pitchFamily="34" charset="0"/>
                <a:ea typeface="Inter" pitchFamily="34" charset="-122"/>
                <a:cs typeface="Inter" pitchFamily="34" charset="-120"/>
              </a:rPr>
              <a:t> on the Snow essay.</a:t>
            </a:r>
          </a:p>
          <a:p>
            <a:pPr>
              <a:lnSpc>
                <a:spcPts val="1362"/>
              </a:lnSpc>
            </a:pPr>
            <a:r>
              <a:rPr lang="en-CA" sz="1125" b="1" dirty="0">
                <a:solidFill>
                  <a:srgbClr val="BDE3FF">
                    <a:alpha val="99000"/>
                  </a:srgbClr>
                </a:solidFill>
                <a:latin typeface="Inter" pitchFamily="34" charset="0"/>
                <a:ea typeface="Inter" pitchFamily="34" charset="-122"/>
                <a:cs typeface="Inter" pitchFamily="34" charset="-120"/>
              </a:rPr>
              <a:t>- B- and C-Grade Contracts: </a:t>
            </a:r>
            <a:r>
              <a:rPr lang="en-CA" sz="1125" dirty="0">
                <a:solidFill>
                  <a:srgbClr val="BDE3FF">
                    <a:alpha val="99000"/>
                  </a:srgbClr>
                </a:solidFill>
                <a:latin typeface="Inter" pitchFamily="34" charset="0"/>
                <a:ea typeface="Inter" pitchFamily="34" charset="-122"/>
                <a:cs typeface="Inter" pitchFamily="34" charset="-120"/>
              </a:rPr>
              <a:t>You agree to complete 1 full essay, either A or B. You will choose between the Baker and Snow essays. Ensure you complete all identifying information at the top of the exam booklet.</a:t>
            </a:r>
            <a:endParaRPr lang="en-US" sz="1125" dirty="0"/>
          </a:p>
        </p:txBody>
      </p:sp>
      <p:sp>
        <p:nvSpPr>
          <p:cNvPr id="9" name="Text 6"/>
          <p:cNvSpPr/>
          <p:nvPr/>
        </p:nvSpPr>
        <p:spPr>
          <a:xfrm>
            <a:off x="8623" y="281968"/>
            <a:ext cx="9126754" cy="572700"/>
          </a:xfrm>
          <a:prstGeom prst="rect">
            <a:avLst/>
          </a:prstGeom>
          <a:noFill/>
          <a:ln/>
        </p:spPr>
        <p:txBody>
          <a:bodyPr wrap="square" rtlCol="0" anchor="ctr"/>
          <a:lstStyle/>
          <a:p>
            <a:pPr marL="0" indent="0" algn="ctr">
              <a:lnSpc>
                <a:spcPts val="3713"/>
              </a:lnSpc>
              <a:buNone/>
            </a:pPr>
            <a:r>
              <a:rPr lang="en-US" sz="2475">
                <a:solidFill>
                  <a:srgbClr val="BDE3FF">
                    <a:alpha val="99000"/>
                  </a:srgbClr>
                </a:solidFill>
                <a:latin typeface="Poppins" pitchFamily="34" charset="0"/>
                <a:ea typeface="Poppins" pitchFamily="34" charset="-122"/>
                <a:cs typeface="Poppins" pitchFamily="34" charset="-120"/>
              </a:rPr>
              <a:t>Essay 1</a:t>
            </a:r>
            <a:endParaRPr lang="en-US" sz="2475" dirty="0"/>
          </a:p>
        </p:txBody>
      </p:sp>
      <p:sp>
        <p:nvSpPr>
          <p:cNvPr id="11" name="文本框 10">
            <a:extLst>
              <a:ext uri="{FF2B5EF4-FFF2-40B4-BE49-F238E27FC236}">
                <a16:creationId xmlns:a16="http://schemas.microsoft.com/office/drawing/2014/main" id="{71AB5A69-973E-F4B7-FDE9-8B22074239A0}"/>
              </a:ext>
            </a:extLst>
          </p:cNvPr>
          <p:cNvSpPr txBox="1"/>
          <p:nvPr/>
        </p:nvSpPr>
        <p:spPr>
          <a:xfrm>
            <a:off x="220028" y="784263"/>
            <a:ext cx="4572000" cy="369332"/>
          </a:xfrm>
          <a:prstGeom prst="rect">
            <a:avLst/>
          </a:prstGeom>
          <a:noFill/>
        </p:spPr>
        <p:txBody>
          <a:bodyPr wrap="square">
            <a:spAutoFit/>
          </a:bodyPr>
          <a:lstStyle/>
          <a:p>
            <a:r>
              <a:rPr lang="en-CA" b="1" i="0" u="sng" dirty="0">
                <a:solidFill>
                  <a:srgbClr val="0055B7"/>
                </a:solidFill>
                <a:effectLst/>
                <a:latin typeface="Lato Extended"/>
                <a:hlinkClick r:id="rId3" tooltip="2_ENGLDIHU155_2025W2_Essay1AB.docx"/>
              </a:rPr>
              <a:t>Assignment Description</a:t>
            </a:r>
            <a:endParaRPr lang="en-CA" dirty="0"/>
          </a:p>
        </p:txBody>
      </p:sp>
      <p:sp>
        <p:nvSpPr>
          <p:cNvPr id="13" name="文本框 12">
            <a:extLst>
              <a:ext uri="{FF2B5EF4-FFF2-40B4-BE49-F238E27FC236}">
                <a16:creationId xmlns:a16="http://schemas.microsoft.com/office/drawing/2014/main" id="{887A3C9D-77B4-ECBD-A843-69EFD0822E5E}"/>
              </a:ext>
            </a:extLst>
          </p:cNvPr>
          <p:cNvSpPr txBox="1"/>
          <p:nvPr/>
        </p:nvSpPr>
        <p:spPr>
          <a:xfrm>
            <a:off x="268864" y="2204951"/>
            <a:ext cx="8267700" cy="1159163"/>
          </a:xfrm>
          <a:prstGeom prst="rect">
            <a:avLst/>
          </a:prstGeom>
          <a:noFill/>
        </p:spPr>
        <p:txBody>
          <a:bodyPr wrap="square">
            <a:spAutoFit/>
          </a:bodyPr>
          <a:lstStyle/>
          <a:p>
            <a:pPr>
              <a:lnSpc>
                <a:spcPts val="1362"/>
              </a:lnSpc>
            </a:pPr>
            <a:r>
              <a:rPr lang="en-CA" sz="1125" dirty="0">
                <a:solidFill>
                  <a:srgbClr val="BDE3FF">
                    <a:alpha val="99000"/>
                  </a:srgbClr>
                </a:solidFill>
                <a:latin typeface="Inter" pitchFamily="34" charset="0"/>
                <a:ea typeface="Inter" pitchFamily="34" charset="-122"/>
              </a:rPr>
              <a:t>Permitted resources:</a:t>
            </a:r>
          </a:p>
          <a:p>
            <a:pPr marL="171450" indent="-171450">
              <a:lnSpc>
                <a:spcPts val="1362"/>
              </a:lnSpc>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Up to 2 print dictionaries, including translation, phonetic, and other dictionaries.</a:t>
            </a:r>
          </a:p>
          <a:p>
            <a:pPr marL="171450" indent="-171450">
              <a:lnSpc>
                <a:spcPts val="1362"/>
              </a:lnSpc>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1 single sided, hand written Evidence Chart with summary sentences.</a:t>
            </a:r>
          </a:p>
          <a:p>
            <a:pPr marL="171450" indent="-171450">
              <a:lnSpc>
                <a:spcPts val="1362"/>
              </a:lnSpc>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Computer with a </a:t>
            </a:r>
            <a:r>
              <a:rPr lang="en-CA" sz="1125" dirty="0" err="1">
                <a:solidFill>
                  <a:srgbClr val="BDE3FF">
                    <a:alpha val="99000"/>
                  </a:srgbClr>
                </a:solidFill>
                <a:latin typeface="Inter" pitchFamily="34" charset="0"/>
                <a:ea typeface="Inter" pitchFamily="34" charset="-122"/>
              </a:rPr>
              <a:t>Respondus</a:t>
            </a:r>
            <a:r>
              <a:rPr lang="en-CA" sz="1125" dirty="0">
                <a:solidFill>
                  <a:srgbClr val="BDE3FF">
                    <a:alpha val="99000"/>
                  </a:srgbClr>
                </a:solidFill>
                <a:latin typeface="Inter" pitchFamily="34" charset="0"/>
                <a:ea typeface="Inter" pitchFamily="34" charset="-122"/>
              </a:rPr>
              <a:t> lockdown browser.</a:t>
            </a:r>
          </a:p>
          <a:p>
            <a:pPr marL="171450" indent="-171450">
              <a:lnSpc>
                <a:spcPts val="1362"/>
              </a:lnSpc>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Print resources provided by the professor, including proof reading checklists and printed out primary texts (where appropriate).</a:t>
            </a:r>
          </a:p>
        </p:txBody>
      </p:sp>
      <p:sp>
        <p:nvSpPr>
          <p:cNvPr id="14" name="文本框 13">
            <a:extLst>
              <a:ext uri="{FF2B5EF4-FFF2-40B4-BE49-F238E27FC236}">
                <a16:creationId xmlns:a16="http://schemas.microsoft.com/office/drawing/2014/main" id="{6C72E6B8-0D00-A61B-91C3-6D2F37B67743}"/>
              </a:ext>
            </a:extLst>
          </p:cNvPr>
          <p:cNvSpPr txBox="1"/>
          <p:nvPr/>
        </p:nvSpPr>
        <p:spPr>
          <a:xfrm>
            <a:off x="268864" y="3424960"/>
            <a:ext cx="8093827" cy="1304203"/>
          </a:xfrm>
          <a:prstGeom prst="rect">
            <a:avLst/>
          </a:prstGeom>
          <a:noFill/>
        </p:spPr>
        <p:txBody>
          <a:bodyPr wrap="square">
            <a:spAutoFit/>
          </a:bodyPr>
          <a:lstStyle/>
          <a:p>
            <a:r>
              <a:rPr lang="en-CA" sz="1125" dirty="0">
                <a:solidFill>
                  <a:srgbClr val="BDE3FF">
                    <a:alpha val="99000"/>
                  </a:srgbClr>
                </a:solidFill>
                <a:latin typeface="Inter" pitchFamily="34" charset="0"/>
                <a:ea typeface="Inter" pitchFamily="34" charset="-122"/>
              </a:rPr>
              <a:t>Assignment Requirements, All Grade Contracts </a:t>
            </a:r>
          </a:p>
          <a:p>
            <a:r>
              <a:rPr lang="en-CA" sz="1125" dirty="0">
                <a:solidFill>
                  <a:srgbClr val="BDE3FF">
                    <a:alpha val="99000"/>
                  </a:srgbClr>
                </a:solidFill>
                <a:latin typeface="Inter" pitchFamily="34" charset="0"/>
                <a:ea typeface="Inter" pitchFamily="34" charset="-122"/>
              </a:rPr>
              <a:t>Each essay should include:</a:t>
            </a:r>
          </a:p>
          <a:p>
            <a:pPr marL="171450" indent="-171450">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An introduction with a strong, argumentative thesis, clear roadmap, and “so </a:t>
            </a:r>
            <a:r>
              <a:rPr lang="en-CA" sz="1125" dirty="0" err="1">
                <a:solidFill>
                  <a:srgbClr val="BDE3FF">
                    <a:alpha val="99000"/>
                  </a:srgbClr>
                </a:solidFill>
                <a:latin typeface="Inter" pitchFamily="34" charset="0"/>
                <a:ea typeface="Inter" pitchFamily="34" charset="-122"/>
              </a:rPr>
              <a:t>what”statement</a:t>
            </a:r>
            <a:r>
              <a:rPr lang="en-CA" sz="1125" dirty="0">
                <a:solidFill>
                  <a:srgbClr val="BDE3FF">
                    <a:alpha val="99000"/>
                  </a:srgbClr>
                </a:solidFill>
                <a:latin typeface="Inter" pitchFamily="34" charset="0"/>
                <a:ea typeface="Inter" pitchFamily="34" charset="-122"/>
              </a:rPr>
              <a:t>.</a:t>
            </a:r>
          </a:p>
          <a:p>
            <a:r>
              <a:rPr lang="en-CA" sz="1125" dirty="0">
                <a:solidFill>
                  <a:srgbClr val="BDE3FF">
                    <a:alpha val="99000"/>
                  </a:srgbClr>
                </a:solidFill>
                <a:latin typeface="Inter" pitchFamily="34" charset="0"/>
                <a:ea typeface="Inter" pitchFamily="34" charset="-122"/>
              </a:rPr>
              <a:t>All of your paragraphs will need to use:</a:t>
            </a:r>
          </a:p>
          <a:p>
            <a:pPr marL="171450" indent="-171450">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The paragraph structure we have learned in class;</a:t>
            </a:r>
          </a:p>
          <a:p>
            <a:pPr marL="171450" indent="-171450">
              <a:buFont typeface="Arial" panose="020B0604020202020204" pitchFamily="34" charset="0"/>
              <a:buChar char="•"/>
            </a:pPr>
            <a:r>
              <a:rPr lang="en-CA" sz="1125" dirty="0">
                <a:solidFill>
                  <a:srgbClr val="BDE3FF">
                    <a:alpha val="99000"/>
                  </a:srgbClr>
                </a:solidFill>
                <a:latin typeface="Inter" pitchFamily="34" charset="0"/>
                <a:ea typeface="Inter" pitchFamily="34" charset="-122"/>
              </a:rPr>
              <a:t>The lessons and templates from TS/ISA Works Cited:</a:t>
            </a:r>
          </a:p>
          <a:p>
            <a:r>
              <a:rPr lang="en-CA" sz="1125" dirty="0">
                <a:solidFill>
                  <a:srgbClr val="BDE3FF">
                    <a:alpha val="99000"/>
                  </a:srgbClr>
                </a:solidFill>
                <a:latin typeface="Inter" pitchFamily="34" charset="0"/>
                <a:ea typeface="Inter" pitchFamily="34" charset="-122"/>
              </a:rPr>
              <a:t>Use what you have learned in the Library Citation Module to include a Works Cited in MLA citation style.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937C46-F75A-3F22-FD93-3CE5D6CB16F7}"/>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018B4358-A667-DD87-0960-3869153B8A05}"/>
              </a:ext>
            </a:extLst>
          </p:cNvPr>
          <p:cNvSpPr/>
          <p:nvPr/>
        </p:nvSpPr>
        <p:spPr>
          <a:xfrm rot="10800000">
            <a:off x="8586788" y="4729163"/>
            <a:ext cx="304800" cy="192087"/>
          </a:xfrm>
          <a:prstGeom prst="rect">
            <a:avLst/>
          </a:prstGeom>
          <a:noFill/>
          <a:ln/>
        </p:spPr>
        <p:txBody>
          <a:bodyPr/>
          <a:lstStyle/>
          <a:p>
            <a:endParaRPr lang="en-CA"/>
          </a:p>
        </p:txBody>
      </p:sp>
      <p:sp>
        <p:nvSpPr>
          <p:cNvPr id="4" name="Shape 1">
            <a:extLst>
              <a:ext uri="{FF2B5EF4-FFF2-40B4-BE49-F238E27FC236}">
                <a16:creationId xmlns:a16="http://schemas.microsoft.com/office/drawing/2014/main" id="{E9595DE6-F944-07E9-6731-6A7406D2FE6B}"/>
              </a:ext>
            </a:extLst>
          </p:cNvPr>
          <p:cNvSpPr/>
          <p:nvPr/>
        </p:nvSpPr>
        <p:spPr>
          <a:xfrm>
            <a:off x="438815" y="1284076"/>
            <a:ext cx="8162458" cy="6035498"/>
          </a:xfrm>
          <a:prstGeom prst="rect">
            <a:avLst/>
          </a:prstGeom>
          <a:noFill/>
          <a:ln/>
        </p:spPr>
        <p:txBody>
          <a:bodyPr/>
          <a:lstStyle/>
          <a:p>
            <a:endParaRPr lang="en-CA"/>
          </a:p>
        </p:txBody>
      </p:sp>
      <p:sp>
        <p:nvSpPr>
          <p:cNvPr id="5" name="Shape 2">
            <a:extLst>
              <a:ext uri="{FF2B5EF4-FFF2-40B4-BE49-F238E27FC236}">
                <a16:creationId xmlns:a16="http://schemas.microsoft.com/office/drawing/2014/main" id="{030A1DAD-603C-EFA3-C4FC-674945C2FFF7}"/>
              </a:ext>
            </a:extLst>
          </p:cNvPr>
          <p:cNvSpPr/>
          <p:nvPr/>
        </p:nvSpPr>
        <p:spPr>
          <a:xfrm>
            <a:off x="438815" y="2933700"/>
            <a:ext cx="8162458" cy="4385874"/>
          </a:xfrm>
          <a:prstGeom prst="rect">
            <a:avLst/>
          </a:prstGeom>
          <a:noFill/>
          <a:ln/>
        </p:spPr>
        <p:txBody>
          <a:bodyPr/>
          <a:lstStyle/>
          <a:p>
            <a:endParaRPr lang="en-CA"/>
          </a:p>
        </p:txBody>
      </p:sp>
      <p:sp>
        <p:nvSpPr>
          <p:cNvPr id="7" name="Text 3">
            <a:extLst>
              <a:ext uri="{FF2B5EF4-FFF2-40B4-BE49-F238E27FC236}">
                <a16:creationId xmlns:a16="http://schemas.microsoft.com/office/drawing/2014/main" id="{9F1C2703-37A5-5D09-2FFD-D710020A0FA6}"/>
              </a:ext>
            </a:extLst>
          </p:cNvPr>
          <p:cNvSpPr/>
          <p:nvPr/>
        </p:nvSpPr>
        <p:spPr>
          <a:xfrm>
            <a:off x="438955" y="411510"/>
            <a:ext cx="8365720" cy="623332"/>
          </a:xfrm>
          <a:prstGeom prst="rect">
            <a:avLst/>
          </a:prstGeom>
          <a:noFill/>
          <a:ln/>
        </p:spPr>
        <p:txBody>
          <a:bodyPr wrap="square" rtlCol="0" anchor="ctr"/>
          <a:lstStyle/>
          <a:p>
            <a:pPr>
              <a:lnSpc>
                <a:spcPts val="3713"/>
              </a:lnSpc>
            </a:pPr>
            <a:r>
              <a:rPr lang="en-CA" sz="2800" dirty="0">
                <a:solidFill>
                  <a:srgbClr val="002040">
                    <a:alpha val="99000"/>
                  </a:srgbClr>
                </a:solidFill>
                <a:latin typeface="Inter" pitchFamily="34" charset="0"/>
                <a:ea typeface="Inter" pitchFamily="34" charset="-122"/>
                <a:cs typeface="Inter" pitchFamily="34" charset="-120"/>
              </a:rPr>
              <a:t>Thesis Statement and Introduction:</a:t>
            </a:r>
            <a:endParaRPr lang="en-US" sz="2475" dirty="0">
              <a:solidFill>
                <a:schemeClr val="accent1">
                  <a:lumMod val="75000"/>
                </a:schemeClr>
              </a:solidFill>
            </a:endParaRPr>
          </a:p>
        </p:txBody>
      </p:sp>
      <p:sp>
        <p:nvSpPr>
          <p:cNvPr id="8" name="Text 4">
            <a:extLst>
              <a:ext uri="{FF2B5EF4-FFF2-40B4-BE49-F238E27FC236}">
                <a16:creationId xmlns:a16="http://schemas.microsoft.com/office/drawing/2014/main" id="{C752BA70-C819-4C6C-ECDA-B6FD9F22B3B5}"/>
              </a:ext>
            </a:extLst>
          </p:cNvPr>
          <p:cNvSpPr/>
          <p:nvPr/>
        </p:nvSpPr>
        <p:spPr>
          <a:xfrm>
            <a:off x="438815" y="1241108"/>
            <a:ext cx="8023195" cy="3163252"/>
          </a:xfrm>
          <a:prstGeom prst="rect">
            <a:avLst/>
          </a:prstGeom>
          <a:noFill/>
          <a:ln/>
        </p:spPr>
        <p:txBody>
          <a:bodyPr wrap="square" rtlCol="0" anchor="ctr"/>
          <a:lstStyle/>
          <a:p>
            <a:pPr>
              <a:lnSpc>
                <a:spcPts val="2475"/>
              </a:lnSpc>
              <a:buSzPct val="100000"/>
            </a:pPr>
            <a:r>
              <a:rPr lang="en-CA" sz="1238" dirty="0">
                <a:solidFill>
                  <a:srgbClr val="002040">
                    <a:alpha val="99000"/>
                  </a:srgbClr>
                </a:solidFill>
                <a:latin typeface="Inter" pitchFamily="34" charset="0"/>
                <a:ea typeface="Inter" pitchFamily="34" charset="-122"/>
                <a:cs typeface="Inter" pitchFamily="34" charset="-120"/>
              </a:rPr>
              <a:t>You will put together an original, argumentative thesis statement that emerges from the evidence that you engage with in the body paragraphs. Your roadmap should match the big takeaways of each paragraph in your essay.</a:t>
            </a:r>
            <a:endParaRPr lang="en-US" sz="1238" b="1" dirty="0"/>
          </a:p>
        </p:txBody>
      </p:sp>
    </p:spTree>
    <p:extLst>
      <p:ext uri="{BB962C8B-B14F-4D97-AF65-F5344CB8AC3E}">
        <p14:creationId xmlns:p14="http://schemas.microsoft.com/office/powerpoint/2010/main" val="4084822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0C5625-0B8A-E42C-548E-61CFC6002FD2}"/>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C8779EF5-A17A-BE9A-987F-FA64757B603F}"/>
              </a:ext>
            </a:extLst>
          </p:cNvPr>
          <p:cNvSpPr/>
          <p:nvPr/>
        </p:nvSpPr>
        <p:spPr>
          <a:xfrm rot="10800000">
            <a:off x="8586788" y="4729163"/>
            <a:ext cx="304800" cy="192087"/>
          </a:xfrm>
          <a:prstGeom prst="rect">
            <a:avLst/>
          </a:prstGeom>
          <a:noFill/>
          <a:ln/>
        </p:spPr>
        <p:txBody>
          <a:bodyPr/>
          <a:lstStyle/>
          <a:p>
            <a:endParaRPr lang="en-CA"/>
          </a:p>
        </p:txBody>
      </p:sp>
      <p:sp>
        <p:nvSpPr>
          <p:cNvPr id="4" name="Shape 1">
            <a:extLst>
              <a:ext uri="{FF2B5EF4-FFF2-40B4-BE49-F238E27FC236}">
                <a16:creationId xmlns:a16="http://schemas.microsoft.com/office/drawing/2014/main" id="{40DDB70B-ED68-2E01-A549-FC78FCECE626}"/>
              </a:ext>
            </a:extLst>
          </p:cNvPr>
          <p:cNvSpPr/>
          <p:nvPr/>
        </p:nvSpPr>
        <p:spPr>
          <a:xfrm>
            <a:off x="438815" y="1284076"/>
            <a:ext cx="8162458" cy="6035498"/>
          </a:xfrm>
          <a:prstGeom prst="rect">
            <a:avLst/>
          </a:prstGeom>
          <a:noFill/>
          <a:ln/>
        </p:spPr>
        <p:txBody>
          <a:bodyPr/>
          <a:lstStyle/>
          <a:p>
            <a:endParaRPr lang="en-CA"/>
          </a:p>
        </p:txBody>
      </p:sp>
      <p:sp>
        <p:nvSpPr>
          <p:cNvPr id="5" name="Shape 2">
            <a:extLst>
              <a:ext uri="{FF2B5EF4-FFF2-40B4-BE49-F238E27FC236}">
                <a16:creationId xmlns:a16="http://schemas.microsoft.com/office/drawing/2014/main" id="{0E1F295E-1BEF-343C-48C0-BED0D6A8EC77}"/>
              </a:ext>
            </a:extLst>
          </p:cNvPr>
          <p:cNvSpPr/>
          <p:nvPr/>
        </p:nvSpPr>
        <p:spPr>
          <a:xfrm>
            <a:off x="438815" y="1284076"/>
            <a:ext cx="8162458" cy="6035498"/>
          </a:xfrm>
          <a:prstGeom prst="rect">
            <a:avLst/>
          </a:prstGeom>
          <a:noFill/>
          <a:ln/>
        </p:spPr>
        <p:txBody>
          <a:bodyPr/>
          <a:lstStyle/>
          <a:p>
            <a:endParaRPr lang="en-CA"/>
          </a:p>
        </p:txBody>
      </p:sp>
      <p:sp>
        <p:nvSpPr>
          <p:cNvPr id="7" name="Text 3">
            <a:extLst>
              <a:ext uri="{FF2B5EF4-FFF2-40B4-BE49-F238E27FC236}">
                <a16:creationId xmlns:a16="http://schemas.microsoft.com/office/drawing/2014/main" id="{85684806-DCF5-8D97-5293-904EA87EEA66}"/>
              </a:ext>
            </a:extLst>
          </p:cNvPr>
          <p:cNvSpPr/>
          <p:nvPr/>
        </p:nvSpPr>
        <p:spPr>
          <a:xfrm>
            <a:off x="438955" y="411510"/>
            <a:ext cx="8365720" cy="623332"/>
          </a:xfrm>
          <a:prstGeom prst="rect">
            <a:avLst/>
          </a:prstGeom>
          <a:noFill/>
          <a:ln/>
        </p:spPr>
        <p:txBody>
          <a:bodyPr wrap="square" rtlCol="0" anchor="ctr"/>
          <a:lstStyle/>
          <a:p>
            <a:pPr>
              <a:lnSpc>
                <a:spcPts val="3713"/>
              </a:lnSpc>
            </a:pPr>
            <a:r>
              <a:rPr lang="en-US" sz="2800" b="1" dirty="0">
                <a:solidFill>
                  <a:schemeClr val="accent1">
                    <a:lumMod val="75000"/>
                  </a:schemeClr>
                </a:solidFill>
              </a:rPr>
              <a:t>Part 1: They Say</a:t>
            </a:r>
            <a:endParaRPr lang="en-US" sz="2475" dirty="0">
              <a:solidFill>
                <a:schemeClr val="accent1">
                  <a:lumMod val="75000"/>
                </a:schemeClr>
              </a:solidFill>
            </a:endParaRPr>
          </a:p>
        </p:txBody>
      </p:sp>
      <p:sp>
        <p:nvSpPr>
          <p:cNvPr id="8" name="Text 4">
            <a:extLst>
              <a:ext uri="{FF2B5EF4-FFF2-40B4-BE49-F238E27FC236}">
                <a16:creationId xmlns:a16="http://schemas.microsoft.com/office/drawing/2014/main" id="{0A79317C-EF26-DD9B-D43C-1D3AB49287E3}"/>
              </a:ext>
            </a:extLst>
          </p:cNvPr>
          <p:cNvSpPr/>
          <p:nvPr/>
        </p:nvSpPr>
        <p:spPr>
          <a:xfrm>
            <a:off x="735330" y="1241108"/>
            <a:ext cx="7726680" cy="3163252"/>
          </a:xfrm>
          <a:prstGeom prst="rect">
            <a:avLst/>
          </a:prstGeom>
          <a:noFill/>
          <a:ln/>
        </p:spPr>
        <p:txBody>
          <a:bodyPr wrap="square" rtlCol="0" anchor="ctr"/>
          <a:lstStyle/>
          <a:p>
            <a:pPr marL="342900" indent="-342900">
              <a:lnSpc>
                <a:spcPts val="2475"/>
              </a:lnSpc>
              <a:buSzPct val="100000"/>
              <a:buChar char="•"/>
            </a:pPr>
            <a:r>
              <a:rPr lang="en-CA" sz="1238" dirty="0">
                <a:solidFill>
                  <a:srgbClr val="002040">
                    <a:alpha val="99000"/>
                  </a:srgbClr>
                </a:solidFill>
                <a:latin typeface="Inter" pitchFamily="34" charset="0"/>
                <a:ea typeface="Inter" pitchFamily="34" charset="-122"/>
                <a:cs typeface="Inter" pitchFamily="34" charset="-120"/>
              </a:rPr>
              <a:t>Write 1 “They Say” paragraph of ~250 words. All of your evidence in your paragraph should come directly from the essays.</a:t>
            </a:r>
          </a:p>
          <a:p>
            <a:pPr marL="342900" indent="-342900">
              <a:lnSpc>
                <a:spcPts val="2475"/>
              </a:lnSpc>
              <a:buSzPct val="100000"/>
              <a:buChar char="•"/>
            </a:pPr>
            <a:endParaRPr lang="en-CA" sz="1238" dirty="0">
              <a:solidFill>
                <a:srgbClr val="002040">
                  <a:alpha val="99000"/>
                </a:srgbClr>
              </a:solidFill>
              <a:latin typeface="Inter" pitchFamily="34" charset="0"/>
              <a:ea typeface="Inter" pitchFamily="34" charset="-122"/>
              <a:cs typeface="Inter" pitchFamily="34" charset="-120"/>
            </a:endParaRPr>
          </a:p>
          <a:p>
            <a:pPr marL="342900" indent="-342900">
              <a:lnSpc>
                <a:spcPts val="2475"/>
              </a:lnSpc>
              <a:buSzPct val="100000"/>
              <a:buChar char="•"/>
            </a:pPr>
            <a:r>
              <a:rPr lang="en-CA" sz="1238" b="1" dirty="0">
                <a:solidFill>
                  <a:srgbClr val="002040">
                    <a:alpha val="99000"/>
                  </a:srgbClr>
                </a:solidFill>
                <a:latin typeface="Inter" pitchFamily="34" charset="0"/>
                <a:ea typeface="Inter" pitchFamily="34" charset="-122"/>
                <a:cs typeface="Inter" pitchFamily="34" charset="-120"/>
              </a:rPr>
              <a:t>Baker</a:t>
            </a:r>
            <a:r>
              <a:rPr lang="en-CA" sz="1238" dirty="0">
                <a:solidFill>
                  <a:srgbClr val="002040">
                    <a:alpha val="99000"/>
                  </a:srgbClr>
                </a:solidFill>
                <a:latin typeface="Inter" pitchFamily="34" charset="0"/>
                <a:ea typeface="Inter" pitchFamily="34" charset="-122"/>
                <a:cs typeface="Inter" pitchFamily="34" charset="-120"/>
              </a:rPr>
              <a:t>: </a:t>
            </a:r>
            <a:r>
              <a:rPr lang="en-CA" sz="1238" b="1" dirty="0">
                <a:solidFill>
                  <a:srgbClr val="002040">
                    <a:alpha val="99000"/>
                  </a:srgbClr>
                </a:solidFill>
                <a:latin typeface="Inter" pitchFamily="34" charset="0"/>
                <a:ea typeface="Inter" pitchFamily="34" charset="-122"/>
                <a:cs typeface="Inter" pitchFamily="34" charset="-120"/>
              </a:rPr>
              <a:t>Summarize the debate between “</a:t>
            </a:r>
            <a:r>
              <a:rPr lang="en-CA" sz="1238" b="1" dirty="0" err="1">
                <a:solidFill>
                  <a:srgbClr val="002040">
                    <a:alpha val="99000"/>
                  </a:srgbClr>
                </a:solidFill>
                <a:latin typeface="Inter" pitchFamily="34" charset="0"/>
                <a:ea typeface="Inter" pitchFamily="34" charset="-122"/>
                <a:cs typeface="Inter" pitchFamily="34" charset="-120"/>
              </a:rPr>
              <a:t>inclusionist</a:t>
            </a:r>
            <a:r>
              <a:rPr lang="en-CA" sz="1238" b="1" dirty="0">
                <a:solidFill>
                  <a:srgbClr val="002040">
                    <a:alpha val="99000"/>
                  </a:srgbClr>
                </a:solidFill>
                <a:latin typeface="Inter" pitchFamily="34" charset="0"/>
                <a:ea typeface="Inter" pitchFamily="34" charset="-122"/>
                <a:cs typeface="Inter" pitchFamily="34" charset="-120"/>
              </a:rPr>
              <a:t>” and “</a:t>
            </a:r>
            <a:r>
              <a:rPr lang="en-CA" sz="1238" b="1" dirty="0" err="1">
                <a:solidFill>
                  <a:srgbClr val="002040">
                    <a:alpha val="99000"/>
                  </a:srgbClr>
                </a:solidFill>
                <a:latin typeface="Inter" pitchFamily="34" charset="0"/>
                <a:ea typeface="Inter" pitchFamily="34" charset="-122"/>
                <a:cs typeface="Inter" pitchFamily="34" charset="-120"/>
              </a:rPr>
              <a:t>deletionist</a:t>
            </a:r>
            <a:r>
              <a:rPr lang="en-CA" sz="1238" b="1" dirty="0">
                <a:solidFill>
                  <a:srgbClr val="002040">
                    <a:alpha val="99000"/>
                  </a:srgbClr>
                </a:solidFill>
                <a:latin typeface="Inter" pitchFamily="34" charset="0"/>
                <a:ea typeface="Inter" pitchFamily="34" charset="-122"/>
                <a:cs typeface="Inter" pitchFamily="34" charset="-120"/>
              </a:rPr>
              <a:t>” Wikipedia </a:t>
            </a:r>
            <a:r>
              <a:rPr lang="en-CA" sz="1238" b="1" dirty="0" err="1">
                <a:solidFill>
                  <a:srgbClr val="002040">
                    <a:alpha val="99000"/>
                  </a:srgbClr>
                </a:solidFill>
                <a:latin typeface="Inter" pitchFamily="34" charset="0"/>
                <a:ea typeface="Inter" pitchFamily="34" charset="-122"/>
                <a:cs typeface="Inter" pitchFamily="34" charset="-120"/>
              </a:rPr>
              <a:t>editors.</a:t>
            </a:r>
            <a:r>
              <a:rPr lang="en-CA" sz="1238" dirty="0" err="1">
                <a:solidFill>
                  <a:srgbClr val="002040">
                    <a:alpha val="99000"/>
                  </a:srgbClr>
                </a:solidFill>
                <a:latin typeface="Inter" pitchFamily="34" charset="0"/>
                <a:ea typeface="Inter" pitchFamily="34" charset="-122"/>
                <a:cs typeface="Inter" pitchFamily="34" charset="-120"/>
              </a:rPr>
              <a:t>You</a:t>
            </a:r>
            <a:r>
              <a:rPr lang="en-CA" sz="1238" dirty="0">
                <a:solidFill>
                  <a:srgbClr val="002040">
                    <a:alpha val="99000"/>
                  </a:srgbClr>
                </a:solidFill>
                <a:latin typeface="Inter" pitchFamily="34" charset="0"/>
                <a:ea typeface="Inter" pitchFamily="34" charset="-122"/>
                <a:cs typeface="Inter" pitchFamily="34" charset="-120"/>
              </a:rPr>
              <a:t> should talk about their practical disagreements but also try to bring out differences in </a:t>
            </a:r>
            <a:r>
              <a:rPr lang="en-CA" sz="1238" dirty="0" err="1">
                <a:solidFill>
                  <a:srgbClr val="002040">
                    <a:alpha val="99000"/>
                  </a:srgbClr>
                </a:solidFill>
                <a:latin typeface="Inter" pitchFamily="34" charset="0"/>
                <a:ea typeface="Inter" pitchFamily="34" charset="-122"/>
                <a:cs typeface="Inter" pitchFamily="34" charset="-120"/>
              </a:rPr>
              <a:t>theirideas</a:t>
            </a:r>
            <a:r>
              <a:rPr lang="en-CA" sz="1238" dirty="0">
                <a:solidFill>
                  <a:srgbClr val="002040">
                    <a:alpha val="99000"/>
                  </a:srgbClr>
                </a:solidFill>
                <a:latin typeface="Inter" pitchFamily="34" charset="0"/>
                <a:ea typeface="Inter" pitchFamily="34" charset="-122"/>
                <a:cs typeface="Inter" pitchFamily="34" charset="-120"/>
              </a:rPr>
              <a:t> about larger questions such as what encyclopedias are for, what kinds of information </a:t>
            </a:r>
            <a:r>
              <a:rPr lang="en-CA" sz="1238" dirty="0" err="1">
                <a:solidFill>
                  <a:srgbClr val="002040">
                    <a:alpha val="99000"/>
                  </a:srgbClr>
                </a:solidFill>
                <a:latin typeface="Inter" pitchFamily="34" charset="0"/>
                <a:ea typeface="Inter" pitchFamily="34" charset="-122"/>
                <a:cs typeface="Inter" pitchFamily="34" charset="-120"/>
              </a:rPr>
              <a:t>arevaluable</a:t>
            </a:r>
            <a:r>
              <a:rPr lang="en-CA" sz="1238" dirty="0">
                <a:solidFill>
                  <a:srgbClr val="002040">
                    <a:alpha val="99000"/>
                  </a:srgbClr>
                </a:solidFill>
                <a:latin typeface="Inter" pitchFamily="34" charset="0"/>
                <a:ea typeface="Inter" pitchFamily="34" charset="-122"/>
                <a:cs typeface="Inter" pitchFamily="34" charset="-120"/>
              </a:rPr>
              <a:t>, and what the Internet ought to be like.</a:t>
            </a:r>
          </a:p>
          <a:p>
            <a:pPr marL="342900" indent="-342900">
              <a:lnSpc>
                <a:spcPts val="2475"/>
              </a:lnSpc>
              <a:buSzPct val="100000"/>
              <a:buChar char="•"/>
            </a:pPr>
            <a:endParaRPr lang="en-CA" sz="1238" dirty="0">
              <a:solidFill>
                <a:srgbClr val="002040">
                  <a:alpha val="99000"/>
                </a:srgbClr>
              </a:solidFill>
              <a:latin typeface="Inter" pitchFamily="34" charset="0"/>
              <a:ea typeface="Inter" pitchFamily="34" charset="-122"/>
              <a:cs typeface="Inter" pitchFamily="34" charset="-120"/>
            </a:endParaRPr>
          </a:p>
          <a:p>
            <a:pPr marL="342900" indent="-342900">
              <a:lnSpc>
                <a:spcPts val="2475"/>
              </a:lnSpc>
              <a:buSzPct val="100000"/>
              <a:buChar char="•"/>
            </a:pPr>
            <a:r>
              <a:rPr lang="en-CA" sz="1238" b="1" dirty="0">
                <a:solidFill>
                  <a:srgbClr val="002040">
                    <a:alpha val="99000"/>
                  </a:srgbClr>
                </a:solidFill>
                <a:latin typeface="Inter" pitchFamily="34" charset="0"/>
                <a:ea typeface="Inter" pitchFamily="34" charset="-122"/>
                <a:cs typeface="Inter" pitchFamily="34" charset="-120"/>
              </a:rPr>
              <a:t>Snow</a:t>
            </a:r>
            <a:r>
              <a:rPr lang="en-CA" sz="1238" dirty="0">
                <a:solidFill>
                  <a:srgbClr val="002040">
                    <a:alpha val="99000"/>
                  </a:srgbClr>
                </a:solidFill>
                <a:latin typeface="Inter" pitchFamily="34" charset="0"/>
                <a:ea typeface="Inter" pitchFamily="34" charset="-122"/>
                <a:cs typeface="Inter" pitchFamily="34" charset="-120"/>
              </a:rPr>
              <a:t>: </a:t>
            </a:r>
            <a:r>
              <a:rPr lang="en-CA" sz="1238" b="1" dirty="0">
                <a:solidFill>
                  <a:srgbClr val="002040">
                    <a:alpha val="99000"/>
                  </a:srgbClr>
                </a:solidFill>
                <a:latin typeface="Inter" pitchFamily="34" charset="0"/>
                <a:ea typeface="Inter" pitchFamily="34" charset="-122"/>
                <a:cs typeface="Inter" pitchFamily="34" charset="-120"/>
              </a:rPr>
              <a:t>Summarize what Snow says about the relationship between the Industrial Revolution </a:t>
            </a:r>
            <a:r>
              <a:rPr lang="en-CA" sz="1238" b="1" dirty="0" err="1">
                <a:solidFill>
                  <a:srgbClr val="002040">
                    <a:alpha val="99000"/>
                  </a:srgbClr>
                </a:solidFill>
                <a:latin typeface="Inter" pitchFamily="34" charset="0"/>
                <a:ea typeface="Inter" pitchFamily="34" charset="-122"/>
                <a:cs typeface="Inter" pitchFamily="34" charset="-120"/>
              </a:rPr>
              <a:t>andthe</a:t>
            </a:r>
            <a:r>
              <a:rPr lang="en-CA" sz="1238" b="1" dirty="0">
                <a:solidFill>
                  <a:srgbClr val="002040">
                    <a:alpha val="99000"/>
                  </a:srgbClr>
                </a:solidFill>
                <a:latin typeface="Inter" pitchFamily="34" charset="0"/>
                <a:ea typeface="Inter" pitchFamily="34" charset="-122"/>
                <a:cs typeface="Inter" pitchFamily="34" charset="-120"/>
              </a:rPr>
              <a:t> division of the Two Cultures.</a:t>
            </a:r>
            <a:endParaRPr lang="en-US" sz="1238" b="1" dirty="0"/>
          </a:p>
        </p:txBody>
      </p:sp>
    </p:spTree>
    <p:extLst>
      <p:ext uri="{BB962C8B-B14F-4D97-AF65-F5344CB8AC3E}">
        <p14:creationId xmlns:p14="http://schemas.microsoft.com/office/powerpoint/2010/main" val="2489951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130DC2-BC4A-1F44-1569-ED071EE9CDDB}"/>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8613D3A7-7624-1126-66E8-A959CBC3F20D}"/>
              </a:ext>
            </a:extLst>
          </p:cNvPr>
          <p:cNvSpPr/>
          <p:nvPr/>
        </p:nvSpPr>
        <p:spPr>
          <a:xfrm rot="10800000">
            <a:off x="8586788" y="4729163"/>
            <a:ext cx="304800" cy="192087"/>
          </a:xfrm>
          <a:prstGeom prst="rect">
            <a:avLst/>
          </a:prstGeom>
          <a:noFill/>
          <a:ln/>
        </p:spPr>
        <p:txBody>
          <a:bodyPr/>
          <a:lstStyle/>
          <a:p>
            <a:endParaRPr lang="en-CA"/>
          </a:p>
        </p:txBody>
      </p:sp>
      <p:sp>
        <p:nvSpPr>
          <p:cNvPr id="4" name="Shape 1">
            <a:extLst>
              <a:ext uri="{FF2B5EF4-FFF2-40B4-BE49-F238E27FC236}">
                <a16:creationId xmlns:a16="http://schemas.microsoft.com/office/drawing/2014/main" id="{14AD600C-9025-9A6B-9F3C-2C177E65DF53}"/>
              </a:ext>
            </a:extLst>
          </p:cNvPr>
          <p:cNvSpPr/>
          <p:nvPr/>
        </p:nvSpPr>
        <p:spPr>
          <a:xfrm>
            <a:off x="438815" y="1284076"/>
            <a:ext cx="8162458" cy="6035498"/>
          </a:xfrm>
          <a:prstGeom prst="rect">
            <a:avLst/>
          </a:prstGeom>
          <a:noFill/>
          <a:ln/>
        </p:spPr>
        <p:txBody>
          <a:bodyPr/>
          <a:lstStyle/>
          <a:p>
            <a:endParaRPr lang="en-CA"/>
          </a:p>
        </p:txBody>
      </p:sp>
      <p:sp>
        <p:nvSpPr>
          <p:cNvPr id="5" name="Shape 2">
            <a:extLst>
              <a:ext uri="{FF2B5EF4-FFF2-40B4-BE49-F238E27FC236}">
                <a16:creationId xmlns:a16="http://schemas.microsoft.com/office/drawing/2014/main" id="{01E9BAC8-0D5A-3A58-C04B-6FF09772B065}"/>
              </a:ext>
            </a:extLst>
          </p:cNvPr>
          <p:cNvSpPr/>
          <p:nvPr/>
        </p:nvSpPr>
        <p:spPr>
          <a:xfrm>
            <a:off x="438815" y="1284076"/>
            <a:ext cx="8162458" cy="6035498"/>
          </a:xfrm>
          <a:prstGeom prst="rect">
            <a:avLst/>
          </a:prstGeom>
          <a:noFill/>
          <a:ln/>
        </p:spPr>
        <p:txBody>
          <a:bodyPr/>
          <a:lstStyle/>
          <a:p>
            <a:endParaRPr lang="en-CA"/>
          </a:p>
        </p:txBody>
      </p:sp>
      <p:sp>
        <p:nvSpPr>
          <p:cNvPr id="7" name="Text 3">
            <a:extLst>
              <a:ext uri="{FF2B5EF4-FFF2-40B4-BE49-F238E27FC236}">
                <a16:creationId xmlns:a16="http://schemas.microsoft.com/office/drawing/2014/main" id="{28CD4BD5-8C9B-28CE-E482-927680E7F431}"/>
              </a:ext>
            </a:extLst>
          </p:cNvPr>
          <p:cNvSpPr/>
          <p:nvPr/>
        </p:nvSpPr>
        <p:spPr>
          <a:xfrm>
            <a:off x="438955" y="411510"/>
            <a:ext cx="8365720" cy="623332"/>
          </a:xfrm>
          <a:prstGeom prst="rect">
            <a:avLst/>
          </a:prstGeom>
          <a:noFill/>
          <a:ln/>
        </p:spPr>
        <p:txBody>
          <a:bodyPr wrap="square" rtlCol="0" anchor="ctr"/>
          <a:lstStyle/>
          <a:p>
            <a:pPr>
              <a:lnSpc>
                <a:spcPts val="3713"/>
              </a:lnSpc>
            </a:pPr>
            <a:r>
              <a:rPr lang="en-US" sz="2800" b="1" dirty="0">
                <a:solidFill>
                  <a:schemeClr val="accent1">
                    <a:lumMod val="75000"/>
                  </a:schemeClr>
                </a:solidFill>
              </a:rPr>
              <a:t>Part 2: I Say</a:t>
            </a:r>
            <a:endParaRPr lang="en-US" sz="2475" dirty="0">
              <a:solidFill>
                <a:schemeClr val="accent1">
                  <a:lumMod val="75000"/>
                </a:schemeClr>
              </a:solidFill>
            </a:endParaRPr>
          </a:p>
        </p:txBody>
      </p:sp>
      <p:sp>
        <p:nvSpPr>
          <p:cNvPr id="8" name="Text 4">
            <a:extLst>
              <a:ext uri="{FF2B5EF4-FFF2-40B4-BE49-F238E27FC236}">
                <a16:creationId xmlns:a16="http://schemas.microsoft.com/office/drawing/2014/main" id="{0BD6E5E3-9619-02B2-2F1E-93A418F22AFA}"/>
              </a:ext>
            </a:extLst>
          </p:cNvPr>
          <p:cNvSpPr/>
          <p:nvPr/>
        </p:nvSpPr>
        <p:spPr>
          <a:xfrm>
            <a:off x="800100" y="1328738"/>
            <a:ext cx="7372350" cy="3163252"/>
          </a:xfrm>
          <a:prstGeom prst="rect">
            <a:avLst/>
          </a:prstGeom>
          <a:noFill/>
          <a:ln/>
        </p:spPr>
        <p:txBody>
          <a:bodyPr wrap="square" rtlCol="0" anchor="ctr"/>
          <a:lstStyle/>
          <a:p>
            <a:pPr marL="342900" indent="-342900">
              <a:lnSpc>
                <a:spcPts val="2475"/>
              </a:lnSpc>
              <a:buSzPct val="100000"/>
              <a:buChar char="•"/>
            </a:pPr>
            <a:r>
              <a:rPr lang="en-CA" sz="1238" b="1" dirty="0">
                <a:solidFill>
                  <a:srgbClr val="002040">
                    <a:alpha val="99000"/>
                  </a:srgbClr>
                </a:solidFill>
                <a:latin typeface="Inter" pitchFamily="34" charset="0"/>
                <a:ea typeface="Inter" pitchFamily="34" charset="-122"/>
                <a:cs typeface="Inter" pitchFamily="34" charset="-120"/>
              </a:rPr>
              <a:t>Draw on Chapter 4 of They Say/I Say to write an “I Say” paragraph of ~250 words. </a:t>
            </a:r>
          </a:p>
          <a:p>
            <a:pPr marL="342900" indent="-342900">
              <a:lnSpc>
                <a:spcPts val="2475"/>
              </a:lnSpc>
              <a:buSzPct val="100000"/>
              <a:buChar char="•"/>
            </a:pPr>
            <a:endParaRPr lang="en-CA" sz="1238" b="1" dirty="0">
              <a:solidFill>
                <a:srgbClr val="002040">
                  <a:alpha val="99000"/>
                </a:srgbClr>
              </a:solidFill>
              <a:latin typeface="Inter" pitchFamily="34" charset="0"/>
              <a:ea typeface="Inter" pitchFamily="34" charset="-122"/>
              <a:cs typeface="Inter" pitchFamily="34" charset="-120"/>
            </a:endParaRPr>
          </a:p>
          <a:p>
            <a:pPr>
              <a:lnSpc>
                <a:spcPts val="2475"/>
              </a:lnSpc>
              <a:buSzPct val="100000"/>
            </a:pPr>
            <a:r>
              <a:rPr lang="en-CA" sz="1238" dirty="0">
                <a:solidFill>
                  <a:srgbClr val="002040">
                    <a:alpha val="99000"/>
                  </a:srgbClr>
                </a:solidFill>
                <a:latin typeface="Inter" pitchFamily="34" charset="0"/>
                <a:ea typeface="Inter" pitchFamily="34" charset="-122"/>
                <a:cs typeface="Inter" pitchFamily="34" charset="-120"/>
              </a:rPr>
              <a:t>You should take a position in relation to the summary that you provided in Part 1. Perhaps you agree </a:t>
            </a:r>
            <a:r>
              <a:rPr lang="en-CA" sz="1238" dirty="0" err="1">
                <a:solidFill>
                  <a:srgbClr val="002040">
                    <a:alpha val="99000"/>
                  </a:srgbClr>
                </a:solidFill>
                <a:latin typeface="Inter" pitchFamily="34" charset="0"/>
                <a:ea typeface="Inter" pitchFamily="34" charset="-122"/>
                <a:cs typeface="Inter" pitchFamily="34" charset="-120"/>
              </a:rPr>
              <a:t>withone</a:t>
            </a:r>
            <a:r>
              <a:rPr lang="en-CA" sz="1238" dirty="0">
                <a:solidFill>
                  <a:srgbClr val="002040">
                    <a:alpha val="99000"/>
                  </a:srgbClr>
                </a:solidFill>
                <a:latin typeface="Inter" pitchFamily="34" charset="0"/>
                <a:ea typeface="Inter" pitchFamily="34" charset="-122"/>
                <a:cs typeface="Inter" pitchFamily="34" charset="-120"/>
              </a:rPr>
              <a:t> or other side of a debate, maybe you’re somewhere in the middle, or maybe you take issue with the underlying assumptions of what “they” say. Aim to say something contentious and specific. (Remember: contentiousness means saying things someone might reasonably disagree with, not making people mad.) </a:t>
            </a:r>
          </a:p>
          <a:p>
            <a:pPr>
              <a:lnSpc>
                <a:spcPts val="2475"/>
              </a:lnSpc>
              <a:buSzPct val="100000"/>
            </a:pPr>
            <a:r>
              <a:rPr lang="en-CA" sz="1238" dirty="0">
                <a:solidFill>
                  <a:srgbClr val="002040">
                    <a:alpha val="99000"/>
                  </a:srgbClr>
                </a:solidFill>
                <a:latin typeface="Inter" pitchFamily="34" charset="0"/>
                <a:ea typeface="Inter" pitchFamily="34" charset="-122"/>
                <a:cs typeface="Inter" pitchFamily="34" charset="-120"/>
              </a:rPr>
              <a:t>This paragraph is the most closely related to your thesis statement for the essay as a whole. As the authors of They Say/I Say indicate, even agreement in academic writing must be agreement with a difference. If you’re somewhere in the middle, a statement </a:t>
            </a:r>
            <a:r>
              <a:rPr lang="en-CA" sz="1238" dirty="0" err="1">
                <a:solidFill>
                  <a:srgbClr val="002040">
                    <a:alpha val="99000"/>
                  </a:srgbClr>
                </a:solidFill>
                <a:latin typeface="Inter" pitchFamily="34" charset="0"/>
                <a:ea typeface="Inter" pitchFamily="34" charset="-122"/>
                <a:cs typeface="Inter" pitchFamily="34" charset="-120"/>
              </a:rPr>
              <a:t>like“both</a:t>
            </a:r>
            <a:r>
              <a:rPr lang="en-CA" sz="1238" dirty="0">
                <a:solidFill>
                  <a:srgbClr val="002040">
                    <a:alpha val="99000"/>
                  </a:srgbClr>
                </a:solidFill>
                <a:latin typeface="Inter" pitchFamily="34" charset="0"/>
                <a:ea typeface="Inter" pitchFamily="34" charset="-122"/>
                <a:cs typeface="Inter" pitchFamily="34" charset="-120"/>
              </a:rPr>
              <a:t> sides have valid points” is too wishy-washy! Take a specific position.</a:t>
            </a:r>
            <a:endParaRPr lang="en-US" sz="1238" dirty="0"/>
          </a:p>
        </p:txBody>
      </p:sp>
    </p:spTree>
    <p:extLst>
      <p:ext uri="{BB962C8B-B14F-4D97-AF65-F5344CB8AC3E}">
        <p14:creationId xmlns:p14="http://schemas.microsoft.com/office/powerpoint/2010/main" val="1788427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4499E72-04EB-A4D1-A649-1FA3C4A97F8B}"/>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8E98E3E-9389-40D0-EDF0-5E88E37E75DD}"/>
              </a:ext>
            </a:extLst>
          </p:cNvPr>
          <p:cNvSpPr/>
          <p:nvPr/>
        </p:nvSpPr>
        <p:spPr>
          <a:xfrm rot="10800000">
            <a:off x="8586788" y="4729163"/>
            <a:ext cx="304800" cy="192087"/>
          </a:xfrm>
          <a:prstGeom prst="rect">
            <a:avLst/>
          </a:prstGeom>
          <a:noFill/>
          <a:ln/>
        </p:spPr>
        <p:txBody>
          <a:bodyPr/>
          <a:lstStyle/>
          <a:p>
            <a:endParaRPr lang="en-CA"/>
          </a:p>
        </p:txBody>
      </p:sp>
      <p:sp>
        <p:nvSpPr>
          <p:cNvPr id="4" name="Shape 1">
            <a:extLst>
              <a:ext uri="{FF2B5EF4-FFF2-40B4-BE49-F238E27FC236}">
                <a16:creationId xmlns:a16="http://schemas.microsoft.com/office/drawing/2014/main" id="{83E1F793-19EA-5706-B910-95EA9CC8AB41}"/>
              </a:ext>
            </a:extLst>
          </p:cNvPr>
          <p:cNvSpPr/>
          <p:nvPr/>
        </p:nvSpPr>
        <p:spPr>
          <a:xfrm>
            <a:off x="438815" y="1284076"/>
            <a:ext cx="8162458" cy="6035498"/>
          </a:xfrm>
          <a:prstGeom prst="rect">
            <a:avLst/>
          </a:prstGeom>
          <a:noFill/>
          <a:ln/>
        </p:spPr>
        <p:txBody>
          <a:bodyPr/>
          <a:lstStyle/>
          <a:p>
            <a:endParaRPr lang="en-CA"/>
          </a:p>
        </p:txBody>
      </p:sp>
      <p:sp>
        <p:nvSpPr>
          <p:cNvPr id="5" name="Shape 2">
            <a:extLst>
              <a:ext uri="{FF2B5EF4-FFF2-40B4-BE49-F238E27FC236}">
                <a16:creationId xmlns:a16="http://schemas.microsoft.com/office/drawing/2014/main" id="{30CBEDC1-8507-631A-B0E5-9ED2C1E967CD}"/>
              </a:ext>
            </a:extLst>
          </p:cNvPr>
          <p:cNvSpPr/>
          <p:nvPr/>
        </p:nvSpPr>
        <p:spPr>
          <a:xfrm>
            <a:off x="438815" y="1284076"/>
            <a:ext cx="8162458" cy="6035498"/>
          </a:xfrm>
          <a:prstGeom prst="rect">
            <a:avLst/>
          </a:prstGeom>
          <a:noFill/>
          <a:ln/>
        </p:spPr>
        <p:txBody>
          <a:bodyPr/>
          <a:lstStyle/>
          <a:p>
            <a:endParaRPr lang="en-CA"/>
          </a:p>
        </p:txBody>
      </p:sp>
      <p:sp>
        <p:nvSpPr>
          <p:cNvPr id="7" name="Text 3">
            <a:extLst>
              <a:ext uri="{FF2B5EF4-FFF2-40B4-BE49-F238E27FC236}">
                <a16:creationId xmlns:a16="http://schemas.microsoft.com/office/drawing/2014/main" id="{CD6DFA45-E097-6E32-B252-29C48C23A90E}"/>
              </a:ext>
            </a:extLst>
          </p:cNvPr>
          <p:cNvSpPr/>
          <p:nvPr/>
        </p:nvSpPr>
        <p:spPr>
          <a:xfrm>
            <a:off x="438955" y="411510"/>
            <a:ext cx="8365720" cy="623332"/>
          </a:xfrm>
          <a:prstGeom prst="rect">
            <a:avLst/>
          </a:prstGeom>
          <a:noFill/>
          <a:ln/>
        </p:spPr>
        <p:txBody>
          <a:bodyPr wrap="square" rtlCol="0" anchor="ctr"/>
          <a:lstStyle/>
          <a:p>
            <a:pPr>
              <a:lnSpc>
                <a:spcPts val="3713"/>
              </a:lnSpc>
            </a:pPr>
            <a:r>
              <a:rPr lang="en-CA" sz="2800" b="1" dirty="0">
                <a:solidFill>
                  <a:schemeClr val="accent1">
                    <a:lumMod val="75000"/>
                  </a:schemeClr>
                </a:solidFill>
              </a:rPr>
              <a:t>Part 3: Expansion</a:t>
            </a:r>
            <a:endParaRPr lang="en-US" sz="2475" dirty="0">
              <a:solidFill>
                <a:schemeClr val="accent1">
                  <a:lumMod val="75000"/>
                </a:schemeClr>
              </a:solidFill>
            </a:endParaRPr>
          </a:p>
        </p:txBody>
      </p:sp>
      <p:sp>
        <p:nvSpPr>
          <p:cNvPr id="8" name="Text 4">
            <a:extLst>
              <a:ext uri="{FF2B5EF4-FFF2-40B4-BE49-F238E27FC236}">
                <a16:creationId xmlns:a16="http://schemas.microsoft.com/office/drawing/2014/main" id="{98872AA0-B9CA-4874-775E-B5DF75809FBF}"/>
              </a:ext>
            </a:extLst>
          </p:cNvPr>
          <p:cNvSpPr/>
          <p:nvPr/>
        </p:nvSpPr>
        <p:spPr>
          <a:xfrm>
            <a:off x="800100" y="1328738"/>
            <a:ext cx="7372350" cy="3163252"/>
          </a:xfrm>
          <a:prstGeom prst="rect">
            <a:avLst/>
          </a:prstGeom>
          <a:noFill/>
          <a:ln/>
        </p:spPr>
        <p:txBody>
          <a:bodyPr wrap="square" rtlCol="0" anchor="ctr"/>
          <a:lstStyle/>
          <a:p>
            <a:pPr marL="342900" indent="-342900">
              <a:lnSpc>
                <a:spcPts val="2475"/>
              </a:lnSpc>
              <a:buSzPct val="100000"/>
              <a:buChar char="•"/>
            </a:pPr>
            <a:r>
              <a:rPr lang="en-CA" sz="1238" b="1" dirty="0">
                <a:solidFill>
                  <a:srgbClr val="002040">
                    <a:alpha val="99000"/>
                  </a:srgbClr>
                </a:solidFill>
                <a:latin typeface="Inter" pitchFamily="34" charset="0"/>
                <a:ea typeface="Inter" pitchFamily="34" charset="-122"/>
                <a:cs typeface="Inter" pitchFamily="34" charset="-120"/>
              </a:rPr>
              <a:t>Write a third paragraph of ~250 words that expands your thinking to a question or idea that is related but not directly obvious. </a:t>
            </a:r>
          </a:p>
          <a:p>
            <a:pPr>
              <a:lnSpc>
                <a:spcPts val="2475"/>
              </a:lnSpc>
              <a:buSzPct val="100000"/>
            </a:pPr>
            <a:r>
              <a:rPr lang="en-CA" sz="1238" dirty="0">
                <a:solidFill>
                  <a:srgbClr val="002040">
                    <a:alpha val="99000"/>
                  </a:srgbClr>
                </a:solidFill>
                <a:latin typeface="Inter" pitchFamily="34" charset="0"/>
                <a:ea typeface="Inter" pitchFamily="34" charset="-122"/>
                <a:cs typeface="Inter" pitchFamily="34" charset="-120"/>
              </a:rPr>
              <a:t>This paragraph will be most closely related to the “So What” statement in your introduction. You could, for example, talk about attention, the </a:t>
            </a:r>
            <a:r>
              <a:rPr lang="en-CA" sz="1238" dirty="0" err="1">
                <a:solidFill>
                  <a:srgbClr val="002040">
                    <a:alpha val="99000"/>
                  </a:srgbClr>
                </a:solidFill>
                <a:latin typeface="Inter" pitchFamily="34" charset="0"/>
                <a:ea typeface="Inter" pitchFamily="34" charset="-122"/>
                <a:cs typeface="Inter" pitchFamily="34" charset="-120"/>
              </a:rPr>
              <a:t>transformationof</a:t>
            </a:r>
            <a:r>
              <a:rPr lang="en-CA" sz="1238" dirty="0">
                <a:solidFill>
                  <a:srgbClr val="002040">
                    <a:alpha val="99000"/>
                  </a:srgbClr>
                </a:solidFill>
                <a:latin typeface="Inter" pitchFamily="34" charset="0"/>
                <a:ea typeface="Inter" pitchFamily="34" charset="-122"/>
                <a:cs typeface="Inter" pitchFamily="34" charset="-120"/>
              </a:rPr>
              <a:t> old genres in digital culture, the ways cultures privilege one or another form of </a:t>
            </a:r>
            <a:r>
              <a:rPr lang="en-CA" sz="1238" dirty="0" err="1">
                <a:solidFill>
                  <a:srgbClr val="002040">
                    <a:alpha val="99000"/>
                  </a:srgbClr>
                </a:solidFill>
                <a:latin typeface="Inter" pitchFamily="34" charset="0"/>
                <a:ea typeface="Inter" pitchFamily="34" charset="-122"/>
                <a:cs typeface="Inter" pitchFamily="34" charset="-120"/>
              </a:rPr>
              <a:t>information,the</a:t>
            </a:r>
            <a:r>
              <a:rPr lang="en-CA" sz="1238" dirty="0">
                <a:solidFill>
                  <a:srgbClr val="002040">
                    <a:alpha val="99000"/>
                  </a:srgbClr>
                </a:solidFill>
                <a:latin typeface="Inter" pitchFamily="34" charset="0"/>
                <a:ea typeface="Inter" pitchFamily="34" charset="-122"/>
                <a:cs typeface="Inter" pitchFamily="34" charset="-120"/>
              </a:rPr>
              <a:t> relationship between information and power, misinformation and authority, “neutrality” as </a:t>
            </a:r>
            <a:r>
              <a:rPr lang="en-CA" sz="1238" dirty="0" err="1">
                <a:solidFill>
                  <a:srgbClr val="002040">
                    <a:alpha val="99000"/>
                  </a:srgbClr>
                </a:solidFill>
                <a:latin typeface="Inter" pitchFamily="34" charset="0"/>
                <a:ea typeface="Inter" pitchFamily="34" charset="-122"/>
                <a:cs typeface="Inter" pitchFamily="34" charset="-120"/>
              </a:rPr>
              <a:t>arhetorical</a:t>
            </a:r>
            <a:r>
              <a:rPr lang="en-CA" sz="1238" dirty="0">
                <a:solidFill>
                  <a:srgbClr val="002040">
                    <a:alpha val="99000"/>
                  </a:srgbClr>
                </a:solidFill>
                <a:latin typeface="Inter" pitchFamily="34" charset="0"/>
                <a:ea typeface="Inter" pitchFamily="34" charset="-122"/>
                <a:cs typeface="Inter" pitchFamily="34" charset="-120"/>
              </a:rPr>
              <a:t> strategy, the place of human intelligence in digital culture that is increasingly algorithmic, or the potential for new technology to counteract systemic inequities (ableism, racism, sexism, etc.) or reinforce them. These are simply ideas, not prompts—it’s up to you to develop a suitable idea in this paragraph that supports your thesis! Signal clearly the way that your expansion is related to the ideas in Part 1 and Part 2: how did you get here? What is the bridge? Your own thinking should be front and center.</a:t>
            </a:r>
            <a:endParaRPr lang="en-US" sz="1238" dirty="0"/>
          </a:p>
        </p:txBody>
      </p:sp>
    </p:spTree>
    <p:extLst>
      <p:ext uri="{BB962C8B-B14F-4D97-AF65-F5344CB8AC3E}">
        <p14:creationId xmlns:p14="http://schemas.microsoft.com/office/powerpoint/2010/main" val="1701330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8BBE-B4E9-6C4C-E77F-8EC5695EB1C3}"/>
              </a:ext>
            </a:extLst>
          </p:cNvPr>
          <p:cNvSpPr>
            <a:spLocks noGrp="1"/>
          </p:cNvSpPr>
          <p:nvPr>
            <p:ph type="title"/>
          </p:nvPr>
        </p:nvSpPr>
        <p:spPr>
          <a:xfrm>
            <a:off x="1037674" y="261649"/>
            <a:ext cx="7288583" cy="1182335"/>
          </a:xfrm>
        </p:spPr>
        <p:txBody>
          <a:bodyPr anchor="ctr">
            <a:normAutofit/>
          </a:bodyPr>
          <a:lstStyle/>
          <a:p>
            <a:r>
              <a:rPr lang="en-US" sz="3000" dirty="0">
                <a:solidFill>
                  <a:schemeClr val="accent1">
                    <a:lumMod val="75000"/>
                  </a:schemeClr>
                </a:solidFill>
              </a:rPr>
              <a:t>What do you say in your thesis?</a:t>
            </a:r>
          </a:p>
        </p:txBody>
      </p:sp>
      <p:graphicFrame>
        <p:nvGraphicFramePr>
          <p:cNvPr id="5" name="Content Placeholder 2">
            <a:extLst>
              <a:ext uri="{FF2B5EF4-FFF2-40B4-BE49-F238E27FC236}">
                <a16:creationId xmlns:a16="http://schemas.microsoft.com/office/drawing/2014/main" id="{223F0B0A-3B19-2ACF-5A3D-65D7A8EC9AEC}"/>
              </a:ext>
            </a:extLst>
          </p:cNvPr>
          <p:cNvGraphicFramePr>
            <a:graphicFrameLocks noGrp="1"/>
          </p:cNvGraphicFramePr>
          <p:nvPr>
            <p:ph idx="1"/>
          </p:nvPr>
        </p:nvGraphicFramePr>
        <p:xfrm>
          <a:off x="483042" y="1961985"/>
          <a:ext cx="8195872" cy="2767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3466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31419-5E27-97C3-5F47-B7BD8A624EE7}"/>
              </a:ext>
            </a:extLst>
          </p:cNvPr>
          <p:cNvSpPr>
            <a:spLocks noGrp="1"/>
          </p:cNvSpPr>
          <p:nvPr>
            <p:ph type="title"/>
          </p:nvPr>
        </p:nvSpPr>
        <p:spPr>
          <a:xfrm>
            <a:off x="1037674" y="261649"/>
            <a:ext cx="7288583" cy="1182335"/>
          </a:xfrm>
        </p:spPr>
        <p:txBody>
          <a:bodyPr anchor="ctr">
            <a:normAutofit/>
          </a:bodyPr>
          <a:lstStyle/>
          <a:p>
            <a:r>
              <a:rPr lang="en-US" sz="3000" dirty="0">
                <a:solidFill>
                  <a:schemeClr val="accent1">
                    <a:lumMod val="75000"/>
                  </a:schemeClr>
                </a:solidFill>
              </a:rPr>
              <a:t>Paragraph Structure for Analytic Writing Assignment</a:t>
            </a:r>
          </a:p>
        </p:txBody>
      </p:sp>
      <p:graphicFrame>
        <p:nvGraphicFramePr>
          <p:cNvPr id="43" name="Content Placeholder 2">
            <a:extLst>
              <a:ext uri="{FF2B5EF4-FFF2-40B4-BE49-F238E27FC236}">
                <a16:creationId xmlns:a16="http://schemas.microsoft.com/office/drawing/2014/main" id="{7F6E7AF9-458E-7E55-9D63-B359A9AD2F00}"/>
              </a:ext>
            </a:extLst>
          </p:cNvPr>
          <p:cNvGraphicFramePr>
            <a:graphicFrameLocks noGrp="1"/>
          </p:cNvGraphicFramePr>
          <p:nvPr>
            <p:ph idx="1"/>
          </p:nvPr>
        </p:nvGraphicFramePr>
        <p:xfrm>
          <a:off x="483042" y="1961985"/>
          <a:ext cx="8195872" cy="27670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165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3FAD1-D18C-62A8-3E39-79F9E7BDB2AC}"/>
              </a:ext>
            </a:extLst>
          </p:cNvPr>
          <p:cNvSpPr>
            <a:spLocks noGrp="1"/>
          </p:cNvSpPr>
          <p:nvPr>
            <p:ph type="title"/>
          </p:nvPr>
        </p:nvSpPr>
        <p:spPr>
          <a:xfrm>
            <a:off x="1037674" y="261649"/>
            <a:ext cx="7288583" cy="1182335"/>
          </a:xfrm>
        </p:spPr>
        <p:txBody>
          <a:bodyPr anchor="ctr">
            <a:normAutofit/>
          </a:bodyPr>
          <a:lstStyle/>
          <a:p>
            <a:r>
              <a:rPr lang="en-US" sz="3000" dirty="0">
                <a:solidFill>
                  <a:schemeClr val="accent1">
                    <a:lumMod val="75000"/>
                  </a:schemeClr>
                </a:solidFill>
              </a:rPr>
              <a:t>What is a paragraph?</a:t>
            </a:r>
          </a:p>
        </p:txBody>
      </p:sp>
      <p:graphicFrame>
        <p:nvGraphicFramePr>
          <p:cNvPr id="5" name="Content Placeholder 2">
            <a:extLst>
              <a:ext uri="{FF2B5EF4-FFF2-40B4-BE49-F238E27FC236}">
                <a16:creationId xmlns:a16="http://schemas.microsoft.com/office/drawing/2014/main" id="{DA73B418-6608-655F-C110-614AD8BE7483}"/>
              </a:ext>
            </a:extLst>
          </p:cNvPr>
          <p:cNvGraphicFramePr>
            <a:graphicFrameLocks noGrp="1"/>
          </p:cNvGraphicFramePr>
          <p:nvPr>
            <p:ph idx="1"/>
            <p:extLst>
              <p:ext uri="{D42A27DB-BD31-4B8C-83A1-F6EECF244321}">
                <p14:modId xmlns:p14="http://schemas.microsoft.com/office/powerpoint/2010/main" val="3065903492"/>
              </p:ext>
            </p:extLst>
          </p:nvPr>
        </p:nvGraphicFramePr>
        <p:xfrm>
          <a:off x="536382" y="1443984"/>
          <a:ext cx="8195872" cy="2767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9793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798668" y="1295400"/>
            <a:ext cx="7910512" cy="2876550"/>
          </a:xfrm>
          <a:prstGeom prst="rect">
            <a:avLst/>
          </a:prstGeom>
          <a:noFill/>
          <a:ln/>
        </p:spPr>
        <p:txBody>
          <a:bodyPr/>
          <a:lstStyle/>
          <a:p>
            <a:endParaRPr lang="en-CA"/>
          </a:p>
        </p:txBody>
      </p:sp>
      <p:sp>
        <p:nvSpPr>
          <p:cNvPr id="5" name="Shape 2"/>
          <p:cNvSpPr/>
          <p:nvPr/>
        </p:nvSpPr>
        <p:spPr>
          <a:xfrm>
            <a:off x="798668" y="1295400"/>
            <a:ext cx="8270363" cy="2878224"/>
          </a:xfrm>
          <a:prstGeom prst="rect">
            <a:avLst/>
          </a:prstGeom>
          <a:noFill/>
          <a:ln/>
        </p:spPr>
        <p:txBody>
          <a:bodyPr/>
          <a:lstStyle/>
          <a:p>
            <a:endParaRPr lang="en-CA"/>
          </a:p>
        </p:txBody>
      </p:sp>
      <p:sp>
        <p:nvSpPr>
          <p:cNvPr id="7" name="Text 3"/>
          <p:cNvSpPr/>
          <p:nvPr/>
        </p:nvSpPr>
        <p:spPr>
          <a:xfrm>
            <a:off x="438959" y="411510"/>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Paragraph Structure​</a:t>
            </a:r>
            <a:endParaRPr lang="en-US" sz="2475" dirty="0"/>
          </a:p>
        </p:txBody>
      </p:sp>
      <p:sp>
        <p:nvSpPr>
          <p:cNvPr id="8" name="Text 4"/>
          <p:cNvSpPr/>
          <p:nvPr/>
        </p:nvSpPr>
        <p:spPr>
          <a:xfrm>
            <a:off x="798668" y="1295400"/>
            <a:ext cx="8727563" cy="2878224"/>
          </a:xfrm>
          <a:prstGeom prst="rect">
            <a:avLst/>
          </a:prstGeom>
          <a:noFill/>
          <a:ln/>
        </p:spPr>
        <p:txBody>
          <a:bodyPr wrap="square" rtlCol="0" anchor="ctr"/>
          <a:lstStyle/>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In academic writing (especially as you’re learning to write), </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paragraphs have a rigid and predictable structure: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Topic Sentence​</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Evidence-Analysis Pairs​ </a:t>
            </a:r>
            <a:r>
              <a:rPr lang="en-US" sz="825" dirty="0">
                <a:solidFill>
                  <a:srgbClr val="002060">
                    <a:alpha val="99000"/>
                  </a:srgbClr>
                </a:solidFill>
                <a:latin typeface="Inter" pitchFamily="34" charset="0"/>
                <a:ea typeface="Inter" pitchFamily="34" charset="-122"/>
                <a:cs typeface="Inter" pitchFamily="34" charset="-120"/>
              </a:rPr>
              <a:t>(Here is where you use your quoting skills from They Say/I Say​)</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So-What Sentence</a:t>
            </a:r>
            <a:endParaRPr lang="en-US" sz="123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798668" y="1295400"/>
            <a:ext cx="7910512" cy="4476750"/>
          </a:xfrm>
          <a:prstGeom prst="rect">
            <a:avLst/>
          </a:prstGeom>
          <a:noFill/>
          <a:ln/>
        </p:spPr>
        <p:txBody>
          <a:bodyPr/>
          <a:lstStyle/>
          <a:p>
            <a:endParaRPr lang="en-CA"/>
          </a:p>
        </p:txBody>
      </p:sp>
      <p:sp>
        <p:nvSpPr>
          <p:cNvPr id="5" name="Shape 2"/>
          <p:cNvSpPr/>
          <p:nvPr/>
        </p:nvSpPr>
        <p:spPr>
          <a:xfrm>
            <a:off x="798668" y="1295400"/>
            <a:ext cx="8270363" cy="4478662"/>
          </a:xfrm>
          <a:prstGeom prst="rect">
            <a:avLst/>
          </a:prstGeom>
          <a:noFill/>
          <a:ln/>
        </p:spPr>
        <p:txBody>
          <a:bodyPr/>
          <a:lstStyle/>
          <a:p>
            <a:endParaRPr lang="en-CA"/>
          </a:p>
        </p:txBody>
      </p:sp>
      <p:sp>
        <p:nvSpPr>
          <p:cNvPr id="7" name="Text 3"/>
          <p:cNvSpPr/>
          <p:nvPr/>
        </p:nvSpPr>
        <p:spPr>
          <a:xfrm>
            <a:off x="438959" y="411510"/>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Topic Sentence​</a:t>
            </a:r>
            <a:endParaRPr lang="en-US" sz="2475" dirty="0"/>
          </a:p>
        </p:txBody>
      </p:sp>
      <p:sp>
        <p:nvSpPr>
          <p:cNvPr id="8" name="Text 4"/>
          <p:cNvSpPr/>
          <p:nvPr/>
        </p:nvSpPr>
        <p:spPr>
          <a:xfrm>
            <a:off x="531967" y="1188720"/>
            <a:ext cx="8727563" cy="2865334"/>
          </a:xfrm>
          <a:prstGeom prst="rect">
            <a:avLst/>
          </a:prstGeom>
          <a:noFill/>
          <a:ln/>
        </p:spPr>
        <p:txBody>
          <a:bodyPr wrap="square" rtlCol="0" anchor="ctr"/>
          <a:lstStyle/>
          <a:p>
            <a:pPr marL="285750" indent="-285750" algn="l">
              <a:lnSpc>
                <a:spcPts val="2475"/>
              </a:lnSpc>
              <a:buFont typeface="Arial" panose="020B0604020202020204" pitchFamily="34" charset="0"/>
              <a:buChar char="•"/>
            </a:pPr>
            <a:r>
              <a:rPr lang="en-US" sz="1238" dirty="0">
                <a:solidFill>
                  <a:srgbClr val="002060">
                    <a:alpha val="99000"/>
                  </a:srgbClr>
                </a:solidFill>
                <a:latin typeface="Inter" pitchFamily="34" charset="0"/>
                <a:ea typeface="Inter" pitchFamily="34" charset="-122"/>
                <a:cs typeface="Inter" pitchFamily="34" charset="-120"/>
              </a:rPr>
              <a:t>A brief statement that describes, in specific terms, the claim that will be demonstrated in the paragraph. ​</a:t>
            </a:r>
            <a:endParaRPr lang="en-US" sz="1238" dirty="0"/>
          </a:p>
          <a:p>
            <a:pPr marL="285750" indent="-285750" algn="l">
              <a:lnSpc>
                <a:spcPts val="2475"/>
              </a:lnSpc>
              <a:buSzPct val="100000"/>
              <a:buFont typeface="Arial" panose="020B0604020202020204" pitchFamily="34" charset="0"/>
              <a:buChar char="•"/>
            </a:pPr>
            <a:r>
              <a:rPr lang="en-US" sz="1238" dirty="0">
                <a:solidFill>
                  <a:srgbClr val="002060">
                    <a:alpha val="99000"/>
                  </a:srgbClr>
                </a:solidFill>
                <a:latin typeface="Inter" pitchFamily="34" charset="0"/>
                <a:ea typeface="Inter" pitchFamily="34" charset="-122"/>
                <a:cs typeface="Inter" pitchFamily="34" charset="-120"/>
              </a:rPr>
              <a:t>Stand-alone: The primary idea, often like a mini-argument. ​</a:t>
            </a:r>
            <a:endParaRPr lang="en-US" sz="1238" dirty="0"/>
          </a:p>
          <a:p>
            <a:pPr marL="285750" indent="-285750" algn="l">
              <a:lnSpc>
                <a:spcPts val="2475"/>
              </a:lnSpc>
              <a:buSzPct val="100000"/>
              <a:buFont typeface="Arial" panose="020B0604020202020204" pitchFamily="34" charset="0"/>
              <a:buChar char="•"/>
            </a:pPr>
            <a:r>
              <a:rPr lang="en-US" sz="1238" dirty="0">
                <a:solidFill>
                  <a:srgbClr val="002060">
                    <a:alpha val="99000"/>
                  </a:srgbClr>
                </a:solidFill>
                <a:latin typeface="Inter" pitchFamily="34" charset="0"/>
                <a:ea typeface="Inter" pitchFamily="34" charset="-122"/>
                <a:cs typeface="Inter" pitchFamily="34" charset="-120"/>
              </a:rPr>
              <a:t>In an essay or larger piece of writing: A sub-claim to the main argument or thesis.</a:t>
            </a:r>
            <a:endParaRPr lang="en-US" sz="123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798668" y="1295400"/>
            <a:ext cx="7910512" cy="4476750"/>
          </a:xfrm>
          <a:prstGeom prst="rect">
            <a:avLst/>
          </a:prstGeom>
          <a:noFill/>
          <a:ln/>
        </p:spPr>
        <p:txBody>
          <a:bodyPr/>
          <a:lstStyle/>
          <a:p>
            <a:endParaRPr lang="en-CA"/>
          </a:p>
        </p:txBody>
      </p:sp>
      <p:sp>
        <p:nvSpPr>
          <p:cNvPr id="5" name="Shape 2"/>
          <p:cNvSpPr/>
          <p:nvPr/>
        </p:nvSpPr>
        <p:spPr>
          <a:xfrm>
            <a:off x="798668" y="1295400"/>
            <a:ext cx="8270363" cy="4478662"/>
          </a:xfrm>
          <a:prstGeom prst="rect">
            <a:avLst/>
          </a:prstGeom>
          <a:noFill/>
          <a:ln/>
        </p:spPr>
        <p:txBody>
          <a:bodyPr/>
          <a:lstStyle/>
          <a:p>
            <a:endParaRPr lang="en-CA"/>
          </a:p>
        </p:txBody>
      </p:sp>
      <p:sp>
        <p:nvSpPr>
          <p:cNvPr id="7" name="Text 3"/>
          <p:cNvSpPr/>
          <p:nvPr/>
        </p:nvSpPr>
        <p:spPr>
          <a:xfrm>
            <a:off x="438959" y="411510"/>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Topic Sentence vs. Claim​</a:t>
            </a:r>
            <a:endParaRPr lang="en-US" sz="2475" dirty="0"/>
          </a:p>
        </p:txBody>
      </p:sp>
      <p:sp>
        <p:nvSpPr>
          <p:cNvPr id="8" name="Text 4"/>
          <p:cNvSpPr/>
          <p:nvPr/>
        </p:nvSpPr>
        <p:spPr>
          <a:xfrm>
            <a:off x="501488" y="332419"/>
            <a:ext cx="8727563" cy="4478662"/>
          </a:xfrm>
          <a:prstGeom prst="rect">
            <a:avLst/>
          </a:prstGeom>
          <a:noFill/>
          <a:ln/>
        </p:spPr>
        <p:txBody>
          <a:bodyPr wrap="square" rtlCol="0" anchor="ctr"/>
          <a:lstStyle/>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“Topic sentence” may sounds a misleading term.  You may call it a “claim.”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A topic sentence/claim needs to take a position.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Even in summary writing, all writing has a position or goal.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Topic sentences/claims do not simply say that a paragraph has a subject, but signals what you want to say about that subject. ​</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WHAT/HOW not THAT</a:t>
            </a:r>
            <a:endParaRPr lang="en-US" sz="123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1295400" y="1300163"/>
            <a:ext cx="8270363" cy="4467057"/>
          </a:xfrm>
          <a:prstGeom prst="rect">
            <a:avLst/>
          </a:prstGeom>
          <a:noFill/>
          <a:ln/>
        </p:spPr>
        <p:txBody>
          <a:bodyPr/>
          <a:lstStyle/>
          <a:p>
            <a:endParaRPr lang="en-CA"/>
          </a:p>
        </p:txBody>
      </p:sp>
      <p:sp>
        <p:nvSpPr>
          <p:cNvPr id="5" name="Shape 2"/>
          <p:cNvSpPr/>
          <p:nvPr/>
        </p:nvSpPr>
        <p:spPr>
          <a:xfrm>
            <a:off x="3676650" y="3624263"/>
            <a:ext cx="3844087" cy="1148648"/>
          </a:xfrm>
          <a:prstGeom prst="rect">
            <a:avLst/>
          </a:prstGeom>
          <a:noFill/>
          <a:ln/>
        </p:spPr>
        <p:txBody>
          <a:bodyPr/>
          <a:lstStyle/>
          <a:p>
            <a:endParaRPr lang="en-CA"/>
          </a:p>
        </p:txBody>
      </p:sp>
      <p:sp>
        <p:nvSpPr>
          <p:cNvPr id="6" name="Shape 3"/>
          <p:cNvSpPr/>
          <p:nvPr/>
        </p:nvSpPr>
        <p:spPr>
          <a:xfrm>
            <a:off x="3676650" y="3624263"/>
            <a:ext cx="3844087" cy="1148648"/>
          </a:xfrm>
          <a:prstGeom prst="rect">
            <a:avLst/>
          </a:prstGeom>
          <a:noFill/>
          <a:ln/>
        </p:spPr>
        <p:txBody>
          <a:bodyPr/>
          <a:lstStyle/>
          <a:p>
            <a:endParaRPr lang="en-CA"/>
          </a:p>
        </p:txBody>
      </p:sp>
      <p:sp>
        <p:nvSpPr>
          <p:cNvPr id="9" name="Text 4"/>
          <p:cNvSpPr/>
          <p:nvPr/>
        </p:nvSpPr>
        <p:spPr>
          <a:xfrm>
            <a:off x="565785" y="16193"/>
            <a:ext cx="8727563" cy="4467057"/>
          </a:xfrm>
          <a:prstGeom prst="rect">
            <a:avLst/>
          </a:prstGeom>
          <a:noFill/>
          <a:ln/>
        </p:spPr>
        <p:txBody>
          <a:bodyPr wrap="square" rtlCol="0" anchor="ctr"/>
          <a:lstStyle/>
          <a:p>
            <a:pPr marL="0" indent="0" algn="l">
              <a:lnSpc>
                <a:spcPts val="2475"/>
              </a:lnSpc>
              <a:buNone/>
            </a:pPr>
            <a:r>
              <a:rPr lang="en-US" sz="1238" dirty="0">
                <a:solidFill>
                  <a:srgbClr val="C00000">
                    <a:alpha val="99000"/>
                  </a:srgbClr>
                </a:solidFill>
                <a:latin typeface="Inter" pitchFamily="34" charset="0"/>
                <a:ea typeface="Inter" pitchFamily="34" charset="-122"/>
                <a:cs typeface="Inter" pitchFamily="34" charset="-120"/>
              </a:rPr>
              <a:t>*Evidence and Analysis always go together.*​ </a:t>
            </a:r>
            <a:endParaRPr lang="en-US" sz="1238" dirty="0"/>
          </a:p>
          <a:p>
            <a:pPr marL="342900" indent="-342900" algn="l">
              <a:lnSpc>
                <a:spcPts val="2475"/>
              </a:lnSpc>
              <a:buSzPct val="100000"/>
              <a:buChar char="•"/>
            </a:pPr>
            <a:r>
              <a:rPr lang="en-US" sz="1238" dirty="0">
                <a:solidFill>
                  <a:srgbClr val="002040">
                    <a:alpha val="99000"/>
                  </a:srgbClr>
                </a:solidFill>
                <a:latin typeface="Inter" pitchFamily="34" charset="0"/>
                <a:ea typeface="Inter" pitchFamily="34" charset="-122"/>
                <a:cs typeface="Inter" pitchFamily="34" charset="-120"/>
              </a:rPr>
              <a:t>Evidence: Aspects of text (especially literary expression) that support the topic sentence. </a:t>
            </a:r>
            <a:endParaRPr lang="en-US" sz="1238" dirty="0"/>
          </a:p>
          <a:p>
            <a:pPr marL="0" indent="0" algn="l">
              <a:lnSpc>
                <a:spcPts val="2475"/>
              </a:lnSpc>
              <a:buNone/>
            </a:pPr>
            <a:r>
              <a:rPr lang="en-US" sz="1238" dirty="0">
                <a:solidFill>
                  <a:srgbClr val="002040">
                    <a:alpha val="99000"/>
                  </a:srgbClr>
                </a:solidFill>
                <a:latin typeface="Inter" pitchFamily="34" charset="0"/>
                <a:ea typeface="Inter" pitchFamily="34" charset="-122"/>
                <a:cs typeface="Inter" pitchFamily="34" charset="-120"/>
              </a:rPr>
              <a:t>What elements of the text demonstrate your argument? Literary expression? Textual structure? Metre? Sonic qualities?</a:t>
            </a:r>
            <a:endParaRPr lang="en-US" sz="1238" dirty="0"/>
          </a:p>
          <a:p>
            <a:pPr marL="342900" indent="-342900" algn="l">
              <a:lnSpc>
                <a:spcPts val="2475"/>
              </a:lnSpc>
              <a:buSzPct val="100000"/>
              <a:buChar char="•"/>
            </a:pPr>
            <a:r>
              <a:rPr lang="en-US" sz="1238" dirty="0">
                <a:solidFill>
                  <a:srgbClr val="002040">
                    <a:alpha val="99000"/>
                  </a:srgbClr>
                </a:solidFill>
                <a:latin typeface="Inter" pitchFamily="34" charset="0"/>
                <a:ea typeface="Inter" pitchFamily="34" charset="-122"/>
                <a:cs typeface="Inter" pitchFamily="34" charset="-120"/>
              </a:rPr>
              <a:t>Analysis: Draw the important elements of literary expression out and explain what effect they have. </a:t>
            </a:r>
            <a:endParaRPr lang="en-US" sz="1238" dirty="0"/>
          </a:p>
          <a:p>
            <a:pPr marL="0" indent="0" algn="l">
              <a:lnSpc>
                <a:spcPts val="2475"/>
              </a:lnSpc>
              <a:buNone/>
            </a:pPr>
            <a:r>
              <a:rPr lang="en-US" sz="1238" dirty="0">
                <a:solidFill>
                  <a:srgbClr val="002040">
                    <a:alpha val="99000"/>
                  </a:srgbClr>
                </a:solidFill>
                <a:latin typeface="Inter" pitchFamily="34" charset="0"/>
                <a:ea typeface="Inter" pitchFamily="34" charset="-122"/>
                <a:cs typeface="Inter" pitchFamily="34" charset="-120"/>
              </a:rPr>
              <a:t>This is the most important part of your paragraph. This is where you prove your argumen</a:t>
            </a:r>
            <a:r>
              <a:rPr lang="en-US" sz="1238" dirty="0">
                <a:solidFill>
                  <a:srgbClr val="C00000">
                    <a:alpha val="99000"/>
                  </a:srgbClr>
                </a:solidFill>
                <a:latin typeface="Inter" pitchFamily="34" charset="0"/>
                <a:ea typeface="Inter" pitchFamily="34" charset="-122"/>
                <a:cs typeface="Inter" pitchFamily="34" charset="-120"/>
              </a:rPr>
              <a:t>t.</a:t>
            </a:r>
            <a:endParaRPr lang="en-US" sz="1238" dirty="0"/>
          </a:p>
        </p:txBody>
      </p:sp>
      <p:sp>
        <p:nvSpPr>
          <p:cNvPr id="10" name="Text 5"/>
          <p:cNvSpPr/>
          <p:nvPr/>
        </p:nvSpPr>
        <p:spPr>
          <a:xfrm>
            <a:off x="438959" y="411510"/>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Paragraph Structure </a:t>
            </a:r>
            <a:endParaRPr lang="en-US" sz="24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1295400" y="1300163"/>
            <a:ext cx="8270363" cy="4467057"/>
          </a:xfrm>
          <a:prstGeom prst="rect">
            <a:avLst/>
          </a:prstGeom>
          <a:noFill/>
          <a:ln/>
        </p:spPr>
        <p:txBody>
          <a:bodyPr/>
          <a:lstStyle/>
          <a:p>
            <a:endParaRPr lang="en-CA"/>
          </a:p>
        </p:txBody>
      </p:sp>
      <p:sp>
        <p:nvSpPr>
          <p:cNvPr id="5" name="Shape 2"/>
          <p:cNvSpPr/>
          <p:nvPr/>
        </p:nvSpPr>
        <p:spPr>
          <a:xfrm>
            <a:off x="3676650" y="3624263"/>
            <a:ext cx="3844087" cy="1148648"/>
          </a:xfrm>
          <a:prstGeom prst="rect">
            <a:avLst/>
          </a:prstGeom>
          <a:noFill/>
          <a:ln/>
        </p:spPr>
        <p:txBody>
          <a:bodyPr/>
          <a:lstStyle/>
          <a:p>
            <a:endParaRPr lang="en-CA"/>
          </a:p>
        </p:txBody>
      </p:sp>
      <p:sp>
        <p:nvSpPr>
          <p:cNvPr id="6" name="Shape 3"/>
          <p:cNvSpPr/>
          <p:nvPr/>
        </p:nvSpPr>
        <p:spPr>
          <a:xfrm>
            <a:off x="3676650" y="3624263"/>
            <a:ext cx="3844087" cy="1148648"/>
          </a:xfrm>
          <a:prstGeom prst="rect">
            <a:avLst/>
          </a:prstGeom>
          <a:noFill/>
          <a:ln/>
        </p:spPr>
        <p:txBody>
          <a:bodyPr/>
          <a:lstStyle/>
          <a:p>
            <a:endParaRPr lang="en-CA"/>
          </a:p>
        </p:txBody>
      </p:sp>
      <p:sp>
        <p:nvSpPr>
          <p:cNvPr id="9" name="Text 4"/>
          <p:cNvSpPr/>
          <p:nvPr/>
        </p:nvSpPr>
        <p:spPr>
          <a:xfrm>
            <a:off x="438959" y="411510"/>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Paragraph Structure </a:t>
            </a:r>
            <a:endParaRPr lang="en-US" sz="2475" dirty="0"/>
          </a:p>
        </p:txBody>
      </p:sp>
      <p:sp>
        <p:nvSpPr>
          <p:cNvPr id="10" name="Text 5"/>
          <p:cNvSpPr/>
          <p:nvPr/>
        </p:nvSpPr>
        <p:spPr>
          <a:xfrm>
            <a:off x="572453" y="238294"/>
            <a:ext cx="8727563" cy="4467057"/>
          </a:xfrm>
          <a:prstGeom prst="rect">
            <a:avLst/>
          </a:prstGeom>
          <a:noFill/>
          <a:ln/>
        </p:spPr>
        <p:txBody>
          <a:bodyPr wrap="square" rtlCol="0" anchor="ctr"/>
          <a:lstStyle/>
          <a:p>
            <a:pPr marL="0" indent="0" algn="l">
              <a:lnSpc>
                <a:spcPts val="2475"/>
              </a:lnSpc>
              <a:buNone/>
            </a:pPr>
            <a:r>
              <a:rPr lang="en-US" sz="1238" dirty="0">
                <a:solidFill>
                  <a:srgbClr val="C00000">
                    <a:alpha val="99000"/>
                  </a:srgbClr>
                </a:solidFill>
                <a:latin typeface="Inter" pitchFamily="34" charset="0"/>
                <a:ea typeface="Inter" pitchFamily="34" charset="-122"/>
                <a:cs typeface="Inter" pitchFamily="34" charset="-120"/>
              </a:rPr>
              <a:t>*There can be more than one evidence-analysis pair in your paragraph. Here are the rules: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Each piece of evidence must be well framed and grammatically integrated.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There should be a logical relationship between each of your evidence-analysis pairs.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Do they build on one another? Do they provide opposition and nuance?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The amount of evidence you provide must suit the scope of your claim/topic sentence.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All pieces of evidence must be necessary to your claim/topic sentence.</a:t>
            </a:r>
            <a:endParaRPr lang="en-US" sz="123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438820" y="1294068"/>
            <a:ext cx="8270363" cy="4069063"/>
          </a:xfrm>
          <a:prstGeom prst="rect">
            <a:avLst/>
          </a:prstGeom>
          <a:noFill/>
          <a:ln/>
        </p:spPr>
        <p:txBody>
          <a:bodyPr/>
          <a:lstStyle/>
          <a:p>
            <a:endParaRPr lang="en-CA"/>
          </a:p>
        </p:txBody>
      </p:sp>
      <p:sp>
        <p:nvSpPr>
          <p:cNvPr id="5" name="Shape 2"/>
          <p:cNvSpPr/>
          <p:nvPr/>
        </p:nvSpPr>
        <p:spPr>
          <a:xfrm>
            <a:off x="438820" y="1294068"/>
            <a:ext cx="8270363" cy="4069063"/>
          </a:xfrm>
          <a:prstGeom prst="rect">
            <a:avLst/>
          </a:prstGeom>
          <a:noFill/>
          <a:ln/>
        </p:spPr>
        <p:txBody>
          <a:bodyPr/>
          <a:lstStyle/>
          <a:p>
            <a:endParaRPr lang="en-CA"/>
          </a:p>
        </p:txBody>
      </p:sp>
      <p:sp>
        <p:nvSpPr>
          <p:cNvPr id="7" name="Text 3"/>
          <p:cNvSpPr/>
          <p:nvPr/>
        </p:nvSpPr>
        <p:spPr>
          <a:xfrm>
            <a:off x="438959" y="411510"/>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 "So What" Sentence </a:t>
            </a:r>
            <a:endParaRPr lang="en-US" sz="2475" dirty="0"/>
          </a:p>
        </p:txBody>
      </p:sp>
      <p:sp>
        <p:nvSpPr>
          <p:cNvPr id="8" name="Text 4"/>
          <p:cNvSpPr/>
          <p:nvPr/>
        </p:nvSpPr>
        <p:spPr>
          <a:xfrm>
            <a:off x="416437" y="459678"/>
            <a:ext cx="8727563" cy="4069063"/>
          </a:xfrm>
          <a:prstGeom prst="rect">
            <a:avLst/>
          </a:prstGeom>
          <a:noFill/>
          <a:ln/>
        </p:spPr>
        <p:txBody>
          <a:bodyPr wrap="square" rtlCol="0" anchor="ctr"/>
          <a:lstStyle/>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Your paragraph needs a closing statement that indicates the significance of your topic, evidence, and analysis. This statement is a bookend to the topic sentence/claim; it is a closing frame of paragraph. ​</a:t>
            </a:r>
            <a:endParaRPr lang="en-US" sz="1238" dirty="0"/>
          </a:p>
          <a:p>
            <a:pPr marL="685800" lvl="1"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In a stand-alone paragraph, this sentence indicates the importance simply of the paragraph itself. ​</a:t>
            </a:r>
            <a:endParaRPr lang="en-US" sz="1238" dirty="0"/>
          </a:p>
          <a:p>
            <a:pPr marL="685800" lvl="1"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In an essay this statement refers back to your thesis statement/argument. ​</a:t>
            </a:r>
            <a:endParaRPr lang="en-US" sz="1238" dirty="0"/>
          </a:p>
          <a:p>
            <a:pPr marL="0" indent="0" algn="l">
              <a:lnSpc>
                <a:spcPts val="2475"/>
              </a:lnSpc>
              <a:buNone/>
            </a:pPr>
            <a:r>
              <a:rPr lang="en-US" sz="1238" dirty="0">
                <a:solidFill>
                  <a:srgbClr val="0077C8">
                    <a:alpha val="99000"/>
                  </a:srgbClr>
                </a:solidFill>
                <a:latin typeface="Inter" pitchFamily="34" charset="0"/>
                <a:ea typeface="Inter" pitchFamily="34" charset="-122"/>
                <a:cs typeface="Inter" pitchFamily="34" charset="-120"/>
              </a:rPr>
              <a:t>*Note: This statement does not expand outwards or refer to the next paragraph.*</a:t>
            </a:r>
            <a:endParaRPr lang="en-US" sz="123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619125" y="1328738"/>
            <a:ext cx="8270363" cy="4069063"/>
          </a:xfrm>
          <a:prstGeom prst="rect">
            <a:avLst/>
          </a:prstGeom>
          <a:noFill/>
          <a:ln/>
        </p:spPr>
        <p:txBody>
          <a:bodyPr/>
          <a:lstStyle/>
          <a:p>
            <a:endParaRPr lang="en-CA"/>
          </a:p>
        </p:txBody>
      </p:sp>
      <p:sp>
        <p:nvSpPr>
          <p:cNvPr id="5" name="Shape 2"/>
          <p:cNvSpPr/>
          <p:nvPr/>
        </p:nvSpPr>
        <p:spPr>
          <a:xfrm>
            <a:off x="619125" y="1328738"/>
            <a:ext cx="8270363" cy="4069063"/>
          </a:xfrm>
          <a:prstGeom prst="rect">
            <a:avLst/>
          </a:prstGeom>
          <a:noFill/>
          <a:ln/>
        </p:spPr>
        <p:txBody>
          <a:bodyPr/>
          <a:lstStyle/>
          <a:p>
            <a:endParaRPr lang="en-CA"/>
          </a:p>
        </p:txBody>
      </p:sp>
      <p:sp>
        <p:nvSpPr>
          <p:cNvPr id="7" name="Text 3"/>
          <p:cNvSpPr/>
          <p:nvPr/>
        </p:nvSpPr>
        <p:spPr>
          <a:xfrm>
            <a:off x="438290" y="409575"/>
            <a:ext cx="8365720" cy="623332"/>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Integrating Evidence​</a:t>
            </a:r>
            <a:endParaRPr lang="en-US" sz="2475" dirty="0"/>
          </a:p>
        </p:txBody>
      </p:sp>
      <p:sp>
        <p:nvSpPr>
          <p:cNvPr id="8" name="Text 4"/>
          <p:cNvSpPr/>
          <p:nvPr/>
        </p:nvSpPr>
        <p:spPr>
          <a:xfrm>
            <a:off x="587693" y="625250"/>
            <a:ext cx="8727563" cy="4069063"/>
          </a:xfrm>
          <a:prstGeom prst="rect">
            <a:avLst/>
          </a:prstGeom>
          <a:noFill/>
          <a:ln/>
        </p:spPr>
        <p:txBody>
          <a:bodyPr wrap="square" rtlCol="0" anchor="ctr"/>
          <a:lstStyle/>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Any use of evidence requires three elements (you should know this from They Say/I Say): ​</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Framing​</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Grammatical integration​</a:t>
            </a:r>
            <a:endParaRPr lang="en-US" sz="1238" dirty="0"/>
          </a:p>
          <a:p>
            <a:pPr marL="342900" indent="-342900" algn="l">
              <a:lnSpc>
                <a:spcPts val="2475"/>
              </a:lnSpc>
              <a:buSzPct val="100000"/>
              <a:buChar char="•"/>
            </a:pPr>
            <a:r>
              <a:rPr lang="en-US" sz="1238" dirty="0">
                <a:solidFill>
                  <a:srgbClr val="002060">
                    <a:alpha val="99000"/>
                  </a:srgbClr>
                </a:solidFill>
                <a:latin typeface="Inter" pitchFamily="34" charset="0"/>
                <a:ea typeface="Inter" pitchFamily="34" charset="-122"/>
                <a:cs typeface="Inter" pitchFamily="34" charset="-120"/>
              </a:rPr>
              <a:t>Analysis​</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662EA8-567C-02E6-D8B4-31DB6FEDDF50}"/>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C192B836-C624-5FBE-87D9-BCCB24CB35D3}"/>
              </a:ext>
            </a:extLst>
          </p:cNvPr>
          <p:cNvSpPr/>
          <p:nvPr/>
        </p:nvSpPr>
        <p:spPr>
          <a:xfrm rot="10800000">
            <a:off x="8586788" y="4729163"/>
            <a:ext cx="304800" cy="192087"/>
          </a:xfrm>
          <a:prstGeom prst="rect">
            <a:avLst/>
          </a:prstGeom>
          <a:noFill/>
          <a:ln/>
        </p:spPr>
        <p:txBody>
          <a:bodyPr/>
          <a:lstStyle/>
          <a:p>
            <a:endParaRPr lang="en-CA"/>
          </a:p>
        </p:txBody>
      </p:sp>
      <p:sp>
        <p:nvSpPr>
          <p:cNvPr id="4" name="Shape 1">
            <a:extLst>
              <a:ext uri="{FF2B5EF4-FFF2-40B4-BE49-F238E27FC236}">
                <a16:creationId xmlns:a16="http://schemas.microsoft.com/office/drawing/2014/main" id="{FDE317BC-C722-6B0F-A6A2-F59A55BB7539}"/>
              </a:ext>
            </a:extLst>
          </p:cNvPr>
          <p:cNvSpPr/>
          <p:nvPr/>
        </p:nvSpPr>
        <p:spPr>
          <a:xfrm>
            <a:off x="619125" y="1328738"/>
            <a:ext cx="8270363" cy="4069063"/>
          </a:xfrm>
          <a:prstGeom prst="rect">
            <a:avLst/>
          </a:prstGeom>
          <a:noFill/>
          <a:ln/>
        </p:spPr>
        <p:txBody>
          <a:bodyPr/>
          <a:lstStyle/>
          <a:p>
            <a:endParaRPr lang="en-CA"/>
          </a:p>
        </p:txBody>
      </p:sp>
      <p:sp>
        <p:nvSpPr>
          <p:cNvPr id="5" name="Shape 2">
            <a:extLst>
              <a:ext uri="{FF2B5EF4-FFF2-40B4-BE49-F238E27FC236}">
                <a16:creationId xmlns:a16="http://schemas.microsoft.com/office/drawing/2014/main" id="{C33BAC9A-058C-BCDA-5AAC-382613AE281D}"/>
              </a:ext>
            </a:extLst>
          </p:cNvPr>
          <p:cNvSpPr/>
          <p:nvPr/>
        </p:nvSpPr>
        <p:spPr>
          <a:xfrm>
            <a:off x="619125" y="1328738"/>
            <a:ext cx="8270363" cy="4069063"/>
          </a:xfrm>
          <a:prstGeom prst="rect">
            <a:avLst/>
          </a:prstGeom>
          <a:noFill/>
          <a:ln/>
        </p:spPr>
        <p:txBody>
          <a:bodyPr/>
          <a:lstStyle/>
          <a:p>
            <a:endParaRPr lang="en-CA"/>
          </a:p>
        </p:txBody>
      </p:sp>
      <p:sp>
        <p:nvSpPr>
          <p:cNvPr id="7" name="Text 3">
            <a:extLst>
              <a:ext uri="{FF2B5EF4-FFF2-40B4-BE49-F238E27FC236}">
                <a16:creationId xmlns:a16="http://schemas.microsoft.com/office/drawing/2014/main" id="{FB049C16-FA01-F9B5-6231-99D08AD1B0B8}"/>
              </a:ext>
            </a:extLst>
          </p:cNvPr>
          <p:cNvSpPr/>
          <p:nvPr/>
        </p:nvSpPr>
        <p:spPr>
          <a:xfrm>
            <a:off x="438290" y="409575"/>
            <a:ext cx="8365720" cy="623332"/>
          </a:xfrm>
          <a:prstGeom prst="rect">
            <a:avLst/>
          </a:prstGeom>
          <a:noFill/>
          <a:ln/>
        </p:spPr>
        <p:txBody>
          <a:bodyPr wrap="square" rtlCol="0" anchor="ctr"/>
          <a:lstStyle/>
          <a:p>
            <a:pPr>
              <a:lnSpc>
                <a:spcPts val="2475"/>
              </a:lnSpc>
              <a:buSzPct val="100000"/>
            </a:pPr>
            <a:r>
              <a:rPr lang="en-US" sz="2800" dirty="0">
                <a:solidFill>
                  <a:srgbClr val="002040">
                    <a:alpha val="99000"/>
                  </a:srgbClr>
                </a:solidFill>
                <a:latin typeface="Inter" pitchFamily="34" charset="0"/>
                <a:ea typeface="Inter" pitchFamily="34" charset="-122"/>
                <a:cs typeface="Inter" pitchFamily="34" charset="-120"/>
              </a:rPr>
              <a:t>Quotation</a:t>
            </a:r>
            <a:endParaRPr lang="en-US" sz="2800" dirty="0"/>
          </a:p>
        </p:txBody>
      </p:sp>
      <p:sp>
        <p:nvSpPr>
          <p:cNvPr id="8" name="Text 4">
            <a:extLst>
              <a:ext uri="{FF2B5EF4-FFF2-40B4-BE49-F238E27FC236}">
                <a16:creationId xmlns:a16="http://schemas.microsoft.com/office/drawing/2014/main" id="{7D055509-84C1-1DA6-8A98-1CD086A077A4}"/>
              </a:ext>
            </a:extLst>
          </p:cNvPr>
          <p:cNvSpPr/>
          <p:nvPr/>
        </p:nvSpPr>
        <p:spPr>
          <a:xfrm>
            <a:off x="587693" y="625250"/>
            <a:ext cx="8727563" cy="4069063"/>
          </a:xfrm>
          <a:prstGeom prst="rect">
            <a:avLst/>
          </a:prstGeom>
          <a:noFill/>
          <a:ln/>
        </p:spPr>
        <p:txBody>
          <a:bodyPr wrap="square" rtlCol="0" anchor="ctr"/>
          <a:lstStyle/>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a:p>
            <a:pPr marL="0" indent="0" algn="l">
              <a:lnSpc>
                <a:spcPts val="2475"/>
              </a:lnSpc>
              <a:buNone/>
            </a:pPr>
            <a:r>
              <a:rPr lang="en-US" sz="1238" dirty="0">
                <a:solidFill>
                  <a:srgbClr val="002060">
                    <a:alpha val="99000"/>
                  </a:srgbClr>
                </a:solidFill>
                <a:latin typeface="Inter" pitchFamily="34" charset="0"/>
                <a:ea typeface="Inter" pitchFamily="34" charset="-122"/>
                <a:cs typeface="Inter" pitchFamily="34" charset="-120"/>
              </a:rPr>
              <a:t>​</a:t>
            </a:r>
            <a:endParaRPr lang="en-US" sz="1238" dirty="0"/>
          </a:p>
        </p:txBody>
      </p:sp>
      <p:pic>
        <p:nvPicPr>
          <p:cNvPr id="2" name="Image 1" descr="preencoded.png"/>
          <p:cNvPicPr>
            <a:picLocks noChangeAspect="1"/>
          </p:cNvPicPr>
          <p:nvPr/>
        </p:nvPicPr>
        <p:blipFill>
          <a:blip r:embed="rId3"/>
          <a:stretch>
            <a:fillRect/>
          </a:stretch>
        </p:blipFill>
        <p:spPr>
          <a:xfrm>
            <a:off x="868680" y="1987868"/>
            <a:ext cx="1581150" cy="1090613"/>
          </a:xfrm>
          <a:prstGeom prst="rect">
            <a:avLst/>
          </a:prstGeom>
        </p:spPr>
      </p:pic>
      <p:sp>
        <p:nvSpPr>
          <p:cNvPr id="11" name="Text 6"/>
          <p:cNvSpPr/>
          <p:nvPr/>
        </p:nvSpPr>
        <p:spPr>
          <a:xfrm>
            <a:off x="2864376" y="1929833"/>
            <a:ext cx="4301287" cy="1148648"/>
          </a:xfrm>
          <a:prstGeom prst="rect">
            <a:avLst/>
          </a:prstGeom>
          <a:noFill/>
          <a:ln/>
        </p:spPr>
        <p:txBody>
          <a:bodyPr wrap="square" rtlCol="0" anchor="ctr"/>
          <a:lstStyle/>
          <a:p>
            <a:pPr marL="342900" indent="-342900" algn="l">
              <a:lnSpc>
                <a:spcPts val="2475"/>
              </a:lnSpc>
              <a:buSzPct val="100000"/>
              <a:buFont typeface="+mj-lt"/>
              <a:buAutoNum type="arabicPeriod"/>
            </a:pPr>
            <a:r>
              <a:rPr lang="en-US" sz="1238" dirty="0">
                <a:solidFill>
                  <a:srgbClr val="002040">
                    <a:alpha val="99000"/>
                  </a:srgbClr>
                </a:solidFill>
                <a:latin typeface="Inter" pitchFamily="34" charset="0"/>
                <a:ea typeface="Inter" pitchFamily="34" charset="-122"/>
                <a:cs typeface="Inter" pitchFamily="34" charset="-120"/>
              </a:rPr>
              <a:t>Introduce the idea in your own words</a:t>
            </a:r>
            <a:endParaRPr lang="en-US" sz="1238" dirty="0"/>
          </a:p>
          <a:p>
            <a:pPr marL="342900" indent="-342900" algn="l">
              <a:lnSpc>
                <a:spcPts val="2475"/>
              </a:lnSpc>
              <a:buSzPct val="100000"/>
              <a:buFont typeface="+mj-lt"/>
              <a:buAutoNum type="arabicPeriod"/>
            </a:pPr>
            <a:r>
              <a:rPr lang="en-US" sz="1238" dirty="0">
                <a:solidFill>
                  <a:srgbClr val="002040">
                    <a:alpha val="99000"/>
                  </a:srgbClr>
                </a:solidFill>
                <a:latin typeface="Inter" pitchFamily="34" charset="0"/>
                <a:ea typeface="Inter" pitchFamily="34" charset="-122"/>
                <a:cs typeface="Inter" pitchFamily="34" charset="-120"/>
              </a:rPr>
              <a:t>Quote</a:t>
            </a:r>
            <a:endParaRPr lang="en-US" sz="1238" dirty="0"/>
          </a:p>
          <a:p>
            <a:pPr marL="342900" indent="-342900" algn="l">
              <a:lnSpc>
                <a:spcPts val="2475"/>
              </a:lnSpc>
              <a:buSzPct val="100000"/>
              <a:buFont typeface="+mj-lt"/>
              <a:buAutoNum type="arabicPeriod"/>
            </a:pPr>
            <a:r>
              <a:rPr lang="en-US" sz="1238" dirty="0">
                <a:solidFill>
                  <a:srgbClr val="002040">
                    <a:alpha val="99000"/>
                  </a:srgbClr>
                </a:solidFill>
                <a:latin typeface="Inter" pitchFamily="34" charset="0"/>
                <a:ea typeface="Inter" pitchFamily="34" charset="-122"/>
                <a:cs typeface="Inter" pitchFamily="34" charset="-120"/>
              </a:rPr>
              <a:t>Explain why you think that quotation is important.</a:t>
            </a:r>
            <a:endParaRPr lang="en-US" sz="1238" dirty="0"/>
          </a:p>
        </p:txBody>
      </p:sp>
    </p:spTree>
    <p:extLst>
      <p:ext uri="{BB962C8B-B14F-4D97-AF65-F5344CB8AC3E}">
        <p14:creationId xmlns:p14="http://schemas.microsoft.com/office/powerpoint/2010/main" val="525485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554720" y="348895"/>
            <a:ext cx="5712602" cy="553998"/>
          </a:xfrm>
          <a:prstGeom prst="rect">
            <a:avLst/>
          </a:prstGeom>
          <a:noFill/>
          <a:ln/>
        </p:spPr>
        <p:txBody>
          <a:bodyPr/>
          <a:lstStyle/>
          <a:p>
            <a:endParaRPr lang="en-CA"/>
          </a:p>
        </p:txBody>
      </p:sp>
      <p:sp>
        <p:nvSpPr>
          <p:cNvPr id="5" name="Shape 2"/>
          <p:cNvSpPr/>
          <p:nvPr/>
        </p:nvSpPr>
        <p:spPr>
          <a:xfrm>
            <a:off x="554720" y="936381"/>
            <a:ext cx="2743200" cy="1375056"/>
          </a:xfrm>
          <a:prstGeom prst="rect">
            <a:avLst/>
          </a:prstGeom>
          <a:noFill/>
          <a:ln/>
        </p:spPr>
        <p:txBody>
          <a:bodyPr/>
          <a:lstStyle/>
          <a:p>
            <a:endParaRPr lang="en-CA"/>
          </a:p>
        </p:txBody>
      </p:sp>
      <p:sp>
        <p:nvSpPr>
          <p:cNvPr id="6" name="Shape 3"/>
          <p:cNvSpPr/>
          <p:nvPr/>
        </p:nvSpPr>
        <p:spPr>
          <a:xfrm>
            <a:off x="3296320" y="936380"/>
            <a:ext cx="4945273" cy="307777"/>
          </a:xfrm>
          <a:prstGeom prst="rect">
            <a:avLst/>
          </a:prstGeom>
          <a:noFill/>
          <a:ln/>
        </p:spPr>
        <p:txBody>
          <a:bodyPr/>
          <a:lstStyle/>
          <a:p>
            <a:endParaRPr lang="en-CA"/>
          </a:p>
        </p:txBody>
      </p:sp>
      <p:sp>
        <p:nvSpPr>
          <p:cNvPr id="7" name="Shape 4"/>
          <p:cNvSpPr/>
          <p:nvPr/>
        </p:nvSpPr>
        <p:spPr>
          <a:xfrm>
            <a:off x="3296320" y="1260098"/>
            <a:ext cx="4921295" cy="523220"/>
          </a:xfrm>
          <a:prstGeom prst="rect">
            <a:avLst/>
          </a:prstGeom>
          <a:noFill/>
          <a:ln/>
        </p:spPr>
        <p:txBody>
          <a:bodyPr/>
          <a:lstStyle/>
          <a:p>
            <a:endParaRPr lang="en-CA"/>
          </a:p>
        </p:txBody>
      </p:sp>
      <p:sp>
        <p:nvSpPr>
          <p:cNvPr id="8" name="Shape 5"/>
          <p:cNvSpPr/>
          <p:nvPr/>
        </p:nvSpPr>
        <p:spPr>
          <a:xfrm>
            <a:off x="3296320" y="1767653"/>
            <a:ext cx="4749444" cy="307777"/>
          </a:xfrm>
          <a:prstGeom prst="rect">
            <a:avLst/>
          </a:prstGeom>
          <a:noFill/>
          <a:ln/>
        </p:spPr>
        <p:txBody>
          <a:bodyPr/>
          <a:lstStyle/>
          <a:p>
            <a:endParaRPr lang="en-CA"/>
          </a:p>
        </p:txBody>
      </p:sp>
      <p:sp>
        <p:nvSpPr>
          <p:cNvPr id="9" name="Shape 6"/>
          <p:cNvSpPr/>
          <p:nvPr/>
        </p:nvSpPr>
        <p:spPr>
          <a:xfrm>
            <a:off x="3296320" y="1767653"/>
            <a:ext cx="4749444" cy="307777"/>
          </a:xfrm>
          <a:prstGeom prst="rect">
            <a:avLst/>
          </a:prstGeom>
          <a:noFill/>
          <a:ln/>
        </p:spPr>
        <p:txBody>
          <a:bodyPr/>
          <a:lstStyle/>
          <a:p>
            <a:endParaRPr lang="en-CA"/>
          </a:p>
        </p:txBody>
      </p:sp>
      <p:sp>
        <p:nvSpPr>
          <p:cNvPr id="10" name="Shape 7"/>
          <p:cNvSpPr/>
          <p:nvPr/>
        </p:nvSpPr>
        <p:spPr>
          <a:xfrm>
            <a:off x="3296319" y="1247402"/>
            <a:ext cx="4921295" cy="523220"/>
          </a:xfrm>
          <a:prstGeom prst="rect">
            <a:avLst/>
          </a:prstGeom>
          <a:noFill/>
          <a:ln/>
        </p:spPr>
        <p:txBody>
          <a:bodyPr/>
          <a:lstStyle/>
          <a:p>
            <a:endParaRPr lang="en-CA"/>
          </a:p>
        </p:txBody>
      </p:sp>
      <p:sp>
        <p:nvSpPr>
          <p:cNvPr id="11" name="Shape 8"/>
          <p:cNvSpPr/>
          <p:nvPr/>
        </p:nvSpPr>
        <p:spPr>
          <a:xfrm>
            <a:off x="3296320" y="936380"/>
            <a:ext cx="4945273" cy="307777"/>
          </a:xfrm>
          <a:prstGeom prst="rect">
            <a:avLst/>
          </a:prstGeom>
          <a:noFill/>
          <a:ln/>
        </p:spPr>
        <p:txBody>
          <a:bodyPr/>
          <a:lstStyle/>
          <a:p>
            <a:endParaRPr lang="en-CA"/>
          </a:p>
        </p:txBody>
      </p:sp>
      <p:sp>
        <p:nvSpPr>
          <p:cNvPr id="12" name="Shape 9"/>
          <p:cNvSpPr/>
          <p:nvPr/>
        </p:nvSpPr>
        <p:spPr>
          <a:xfrm>
            <a:off x="554720" y="936381"/>
            <a:ext cx="2743200" cy="1375056"/>
          </a:xfrm>
          <a:prstGeom prst="rect">
            <a:avLst/>
          </a:prstGeom>
          <a:noFill/>
          <a:ln/>
        </p:spPr>
        <p:txBody>
          <a:bodyPr/>
          <a:lstStyle/>
          <a:p>
            <a:endParaRPr lang="en-CA"/>
          </a:p>
        </p:txBody>
      </p:sp>
      <p:sp>
        <p:nvSpPr>
          <p:cNvPr id="13" name="Shape 10"/>
          <p:cNvSpPr/>
          <p:nvPr/>
        </p:nvSpPr>
        <p:spPr>
          <a:xfrm>
            <a:off x="554720" y="348895"/>
            <a:ext cx="5712602" cy="553998"/>
          </a:xfrm>
          <a:prstGeom prst="rect">
            <a:avLst/>
          </a:prstGeom>
          <a:noFill/>
          <a:ln/>
        </p:spPr>
        <p:txBody>
          <a:bodyPr/>
          <a:lstStyle/>
          <a:p>
            <a:endParaRPr lang="en-CA"/>
          </a:p>
        </p:txBody>
      </p:sp>
      <p:pic>
        <p:nvPicPr>
          <p:cNvPr id="16" name="Image 2" descr="preencoded.png"/>
          <p:cNvPicPr>
            <a:picLocks noChangeAspect="1"/>
          </p:cNvPicPr>
          <p:nvPr/>
        </p:nvPicPr>
        <p:blipFill>
          <a:blip r:embed="rId3"/>
          <a:stretch>
            <a:fillRect/>
          </a:stretch>
        </p:blipFill>
        <p:spPr>
          <a:xfrm>
            <a:off x="825747" y="1985756"/>
            <a:ext cx="4270315" cy="2517799"/>
          </a:xfrm>
          <a:prstGeom prst="rect">
            <a:avLst/>
          </a:prstGeom>
        </p:spPr>
      </p:pic>
      <p:sp>
        <p:nvSpPr>
          <p:cNvPr id="17" name="Text 11"/>
          <p:cNvSpPr>
            <a:spLocks/>
          </p:cNvSpPr>
          <p:nvPr/>
        </p:nvSpPr>
        <p:spPr>
          <a:xfrm>
            <a:off x="861730" y="1367819"/>
            <a:ext cx="5206644" cy="307777"/>
          </a:xfrm>
          <a:prstGeom prst="rect">
            <a:avLst/>
          </a:prstGeom>
          <a:noFill/>
          <a:ln/>
        </p:spPr>
        <p:txBody>
          <a:bodyPr wrap="square" rtlCol="0" anchor="ctr"/>
          <a:lstStyle/>
          <a:p>
            <a:pPr marL="0" indent="0" algn="l">
              <a:lnSpc>
                <a:spcPts val="1498"/>
              </a:lnSpc>
              <a:buNone/>
            </a:pPr>
            <a:r>
              <a:rPr lang="en-US" sz="1238" dirty="0">
                <a:solidFill>
                  <a:srgbClr val="000000">
                    <a:alpha val="99000"/>
                  </a:srgbClr>
                </a:solidFill>
                <a:latin typeface="Inter" pitchFamily="34" charset="0"/>
                <a:ea typeface="Inter" pitchFamily="34" charset="-122"/>
                <a:cs typeface="Inter" pitchFamily="34" charset="-120"/>
                <a:hlinkClick r:id="rId4"/>
              </a:rPr>
              <a:t>Purdue OWL</a:t>
            </a:r>
            <a:endParaRPr lang="en-US" sz="1238" dirty="0"/>
          </a:p>
        </p:txBody>
      </p:sp>
      <p:sp>
        <p:nvSpPr>
          <p:cNvPr id="21" name="Text 15"/>
          <p:cNvSpPr/>
          <p:nvPr/>
        </p:nvSpPr>
        <p:spPr>
          <a:xfrm>
            <a:off x="554720" y="348895"/>
            <a:ext cx="6169802" cy="553998"/>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Citation Guide Resource</a:t>
            </a:r>
            <a:r>
              <a:rPr lang="en-US" sz="2475" dirty="0">
                <a:solidFill>
                  <a:srgbClr val="000000">
                    <a:alpha val="99000"/>
                  </a:srgbClr>
                </a:solidFill>
                <a:latin typeface="Poppins" pitchFamily="34" charset="0"/>
                <a:ea typeface="Poppins" pitchFamily="34" charset="-122"/>
                <a:cs typeface="Poppins" pitchFamily="34" charset="-120"/>
              </a:rPr>
              <a:t>​</a:t>
            </a:r>
            <a:endParaRPr lang="en-US" sz="24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3632</Words>
  <Application>Microsoft Office PowerPoint</Application>
  <PresentationFormat>全屏显示(16:9)</PresentationFormat>
  <Paragraphs>178</Paragraphs>
  <Slides>23</Slides>
  <Notes>21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23</vt:i4>
      </vt:variant>
    </vt:vector>
  </HeadingPairs>
  <TitlesOfParts>
    <vt:vector size="28" baseType="lpstr">
      <vt:lpstr>Lato Extended</vt:lpstr>
      <vt:lpstr>Arial</vt:lpstr>
      <vt:lpstr>Inter</vt:lpstr>
      <vt:lpstr>Poppins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What do you say in your thesis?</vt:lpstr>
      <vt:lpstr>Paragraph Structure for Analytic Writing Assignment</vt:lpstr>
      <vt:lpstr>What is a paragraph?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Zhehao Sun</cp:lastModifiedBy>
  <cp:revision>3</cp:revision>
  <dcterms:created xsi:type="dcterms:W3CDTF">2026-01-14T07:27:48Z</dcterms:created>
  <dcterms:modified xsi:type="dcterms:W3CDTF">2026-01-14T08:46:09Z</dcterms:modified>
</cp:coreProperties>
</file>