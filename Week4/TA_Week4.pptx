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83" r:id="rId3"/>
    <p:sldId id="284" r:id="rId4"/>
    <p:sldId id="278" r:id="rId5"/>
    <p:sldId id="259" r:id="rId6"/>
    <p:sldId id="285" r:id="rId7"/>
    <p:sldId id="287" r:id="rId8"/>
    <p:sldId id="325" r:id="rId9"/>
    <p:sldId id="286" r:id="rId10"/>
    <p:sldId id="263" r:id="rId11"/>
    <p:sldId id="273"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1113" y="6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131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B822-A592-6CEE-84C6-B9DBE23C0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F920E-AEB6-C90D-90C8-6C9DC1F72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2BCC7-7C91-CD8D-62B6-785893490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807A15-A46D-2DAA-D0CA-7115030C54F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71652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0277-584A-E636-ED6D-0BC085124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163DF-A6CC-F56D-1147-665B15DD4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A5932-A764-835E-5664-4E62C61D2F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38130-1806-B16D-F1C2-D309818323B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88063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3FF3-0EB4-73F9-3CE5-0A48D71FA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1DD7F-5284-E574-0899-0C54B3F72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A3412-FBFD-DED5-D90C-B4A34EC95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DB2FEB-2270-81B7-01FD-8979340981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0382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B612F-E4A8-0655-14B9-F86B80BC6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35640-A213-B090-2721-2194AEF74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72B96-C191-6EF4-A6F7-8D574E5C1EC7}"/>
              </a:ext>
            </a:extLst>
          </p:cNvPr>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a:extLst>
              <a:ext uri="{FF2B5EF4-FFF2-40B4-BE49-F238E27FC236}">
                <a16:creationId xmlns:a16="http://schemas.microsoft.com/office/drawing/2014/main" id="{B9DD6ABD-98F6-310D-01FC-2FCFBFA5BF1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38671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(Purdue OWL) is widely regarded as one of the most authoritative and practical academic writing resources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55E0-D6E8-6B26-079D-8E7FBAE745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48A163-7518-6309-C324-0325FA40B6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0470AE-19EA-B02E-CAC4-D0C0932E101D}"/>
              </a:ext>
            </a:extLst>
          </p:cNvPr>
          <p:cNvSpPr>
            <a:spLocks noGrp="1"/>
          </p:cNvSpPr>
          <p:nvPr>
            <p:ph type="dt" sz="half" idx="10"/>
          </p:nvPr>
        </p:nvSpPr>
        <p:spPr/>
        <p:txBody>
          <a:bodyPr/>
          <a:lstStyle/>
          <a:p>
            <a:fld id="{FFD397C1-E84A-9346-BFAA-3B0DFD18A9DE}" type="datetimeFigureOut">
              <a:rPr lang="en-US" smtClean="0"/>
              <a:t>1/27/2026</a:t>
            </a:fld>
            <a:endParaRPr lang="en-US"/>
          </a:p>
        </p:txBody>
      </p:sp>
      <p:sp>
        <p:nvSpPr>
          <p:cNvPr id="5" name="Footer Placeholder 4">
            <a:extLst>
              <a:ext uri="{FF2B5EF4-FFF2-40B4-BE49-F238E27FC236}">
                <a16:creationId xmlns:a16="http://schemas.microsoft.com/office/drawing/2014/main" id="{1695786C-0D94-65FA-F537-52C7EA2133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84800-317F-B4D7-F18A-31B533FBB2A3}"/>
              </a:ext>
            </a:extLst>
          </p:cNvPr>
          <p:cNvSpPr>
            <a:spLocks noGrp="1"/>
          </p:cNvSpPr>
          <p:nvPr>
            <p:ph type="sldNum" sz="quarter" idx="12"/>
          </p:nvPr>
        </p:nvSpPr>
        <p:spPr/>
        <p:txBody>
          <a:bodyPr/>
          <a:lstStyle/>
          <a:p>
            <a:fld id="{45AC68A3-4988-554D-AA73-3ED5A28D05B4}" type="slidenum">
              <a:rPr lang="en-US" smtClean="0"/>
              <a:t>‹#›</a:t>
            </a:fld>
            <a:endParaRPr lang="en-US"/>
          </a:p>
        </p:txBody>
      </p:sp>
    </p:spTree>
    <p:extLst>
      <p:ext uri="{BB962C8B-B14F-4D97-AF65-F5344CB8AC3E}">
        <p14:creationId xmlns:p14="http://schemas.microsoft.com/office/powerpoint/2010/main" val="3388082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canvas.ubc.ca/courses/179607/files/43797021?wrap=1"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canvas.ubc.ca/courses/179607/files/43796971?wrap=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canvas.ubc.ca/courses/179607/files/43797071?wrap=1" TargetMode="External"/><Relationship Id="rId4" Type="http://schemas.openxmlformats.org/officeDocument/2006/relationships/hyperlink" Target="https://ubc.summon.serialssolutions.com/search?spellcheck=true&amp;s.q=%27Technology%27%3A+The+Emergence+of+a+Hazardous+Concept.%22%C2%A0#!/search?pn=1&amp;ho=t&amp;include.ft.matches=t&amp;l=en&amp;q='Technology':%20The%20Emergence%20of%20a%20Hazardous%20Concept.%22%C2%A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docs.google.com/document/d/1ivRm3RtELvlMPR0EycmPy_Bzi0Rd1ZilCOF9LtZafDQ/edit?tab=t.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ubc.summon.serialssolutions.com/search?spellcheck=true&amp;s.q=%27Technology%27%3A+The+Emergence+of+a+Hazardous+Concept.%22%C2%A0#!/search?pn=1&amp;ho=t&amp;include.ft.matches=t&amp;l=en&amp;q='Technology':%20The%20Emergence%20of%20a%20Hazardous%20Concept.%22%C2%A0"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canvas.ubc.ca/courses/179607/files/43797071?wrap=1" TargetMode="External"/><Relationship Id="rId4" Type="http://schemas.openxmlformats.org/officeDocument/2006/relationships/hyperlink" Target="https://canvas.ubc.ca/courses/179607/files/43796971?wrap=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anvas.ubc.ca/courses/179607/files/43796971?wrap=1"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owl.purdu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43888" y="1131888"/>
            <a:ext cx="900112" cy="1131887"/>
          </a:xfrm>
          <a:prstGeom prst="rect">
            <a:avLst/>
          </a:prstGeom>
          <a:solidFill>
            <a:srgbClr val="002040"/>
          </a:solidFill>
          <a:ln/>
        </p:spPr>
        <p:txBody>
          <a:bodyPr/>
          <a:lstStyle/>
          <a:p>
            <a:endParaRPr lang="en-CA"/>
          </a:p>
        </p:txBody>
      </p:sp>
      <p:sp>
        <p:nvSpPr>
          <p:cNvPr id="4" name="Text 1"/>
          <p:cNvSpPr/>
          <p:nvPr/>
        </p:nvSpPr>
        <p:spPr>
          <a:xfrm>
            <a:off x="800100" y="3143249"/>
            <a:ext cx="6952284" cy="866775"/>
          </a:xfrm>
          <a:prstGeom prst="rect">
            <a:avLst/>
          </a:prstGeom>
          <a:noFill/>
          <a:ln/>
        </p:spPr>
        <p:txBody>
          <a:bodyPr wrap="square" rtlCol="0" anchor="ctr"/>
          <a:lstStyle/>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Week 4 Tutorial</a:t>
            </a:r>
            <a:endParaRPr lang="en-US" sz="1238" dirty="0"/>
          </a:p>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Zhehao Sun</a:t>
            </a:r>
            <a:endParaRPr lang="en-US" sz="1238" dirty="0"/>
          </a:p>
          <a:p>
            <a:pPr>
              <a:lnSpc>
                <a:spcPts val="2063"/>
              </a:lnSpc>
            </a:pPr>
            <a:r>
              <a:rPr lang="en-US" sz="1238" dirty="0">
                <a:solidFill>
                  <a:srgbClr val="002040">
                    <a:alpha val="99000"/>
                  </a:srgbClr>
                </a:solidFill>
                <a:latin typeface="Inter" pitchFamily="34" charset="0"/>
                <a:ea typeface="Inter" pitchFamily="34" charset="-122"/>
                <a:cs typeface="Inter" pitchFamily="34" charset="-120"/>
              </a:rPr>
              <a:t>Contact: zhehao.sun@ubc.ca</a:t>
            </a:r>
            <a:endParaRPr lang="en-US" sz="1238" dirty="0"/>
          </a:p>
        </p:txBody>
      </p:sp>
      <p:sp>
        <p:nvSpPr>
          <p:cNvPr id="5" name="Text 2"/>
          <p:cNvSpPr/>
          <p:nvPr/>
        </p:nvSpPr>
        <p:spPr>
          <a:xfrm>
            <a:off x="809625" y="1133475"/>
            <a:ext cx="7891463" cy="1571625"/>
          </a:xfrm>
          <a:prstGeom prst="rect">
            <a:avLst/>
          </a:prstGeom>
          <a:noFill/>
          <a:ln/>
        </p:spPr>
        <p:txBody>
          <a:bodyPr wrap="square" rtlCol="0" anchor="ctr"/>
          <a:lstStyle/>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ENGL/ DIHU 155</a:t>
            </a:r>
            <a:endParaRPr lang="en-US" sz="2888" dirty="0"/>
          </a:p>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Reading, Writing, and Making with Technology in the Humanities</a:t>
            </a:r>
            <a:endParaRPr lang="en-US" sz="28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43ECE8B-6978-0514-F1CF-9066E625B3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2A142B-DDC8-1AA1-B8B0-AB02AB0D9617}"/>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771DE183-E15E-0F1F-819C-65F3A12F2D0F}"/>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4C60D0A5-DFAE-6FC7-0140-DAF6048CDCA2}"/>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7462D11F-D5CC-FC2E-3CBF-5133D4276179}"/>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1C934349-F8FF-025F-8BF4-F768715C005F}"/>
              </a:ext>
            </a:extLst>
          </p:cNvPr>
          <p:cNvSpPr/>
          <p:nvPr/>
        </p:nvSpPr>
        <p:spPr>
          <a:xfrm>
            <a:off x="8623" y="469004"/>
            <a:ext cx="9134748" cy="572700"/>
          </a:xfrm>
          <a:prstGeom prst="rect">
            <a:avLst/>
          </a:prstGeom>
          <a:noFill/>
          <a:ln/>
        </p:spPr>
        <p:txBody>
          <a:bodyPr/>
          <a:lstStyle/>
          <a:p>
            <a:endParaRPr lang="en-CA"/>
          </a:p>
        </p:txBody>
      </p:sp>
      <p:sp>
        <p:nvSpPr>
          <p:cNvPr id="9" name="Text 6">
            <a:extLst>
              <a:ext uri="{FF2B5EF4-FFF2-40B4-BE49-F238E27FC236}">
                <a16:creationId xmlns:a16="http://schemas.microsoft.com/office/drawing/2014/main" id="{E8DF15AA-9408-C293-CA62-31D105DF0E0A}"/>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chemeClr val="tx1">
                    <a:lumMod val="85000"/>
                    <a:lumOff val="15000"/>
                  </a:schemeClr>
                </a:solidFill>
                <a:latin typeface="Poppins" pitchFamily="34" charset="0"/>
                <a:ea typeface="Poppins" pitchFamily="34" charset="-122"/>
                <a:cs typeface="Poppins" pitchFamily="34" charset="-120"/>
              </a:rPr>
              <a:t>Reminder</a:t>
            </a:r>
            <a:endParaRPr lang="en-US" sz="2475" dirty="0">
              <a:solidFill>
                <a:schemeClr val="tx1">
                  <a:lumMod val="85000"/>
                  <a:lumOff val="15000"/>
                </a:schemeClr>
              </a:solidFill>
            </a:endParaRPr>
          </a:p>
        </p:txBody>
      </p:sp>
      <p:pic>
        <p:nvPicPr>
          <p:cNvPr id="10" name="图片 9" descr="日程表&#10;&#10;AI 生成的内容可能不正确。">
            <a:extLst>
              <a:ext uri="{FF2B5EF4-FFF2-40B4-BE49-F238E27FC236}">
                <a16:creationId xmlns:a16="http://schemas.microsoft.com/office/drawing/2014/main" id="{5A33B7BD-727A-0940-3012-F3DCD60AE535}"/>
              </a:ext>
            </a:extLst>
          </p:cNvPr>
          <p:cNvPicPr>
            <a:picLocks noChangeAspect="1"/>
          </p:cNvPicPr>
          <p:nvPr/>
        </p:nvPicPr>
        <p:blipFill>
          <a:blip r:embed="rId3"/>
          <a:stretch>
            <a:fillRect/>
          </a:stretch>
        </p:blipFill>
        <p:spPr>
          <a:xfrm>
            <a:off x="1501836" y="1040604"/>
            <a:ext cx="6026603" cy="1839445"/>
          </a:xfrm>
          <a:prstGeom prst="rect">
            <a:avLst/>
          </a:prstGeom>
        </p:spPr>
      </p:pic>
      <p:sp>
        <p:nvSpPr>
          <p:cNvPr id="12" name="文本框 11">
            <a:extLst>
              <a:ext uri="{FF2B5EF4-FFF2-40B4-BE49-F238E27FC236}">
                <a16:creationId xmlns:a16="http://schemas.microsoft.com/office/drawing/2014/main" id="{7881A207-E53A-5640-2C33-67B8D3DFF9B8}"/>
              </a:ext>
            </a:extLst>
          </p:cNvPr>
          <p:cNvSpPr txBox="1"/>
          <p:nvPr/>
        </p:nvSpPr>
        <p:spPr>
          <a:xfrm>
            <a:off x="1325225" y="2880240"/>
            <a:ext cx="6491740" cy="2062103"/>
          </a:xfrm>
          <a:prstGeom prst="rect">
            <a:avLst/>
          </a:prstGeom>
          <a:noFill/>
        </p:spPr>
        <p:txBody>
          <a:bodyPr wrap="square">
            <a:spAutoFit/>
          </a:bodyPr>
          <a:lstStyle/>
          <a:p>
            <a:r>
              <a:rPr lang="en-US" sz="1600" dirty="0"/>
              <a:t>Revisions for Essay 1 will be done in week 6 (Tuesday and Wednesday)</a:t>
            </a:r>
          </a:p>
          <a:p>
            <a:pPr lvl="1"/>
            <a:r>
              <a:rPr lang="en-US" sz="1200" dirty="0"/>
              <a:t>You can bring in your original paper with feedback to do the revisions if necessary</a:t>
            </a:r>
          </a:p>
          <a:p>
            <a:pPr lvl="1"/>
            <a:r>
              <a:rPr lang="en-US" sz="1200" dirty="0"/>
              <a:t>Revisions are done in person (like the original essay) during either of the allotted time slots</a:t>
            </a:r>
          </a:p>
          <a:p>
            <a:pPr lvl="1"/>
            <a:r>
              <a:rPr lang="en-US" sz="1200" dirty="0"/>
              <a:t>Please see me or Dr. Murphy if you have any questions! Sign up sheet for office hours is on Canvas</a:t>
            </a:r>
          </a:p>
          <a:p>
            <a:endParaRPr lang="en-US" sz="1200" dirty="0"/>
          </a:p>
          <a:p>
            <a:r>
              <a:rPr lang="en-US" sz="1600" dirty="0"/>
              <a:t>Grade Contract renegotiation due week 6 (in two weeks)</a:t>
            </a:r>
          </a:p>
          <a:p>
            <a:pPr lvl="1"/>
            <a:r>
              <a:rPr lang="en-US" sz="1200" dirty="0"/>
              <a:t>You must rewrite this even if you are maintaining your current grade contract</a:t>
            </a:r>
          </a:p>
          <a:p>
            <a:pPr lvl="1"/>
            <a:r>
              <a:rPr lang="en-US" sz="1200" dirty="0"/>
              <a:t>You can change your grade beforehand – this can lead to lighter revisions on your essay</a:t>
            </a:r>
          </a:p>
          <a:p>
            <a:pPr lvl="1"/>
            <a:r>
              <a:rPr lang="en-US" sz="1200" dirty="0"/>
              <a:t>To renegotiate your grade early, reach out to myself and Dr. Murphy via canvas messenger.</a:t>
            </a:r>
          </a:p>
        </p:txBody>
      </p:sp>
    </p:spTree>
    <p:extLst>
      <p:ext uri="{BB962C8B-B14F-4D97-AF65-F5344CB8AC3E}">
        <p14:creationId xmlns:p14="http://schemas.microsoft.com/office/powerpoint/2010/main" val="6692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7C6764E8-AC2B-B05B-AEB3-8816403A8D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EEDC9A-6905-3B63-B097-AEFF4926FC1B}"/>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4E055416-68CC-3568-DA0A-724E80C87188}"/>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F44DAAEF-9534-16E9-B0AE-96ADB21C72F0}"/>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8F992845-A1C6-209C-BC51-0EF8E77CA49C}"/>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EE9D832-606A-9824-3583-A1DA7FE22A80}"/>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19E73599-31B2-8870-3E1E-C42E2F6A8DC3}"/>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Readings for Next Week</a:t>
            </a:r>
          </a:p>
          <a:p>
            <a:pPr>
              <a:lnSpc>
                <a:spcPts val="1694"/>
              </a:lnSpc>
            </a:pPr>
            <a:endParaRPr lang="en-US" sz="1400" b="1" dirty="0">
              <a:solidFill>
                <a:srgbClr val="C00000">
                  <a:alpha val="99000"/>
                </a:srgbClr>
              </a:solidFill>
              <a:latin typeface="Inter" pitchFamily="34" charset="0"/>
              <a:ea typeface="Inter" pitchFamily="34" charset="-122"/>
            </a:endParaRPr>
          </a:p>
          <a:p>
            <a:pPr marL="285750" indent="-228600" fontAlgn="ctr">
              <a:lnSpc>
                <a:spcPct val="90000"/>
              </a:lnSpc>
              <a:spcAft>
                <a:spcPts val="600"/>
              </a:spcAft>
              <a:buFont typeface="Arial" panose="020B0604020202020204" pitchFamily="34" charset="0"/>
              <a:buChar char="•"/>
            </a:pPr>
            <a:r>
              <a:rPr lang="en-US" sz="1400" dirty="0" err="1">
                <a:solidFill>
                  <a:schemeClr val="bg1"/>
                </a:solidFill>
              </a:rPr>
              <a:t>Okorafor</a:t>
            </a:r>
            <a:r>
              <a:rPr lang="en-US" sz="1400" dirty="0">
                <a:solidFill>
                  <a:schemeClr val="bg1"/>
                </a:solidFill>
              </a:rPr>
              <a:t>, </a:t>
            </a:r>
            <a:r>
              <a:rPr lang="en-US" sz="1400" dirty="0" err="1">
                <a:solidFill>
                  <a:schemeClr val="bg1"/>
                </a:solidFill>
              </a:rPr>
              <a:t>Nnedi</a:t>
            </a:r>
            <a:r>
              <a:rPr lang="en-US" sz="1400" dirty="0">
                <a:solidFill>
                  <a:schemeClr val="bg1"/>
                </a:solidFill>
              </a:rPr>
              <a:t>. </a:t>
            </a:r>
            <a:r>
              <a:rPr lang="en-US" sz="1400" i="1" dirty="0">
                <a:solidFill>
                  <a:schemeClr val="bg1"/>
                </a:solidFill>
              </a:rPr>
              <a:t>The Book of Phoenix.</a:t>
            </a:r>
            <a:r>
              <a:rPr lang="en-US" sz="1400" dirty="0">
                <a:solidFill>
                  <a:schemeClr val="bg1"/>
                </a:solidFill>
              </a:rPr>
              <a:t> (Read first half by lecture.) </a:t>
            </a:r>
          </a:p>
          <a:p>
            <a:pPr marL="285750" indent="-228600" fontAlgn="ctr">
              <a:lnSpc>
                <a:spcPct val="90000"/>
              </a:lnSpc>
              <a:spcAft>
                <a:spcPts val="600"/>
              </a:spcAft>
              <a:buFont typeface="Arial" panose="020B0604020202020204" pitchFamily="34" charset="0"/>
              <a:buChar char="•"/>
            </a:pPr>
            <a:endParaRPr lang="en-US" sz="1400" dirty="0">
              <a:solidFill>
                <a:schemeClr val="bg1"/>
              </a:solidFill>
            </a:endParaRPr>
          </a:p>
          <a:p>
            <a:pPr marL="285750" indent="-228600" fontAlgn="ctr">
              <a:lnSpc>
                <a:spcPct val="90000"/>
              </a:lnSpc>
              <a:spcAft>
                <a:spcPts val="600"/>
              </a:spcAft>
              <a:buFont typeface="Arial" panose="020B0604020202020204" pitchFamily="34" charset="0"/>
              <a:buChar char="•"/>
            </a:pPr>
            <a:r>
              <a:rPr lang="en-CA" sz="1400" dirty="0">
                <a:solidFill>
                  <a:schemeClr val="bg1"/>
                </a:solidFill>
              </a:rPr>
              <a:t>Jorge Luis Borges, “</a:t>
            </a:r>
            <a:r>
              <a:rPr lang="en-CA" sz="1400" dirty="0">
                <a:solidFill>
                  <a:schemeClr val="bg1"/>
                </a:solidFill>
                <a:hlinkClick r:id="rId3"/>
              </a:rPr>
              <a:t>The Library of Babel</a:t>
            </a:r>
            <a:r>
              <a:rPr lang="en-CA" sz="1400" dirty="0">
                <a:solidFill>
                  <a:schemeClr val="bg1"/>
                </a:solidFill>
              </a:rPr>
              <a:t>.” 1941</a:t>
            </a:r>
            <a:endParaRPr lang="en-US" sz="1400" b="1" dirty="0">
              <a:solidFill>
                <a:schemeClr val="bg1"/>
              </a:solidFill>
            </a:endParaRPr>
          </a:p>
          <a:p>
            <a:pPr>
              <a:lnSpc>
                <a:spcPts val="1694"/>
              </a:lnSpc>
            </a:pPr>
            <a:endParaRPr lang="en-US" sz="1400" b="1" dirty="0">
              <a:solidFill>
                <a:srgbClr val="C00000">
                  <a:alpha val="99000"/>
                </a:srgbClr>
              </a:solidFill>
              <a:latin typeface="Inter" pitchFamily="34" charset="0"/>
              <a:ea typeface="Inter" pitchFamily="34" charset="-122"/>
            </a:endParaRPr>
          </a:p>
        </p:txBody>
      </p:sp>
      <p:sp>
        <p:nvSpPr>
          <p:cNvPr id="9" name="Text 6">
            <a:extLst>
              <a:ext uri="{FF2B5EF4-FFF2-40B4-BE49-F238E27FC236}">
                <a16:creationId xmlns:a16="http://schemas.microsoft.com/office/drawing/2014/main" id="{C11FC954-8C35-0BF4-7FFE-B2867B96B2B9}"/>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235652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6C027DDE-6820-A145-2B3C-3781D18CD3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A17DDC-99C8-1B86-A343-8EE7B902443A}"/>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A9F655FF-4B32-B7F5-0A63-62644CE80420}"/>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E8C8CF53-E5FA-8720-11E1-8A1BAF9721A8}"/>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B6F360A3-283D-BFBE-A1B1-A6214385BBE0}"/>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DC8CAAE-80BA-02C4-92F7-E64106876A14}"/>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266A6997-B232-30A2-0B46-1D015B9826DE}"/>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Week 4 Reading</a:t>
            </a:r>
          </a:p>
          <a:p>
            <a:pPr>
              <a:lnSpc>
                <a:spcPts val="1694"/>
              </a:lnSpc>
            </a:pPr>
            <a:endParaRPr lang="en-US" sz="1400" b="1" dirty="0">
              <a:solidFill>
                <a:srgbClr val="C00000">
                  <a:alpha val="99000"/>
                </a:srgbClr>
              </a:solidFill>
              <a:latin typeface="Inter" pitchFamily="34" charset="0"/>
              <a:ea typeface="Inter" pitchFamily="34" charset="-122"/>
            </a:endParaRPr>
          </a:p>
          <a:p>
            <a:pPr indent="-285750">
              <a:buFont typeface="Arial" panose="020B0604020202020204" pitchFamily="34" charset="0"/>
              <a:buChar char="•"/>
            </a:pPr>
            <a:r>
              <a:rPr lang="en-US" sz="1400" b="1" dirty="0">
                <a:solidFill>
                  <a:srgbClr val="BDE3FF">
                    <a:alpha val="99000"/>
                  </a:srgbClr>
                </a:solidFill>
                <a:latin typeface="Inter" pitchFamily="34" charset="0"/>
                <a:ea typeface="Inter" pitchFamily="34" charset="-122"/>
              </a:rPr>
              <a:t>McLuhan, Marshall. Selections from "</a:t>
            </a:r>
            <a:r>
              <a:rPr lang="en-US" sz="1400" b="1" dirty="0">
                <a:solidFill>
                  <a:srgbClr val="BDE3FF">
                    <a:alpha val="99000"/>
                  </a:srgbClr>
                </a:solidFill>
                <a:latin typeface="Inter" pitchFamily="34" charset="0"/>
                <a:ea typeface="Inter" pitchFamily="34" charset="-122"/>
                <a:hlinkClick r:id="rId3"/>
              </a:rPr>
              <a:t>The Medium is the Message</a:t>
            </a:r>
            <a:r>
              <a:rPr lang="en-US" sz="1400" b="1" dirty="0">
                <a:solidFill>
                  <a:srgbClr val="BDE3FF">
                    <a:alpha val="99000"/>
                  </a:srgbClr>
                </a:solidFill>
                <a:latin typeface="Inter" pitchFamily="34" charset="0"/>
                <a:ea typeface="Inter" pitchFamily="34" charset="-122"/>
              </a:rPr>
              <a:t>." From Understanding Media: The Extensions of Man. On Canvas Download On Canvas.</a:t>
            </a:r>
          </a:p>
          <a:p>
            <a:pPr marL="0" lvl="1"/>
            <a:r>
              <a:rPr lang="en-US" sz="1400" b="1" dirty="0">
                <a:solidFill>
                  <a:srgbClr val="BDE3FF">
                    <a:alpha val="99000"/>
                  </a:srgbClr>
                </a:solidFill>
                <a:latin typeface="Inter" pitchFamily="34" charset="0"/>
                <a:ea typeface="Inter" pitchFamily="34" charset="-122"/>
              </a:rPr>
              <a:t>Read </a:t>
            </a:r>
            <a:r>
              <a:rPr lang="en-US" sz="1400" b="1" dirty="0" err="1">
                <a:solidFill>
                  <a:srgbClr val="BDE3FF">
                    <a:alpha val="99000"/>
                  </a:srgbClr>
                </a:solidFill>
                <a:latin typeface="Inter" pitchFamily="34" charset="0"/>
                <a:ea typeface="Inter" pitchFamily="34" charset="-122"/>
              </a:rPr>
              <a:t>pg</a:t>
            </a:r>
            <a:r>
              <a:rPr lang="en-US" sz="1400" b="1" dirty="0">
                <a:solidFill>
                  <a:srgbClr val="BDE3FF">
                    <a:alpha val="99000"/>
                  </a:srgbClr>
                </a:solidFill>
                <a:latin typeface="Inter" pitchFamily="34" charset="0"/>
                <a:ea typeface="Inter" pitchFamily="34" charset="-122"/>
              </a:rPr>
              <a:t> 1-10 + </a:t>
            </a:r>
            <a:r>
              <a:rPr lang="en-US" sz="1400" b="1" dirty="0" err="1">
                <a:solidFill>
                  <a:srgbClr val="BDE3FF">
                    <a:alpha val="99000"/>
                  </a:srgbClr>
                </a:solidFill>
                <a:latin typeface="Inter" pitchFamily="34" charset="0"/>
                <a:ea typeface="Inter" pitchFamily="34" charset="-122"/>
              </a:rPr>
              <a:t>pg</a:t>
            </a:r>
            <a:r>
              <a:rPr lang="en-US" sz="1400" b="1" dirty="0">
                <a:solidFill>
                  <a:srgbClr val="BDE3FF">
                    <a:alpha val="99000"/>
                  </a:srgbClr>
                </a:solidFill>
                <a:latin typeface="Inter" pitchFamily="34" charset="0"/>
                <a:ea typeface="Inter" pitchFamily="34" charset="-122"/>
              </a:rPr>
              <a:t> 15.</a:t>
            </a:r>
          </a:p>
          <a:p>
            <a:pPr marL="0" lvl="1"/>
            <a:endParaRPr lang="en-US" sz="1400" b="1" dirty="0">
              <a:solidFill>
                <a:srgbClr val="BDE3FF">
                  <a:alpha val="99000"/>
                </a:srgbClr>
              </a:solidFill>
              <a:latin typeface="Inter" pitchFamily="34" charset="0"/>
              <a:ea typeface="Inter" pitchFamily="34" charset="-122"/>
            </a:endParaRPr>
          </a:p>
          <a:p>
            <a:pPr indent="-285750">
              <a:buFont typeface="Arial" panose="020B0604020202020204" pitchFamily="34" charset="0"/>
              <a:buChar char="•"/>
            </a:pPr>
            <a:r>
              <a:rPr lang="en-US" sz="1400" b="1" dirty="0">
                <a:solidFill>
                  <a:srgbClr val="BDE3FF">
                    <a:alpha val="99000"/>
                  </a:srgbClr>
                </a:solidFill>
                <a:latin typeface="Inter" pitchFamily="34" charset="0"/>
                <a:ea typeface="Inter" pitchFamily="34" charset="-122"/>
              </a:rPr>
              <a:t>Marx, Leo. Selections from "</a:t>
            </a:r>
            <a:r>
              <a:rPr lang="en-US" sz="1400" b="1" dirty="0">
                <a:solidFill>
                  <a:srgbClr val="BDE3FF">
                    <a:alpha val="99000"/>
                  </a:srgbClr>
                </a:solidFill>
                <a:latin typeface="Inter" pitchFamily="34" charset="0"/>
                <a:ea typeface="Inter" pitchFamily="34" charset="-122"/>
                <a:hlinkClick r:id="rId4"/>
              </a:rPr>
              <a:t>'Technology': The Emergence of a Hazardous Concept.</a:t>
            </a:r>
            <a:r>
              <a:rPr lang="en-US" sz="1400" b="1" dirty="0">
                <a:solidFill>
                  <a:srgbClr val="BDE3FF">
                    <a:alpha val="99000"/>
                  </a:srgbClr>
                </a:solidFill>
                <a:latin typeface="Inter" pitchFamily="34" charset="0"/>
                <a:ea typeface="Inter" pitchFamily="34" charset="-122"/>
              </a:rPr>
              <a:t>" Social Research. Vol.  64, no. 3. (available through UBCO Library)</a:t>
            </a:r>
          </a:p>
          <a:p>
            <a:pPr marL="0" lvl="1"/>
            <a:r>
              <a:rPr lang="en-US" sz="1400" b="1" dirty="0">
                <a:solidFill>
                  <a:srgbClr val="BDE3FF">
                    <a:alpha val="99000"/>
                  </a:srgbClr>
                </a:solidFill>
                <a:latin typeface="Inter" pitchFamily="34" charset="0"/>
                <a:ea typeface="Inter" pitchFamily="34" charset="-122"/>
              </a:rPr>
              <a:t>Read pg. 965-980</a:t>
            </a:r>
          </a:p>
          <a:p>
            <a:pPr marL="0" lvl="1"/>
            <a:endParaRPr lang="en-US" sz="1400" b="1" dirty="0">
              <a:solidFill>
                <a:srgbClr val="BDE3FF">
                  <a:alpha val="99000"/>
                </a:srgbClr>
              </a:solidFill>
              <a:latin typeface="Inter" pitchFamily="34" charset="0"/>
              <a:ea typeface="Inter" pitchFamily="34" charset="-122"/>
            </a:endParaRPr>
          </a:p>
          <a:p>
            <a:pPr indent="-285750">
              <a:buFont typeface="Arial" panose="020B0604020202020204" pitchFamily="34" charset="0"/>
              <a:buChar char="•"/>
            </a:pPr>
            <a:r>
              <a:rPr lang="en-CA" sz="1400" b="1" dirty="0">
                <a:solidFill>
                  <a:srgbClr val="BDE3FF">
                    <a:alpha val="99000"/>
                  </a:srgbClr>
                </a:solidFill>
                <a:latin typeface="Inter" pitchFamily="34" charset="0"/>
                <a:ea typeface="Inter" pitchFamily="34" charset="-122"/>
              </a:rPr>
              <a:t>Acheson, Katherine O. </a:t>
            </a:r>
            <a:r>
              <a:rPr lang="en-CA" sz="1400" b="1" dirty="0">
                <a:solidFill>
                  <a:srgbClr val="BDE3FF">
                    <a:alpha val="99000"/>
                  </a:srgbClr>
                </a:solidFill>
                <a:latin typeface="Inter" pitchFamily="34" charset="0"/>
                <a:ea typeface="Inter" pitchFamily="34" charset="-122"/>
                <a:hlinkClick r:id="rId5"/>
              </a:rPr>
              <a:t>Writing Essays About Literature</a:t>
            </a:r>
            <a:r>
              <a:rPr lang="en-CA" sz="1400" b="1" dirty="0">
                <a:solidFill>
                  <a:srgbClr val="BDE3FF">
                    <a:alpha val="99000"/>
                  </a:srgbClr>
                </a:solidFill>
                <a:latin typeface="Inter" pitchFamily="34" charset="0"/>
                <a:ea typeface="Inter" pitchFamily="34" charset="-122"/>
              </a:rPr>
              <a:t> (chapter 7 &amp; 8 available on canvas)</a:t>
            </a:r>
          </a:p>
        </p:txBody>
      </p:sp>
      <p:sp>
        <p:nvSpPr>
          <p:cNvPr id="9" name="Text 6">
            <a:extLst>
              <a:ext uri="{FF2B5EF4-FFF2-40B4-BE49-F238E27FC236}">
                <a16:creationId xmlns:a16="http://schemas.microsoft.com/office/drawing/2014/main" id="{A4627D39-DD00-1BF3-7524-2262051BD18D}"/>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416541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469004"/>
            <a:ext cx="9134748" cy="572700"/>
          </a:xfrm>
          <a:prstGeom prst="rect">
            <a:avLst/>
          </a:prstGeom>
          <a:noFill/>
          <a:ln/>
        </p:spPr>
        <p:txBody>
          <a:bodyPr/>
          <a:lstStyle/>
          <a:p>
            <a:endParaRPr lang="en-CA"/>
          </a:p>
        </p:txBody>
      </p:sp>
      <p:sp>
        <p:nvSpPr>
          <p:cNvPr id="4" name="Shape 2"/>
          <p:cNvSpPr/>
          <p:nvPr/>
        </p:nvSpPr>
        <p:spPr>
          <a:xfrm>
            <a:off x="639128" y="1046230"/>
            <a:ext cx="7863935" cy="3303392"/>
          </a:xfrm>
          <a:prstGeom prst="rect">
            <a:avLst/>
          </a:prstGeom>
          <a:noFill/>
          <a:ln/>
        </p:spPr>
        <p:txBody>
          <a:bodyPr/>
          <a:lstStyle/>
          <a:p>
            <a:endParaRPr lang="en-CA"/>
          </a:p>
        </p:txBody>
      </p:sp>
      <p:sp>
        <p:nvSpPr>
          <p:cNvPr id="5" name="Shape 3"/>
          <p:cNvSpPr/>
          <p:nvPr/>
        </p:nvSpPr>
        <p:spPr>
          <a:xfrm>
            <a:off x="639128" y="1046230"/>
            <a:ext cx="7863935" cy="3303392"/>
          </a:xfrm>
          <a:prstGeom prst="rect">
            <a:avLst/>
          </a:prstGeom>
          <a:noFill/>
          <a:ln/>
        </p:spPr>
        <p:txBody>
          <a:bodyPr/>
          <a:lstStyle/>
          <a:p>
            <a:endParaRPr lang="en-CA"/>
          </a:p>
        </p:txBody>
      </p:sp>
      <p:sp>
        <p:nvSpPr>
          <p:cNvPr id="6" name="Shape 4"/>
          <p:cNvSpPr/>
          <p:nvPr/>
        </p:nvSpPr>
        <p:spPr>
          <a:xfrm>
            <a:off x="8623" y="469004"/>
            <a:ext cx="9134748" cy="572700"/>
          </a:xfrm>
          <a:prstGeom prst="rect">
            <a:avLst/>
          </a:prstGeom>
          <a:noFill/>
          <a:ln/>
        </p:spPr>
        <p:txBody>
          <a:bodyPr/>
          <a:lstStyle/>
          <a:p>
            <a:endParaRPr lang="en-CA"/>
          </a:p>
        </p:txBody>
      </p:sp>
      <p:pic>
        <p:nvPicPr>
          <p:cNvPr id="8" name="Image 1" descr="preencoded.png"/>
          <p:cNvPicPr>
            <a:picLocks noChangeAspect="1"/>
          </p:cNvPicPr>
          <p:nvPr/>
        </p:nvPicPr>
        <p:blipFill>
          <a:blip r:embed="rId3"/>
          <a:srcRect t="10886"/>
          <a:stretch>
            <a:fillRect/>
          </a:stretch>
        </p:blipFill>
        <p:spPr>
          <a:xfrm>
            <a:off x="3027180" y="1409550"/>
            <a:ext cx="4862066" cy="2642572"/>
          </a:xfrm>
          <a:prstGeom prst="rect">
            <a:avLst/>
          </a:prstGeom>
        </p:spPr>
      </p:pic>
      <p:sp>
        <p:nvSpPr>
          <p:cNvPr id="9" name="Text 5"/>
          <p:cNvSpPr/>
          <p:nvPr/>
        </p:nvSpPr>
        <p:spPr>
          <a:xfrm>
            <a:off x="639128" y="1046230"/>
            <a:ext cx="8321135" cy="3303392"/>
          </a:xfrm>
          <a:prstGeom prst="rect">
            <a:avLst/>
          </a:prstGeom>
          <a:noFill/>
          <a:ln/>
        </p:spPr>
        <p:txBody>
          <a:bodyPr wrap="square" rtlCol="0" anchor="ctr"/>
          <a:lstStyle/>
          <a:p>
            <a:pPr marL="0" indent="0" algn="l">
              <a:lnSpc>
                <a:spcPts val="2496"/>
              </a:lnSpc>
              <a:buNone/>
            </a:pPr>
            <a:r>
              <a:rPr lang="en-US" sz="2063" dirty="0">
                <a:solidFill>
                  <a:srgbClr val="BDE3FF">
                    <a:alpha val="99000"/>
                  </a:srgbClr>
                </a:solidFill>
                <a:latin typeface="Inter" pitchFamily="34" charset="0"/>
                <a:ea typeface="Inter" pitchFamily="34" charset="-122"/>
                <a:cs typeface="Inter" pitchFamily="34" charset="-120"/>
              </a:rPr>
              <a:t>Office Hours</a:t>
            </a:r>
          </a:p>
          <a:p>
            <a:pPr marL="0" indent="0" algn="l">
              <a:lnSpc>
                <a:spcPts val="2496"/>
              </a:lnSpc>
              <a:buNone/>
            </a:pPr>
            <a:endParaRPr lang="en-US" sz="2063" dirty="0">
              <a:solidFill>
                <a:srgbClr val="BDE3FF">
                  <a:alpha val="99000"/>
                </a:srgbClr>
              </a:solidFill>
              <a:latin typeface="Inter" pitchFamily="34" charset="0"/>
              <a:ea typeface="Inter" pitchFamily="34" charset="-122"/>
              <a:cs typeface="Inter" pitchFamily="34" charset="-120"/>
            </a:endParaRPr>
          </a:p>
          <a:p>
            <a:pPr marL="0" indent="0" algn="l">
              <a:lnSpc>
                <a:spcPts val="2496"/>
              </a:lnSpc>
              <a:buNone/>
            </a:pPr>
            <a:r>
              <a:rPr lang="en-US" sz="2063" dirty="0">
                <a:solidFill>
                  <a:srgbClr val="BDE3FF">
                    <a:alpha val="99000"/>
                  </a:srgbClr>
                </a:solidFill>
                <a:latin typeface="Inter" pitchFamily="34" charset="0"/>
                <a:ea typeface="Inter" pitchFamily="34" charset="-122"/>
                <a:hlinkClick r:id="rId4"/>
              </a:rPr>
              <a:t>Sign Up Sheet</a:t>
            </a:r>
            <a:endParaRPr lang="en-US" sz="2063" dirty="0"/>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r>
              <a:rPr lang="en-US" sz="1238" dirty="0">
                <a:solidFill>
                  <a:srgbClr val="BDE3FF">
                    <a:alpha val="99000"/>
                  </a:srgbClr>
                </a:solidFill>
                <a:latin typeface="Inter" pitchFamily="34" charset="0"/>
                <a:ea typeface="Inter" pitchFamily="34" charset="-122"/>
                <a:cs typeface="Inter" pitchFamily="34" charset="-120"/>
              </a:rPr>
              <a:t>Fridays 10:00 – 12:00</a:t>
            </a:r>
          </a:p>
          <a:p>
            <a:pPr marL="0" indent="0" algn="l">
              <a:lnSpc>
                <a:spcPts val="1498"/>
              </a:lnSpc>
              <a:buNone/>
            </a:pPr>
            <a:endParaRPr lang="en-US" sz="1238" dirty="0">
              <a:solidFill>
                <a:srgbClr val="BDE3FF">
                  <a:alpha val="99000"/>
                </a:srgbClr>
              </a:solidFill>
              <a:latin typeface="Inter" pitchFamily="34" charset="0"/>
              <a:ea typeface="Inter" pitchFamily="34" charset="-122"/>
            </a:endParaRPr>
          </a:p>
        </p:txBody>
      </p:sp>
      <p:sp>
        <p:nvSpPr>
          <p:cNvPr id="10" name="Text 6"/>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72AF-E845-A236-73C4-DA32CDB3590C}"/>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A8F134A3-C50C-49D8-F58C-59EE3327095A}"/>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943C113F-F953-985A-8E85-562841CC2038}"/>
              </a:ext>
            </a:extLst>
          </p:cNvPr>
          <p:cNvSpPr/>
          <p:nvPr/>
        </p:nvSpPr>
        <p:spPr>
          <a:xfrm>
            <a:off x="438815" y="1284076"/>
            <a:ext cx="8162458" cy="6035498"/>
          </a:xfrm>
          <a:prstGeom prst="rect">
            <a:avLst/>
          </a:prstGeom>
          <a:noFill/>
          <a:ln/>
        </p:spPr>
        <p:txBody>
          <a:bodyPr/>
          <a:lstStyle/>
          <a:p>
            <a:endParaRPr lang="en-CA"/>
          </a:p>
        </p:txBody>
      </p:sp>
      <p:sp>
        <p:nvSpPr>
          <p:cNvPr id="5" name="Shape 2">
            <a:extLst>
              <a:ext uri="{FF2B5EF4-FFF2-40B4-BE49-F238E27FC236}">
                <a16:creationId xmlns:a16="http://schemas.microsoft.com/office/drawing/2014/main" id="{E3D8681D-FDA3-5C74-ACD4-BD7FA28B160B}"/>
              </a:ext>
            </a:extLst>
          </p:cNvPr>
          <p:cNvSpPr/>
          <p:nvPr/>
        </p:nvSpPr>
        <p:spPr>
          <a:xfrm>
            <a:off x="438815" y="1284076"/>
            <a:ext cx="8162458" cy="6035498"/>
          </a:xfrm>
          <a:prstGeom prst="rect">
            <a:avLst/>
          </a:prstGeom>
          <a:noFill/>
          <a:ln/>
        </p:spPr>
        <p:txBody>
          <a:bodyPr/>
          <a:lstStyle/>
          <a:p>
            <a:endParaRPr lang="en-CA"/>
          </a:p>
        </p:txBody>
      </p:sp>
      <p:sp>
        <p:nvSpPr>
          <p:cNvPr id="7" name="Text 3">
            <a:extLst>
              <a:ext uri="{FF2B5EF4-FFF2-40B4-BE49-F238E27FC236}">
                <a16:creationId xmlns:a16="http://schemas.microsoft.com/office/drawing/2014/main" id="{1215D52D-3FCE-C1F2-37FF-B8CEFBAFD3E0}"/>
              </a:ext>
            </a:extLst>
          </p:cNvPr>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10 minutes Writing Prompts</a:t>
            </a:r>
            <a:endParaRPr lang="en-US" sz="2475" dirty="0">
              <a:solidFill>
                <a:schemeClr val="accent1">
                  <a:lumMod val="75000"/>
                </a:schemeClr>
              </a:solidFill>
            </a:endParaRPr>
          </a:p>
        </p:txBody>
      </p:sp>
      <p:sp>
        <p:nvSpPr>
          <p:cNvPr id="8" name="Text 4">
            <a:extLst>
              <a:ext uri="{FF2B5EF4-FFF2-40B4-BE49-F238E27FC236}">
                <a16:creationId xmlns:a16="http://schemas.microsoft.com/office/drawing/2014/main" id="{90758650-DB86-1AB4-B732-DC79F669B8BB}"/>
              </a:ext>
            </a:extLst>
          </p:cNvPr>
          <p:cNvSpPr/>
          <p:nvPr/>
        </p:nvSpPr>
        <p:spPr>
          <a:xfrm>
            <a:off x="735330" y="1241108"/>
            <a:ext cx="7726680" cy="3163252"/>
          </a:xfrm>
          <a:prstGeom prst="rect">
            <a:avLst/>
          </a:prstGeom>
          <a:noFill/>
          <a:ln/>
        </p:spPr>
        <p:txBody>
          <a:bodyPr wrap="square" rtlCol="0" anchor="ctr"/>
          <a:lstStyle/>
          <a:p>
            <a:endParaRPr lang="en-US" sz="2000" dirty="0"/>
          </a:p>
        </p:txBody>
      </p:sp>
      <p:sp>
        <p:nvSpPr>
          <p:cNvPr id="6" name="文本框 5">
            <a:extLst>
              <a:ext uri="{FF2B5EF4-FFF2-40B4-BE49-F238E27FC236}">
                <a16:creationId xmlns:a16="http://schemas.microsoft.com/office/drawing/2014/main" id="{C9C6FF0C-D617-7221-9FF3-46B6B2BC2F90}"/>
              </a:ext>
            </a:extLst>
          </p:cNvPr>
          <p:cNvSpPr txBox="1"/>
          <p:nvPr/>
        </p:nvSpPr>
        <p:spPr>
          <a:xfrm>
            <a:off x="681990" y="1235398"/>
            <a:ext cx="7575854" cy="3400931"/>
          </a:xfrm>
          <a:prstGeom prst="rect">
            <a:avLst/>
          </a:prstGeom>
          <a:noFill/>
        </p:spPr>
        <p:txBody>
          <a:bodyPr wrap="square">
            <a:spAutoFit/>
          </a:bodyPr>
          <a:lstStyle/>
          <a:p>
            <a:r>
              <a:rPr lang="en-US" sz="1600" i="1" dirty="0"/>
              <a:t>‘</a:t>
            </a:r>
            <a:r>
              <a:rPr lang="en-US" sz="1600" i="1" dirty="0">
                <a:hlinkClick r:id="rId3"/>
              </a:rPr>
              <a:t>Technology</a:t>
            </a:r>
            <a:r>
              <a:rPr lang="en-US" sz="1600" i="1" dirty="0"/>
              <a:t>’ and ‘</a:t>
            </a:r>
            <a:r>
              <a:rPr lang="en-US" sz="1600" i="1" dirty="0">
                <a:hlinkClick r:id="rId4"/>
              </a:rPr>
              <a:t>The Medium</a:t>
            </a:r>
            <a:r>
              <a:rPr lang="en-US" sz="1600" i="1" dirty="0"/>
              <a:t>’ </a:t>
            </a:r>
            <a:r>
              <a:rPr lang="en-US" sz="1600" dirty="0"/>
              <a:t>(Marx ; McLuhan)</a:t>
            </a:r>
          </a:p>
          <a:p>
            <a:r>
              <a:rPr lang="en-US" sz="1600" dirty="0"/>
              <a:t>Did you notice any similar themes within these readings? If so, what were they? </a:t>
            </a:r>
          </a:p>
          <a:p>
            <a:r>
              <a:rPr lang="en-US" sz="1600" dirty="0"/>
              <a:t>How have any of these readings helped you better understand contemporary digital technologies that you use? If these readings did not help you understand the technologies/mediums being used, what new concepts are you beginning to grasp?</a:t>
            </a:r>
          </a:p>
          <a:p>
            <a:r>
              <a:rPr lang="en-US" sz="1600" dirty="0"/>
              <a:t>What aspects of these readings did you find particularly difficult? How might we address these issues as a class?</a:t>
            </a:r>
          </a:p>
          <a:p>
            <a:endParaRPr kumimoji="0" lang="en-CA" sz="700" b="0" u="none" strike="noStrike" kern="1200" cap="none" spc="0" normalizeH="0" baseline="0" noProof="0" dirty="0">
              <a:ln>
                <a:noFill/>
              </a:ln>
              <a:effectLst/>
              <a:uLnTx/>
              <a:uFillTx/>
              <a:ea typeface="+mn-ea"/>
              <a:cs typeface="+mn-cs"/>
            </a:endParaRPr>
          </a:p>
          <a:p>
            <a:pPr marL="0" indent="0">
              <a:buNone/>
            </a:pPr>
            <a:r>
              <a:rPr kumimoji="0" lang="en-CA" sz="1600" b="0" i="1" u="none" strike="noStrike" kern="1200" cap="none" spc="0" normalizeH="0" baseline="0" noProof="0" dirty="0">
                <a:ln>
                  <a:noFill/>
                </a:ln>
                <a:effectLst/>
                <a:uLnTx/>
                <a:uFillTx/>
                <a:ea typeface="+mn-ea"/>
                <a:cs typeface="+mn-cs"/>
                <a:hlinkClick r:id="rId5"/>
              </a:rPr>
              <a:t>Writing Essays About Literature </a:t>
            </a:r>
            <a:r>
              <a:rPr kumimoji="0" lang="en-CA" sz="1600" b="0" u="none" strike="noStrike" kern="1200" cap="none" spc="0" normalizeH="0" baseline="0" noProof="0" dirty="0">
                <a:ln>
                  <a:noFill/>
                </a:ln>
                <a:effectLst/>
                <a:uLnTx/>
                <a:uFillTx/>
                <a:ea typeface="+mn-ea"/>
                <a:cs typeface="+mn-cs"/>
              </a:rPr>
              <a:t>(Acheson)</a:t>
            </a:r>
            <a:endParaRPr kumimoji="0" lang="en-CA" sz="1600" b="0" i="1" u="none" strike="noStrike" kern="1200" cap="none" spc="0" normalizeH="0" baseline="0" noProof="0" dirty="0">
              <a:ln>
                <a:noFill/>
              </a:ln>
              <a:effectLst/>
              <a:uLnTx/>
              <a:uFillTx/>
              <a:ea typeface="+mn-ea"/>
              <a:cs typeface="+mn-cs"/>
            </a:endParaRPr>
          </a:p>
          <a:p>
            <a:r>
              <a:rPr kumimoji="0" lang="en-CA" sz="1600" b="0" i="0" u="none" strike="noStrike" kern="1200" cap="none" spc="0" normalizeH="0" baseline="0" noProof="0" dirty="0">
                <a:ln>
                  <a:noFill/>
                </a:ln>
                <a:effectLst/>
                <a:uLnTx/>
                <a:uFillTx/>
                <a:ea typeface="+mn-ea"/>
                <a:cs typeface="+mn-cs"/>
              </a:rPr>
              <a:t>Why do you think Acheson suggests that you gather evidence BEFORE coming up with an argument?</a:t>
            </a:r>
          </a:p>
          <a:p>
            <a:r>
              <a:rPr kumimoji="0" lang="en-US" sz="1600" b="0" i="0" u="none" strike="noStrike" kern="1200" cap="none" spc="0" normalizeH="0" baseline="0" noProof="0" dirty="0">
                <a:ln>
                  <a:noFill/>
                </a:ln>
                <a:effectLst/>
                <a:uLnTx/>
                <a:uFillTx/>
                <a:ea typeface="+mn-ea"/>
                <a:cs typeface="+mn-cs"/>
              </a:rPr>
              <a:t>What is ‘charting your evidence’ and why is it useful for writers of literary criticism (That’s you!)</a:t>
            </a:r>
          </a:p>
          <a:p>
            <a:r>
              <a:rPr lang="en-US" sz="1600" dirty="0"/>
              <a:t>How have you gathered evidence for critical literary papers in previous classes? </a:t>
            </a:r>
            <a:endParaRPr kumimoji="0" lang="en-US" sz="1050" b="0" i="0" u="none" strike="noStrike" kern="1200" cap="none" spc="0" normalizeH="0" baseline="0" noProof="0" dirty="0">
              <a:ln>
                <a:noFill/>
              </a:ln>
              <a:effectLst/>
              <a:uLnTx/>
              <a:uFillTx/>
              <a:ea typeface="+mn-ea"/>
              <a:cs typeface="+mn-cs"/>
            </a:endParaRPr>
          </a:p>
        </p:txBody>
      </p:sp>
    </p:spTree>
    <p:extLst>
      <p:ext uri="{BB962C8B-B14F-4D97-AF65-F5344CB8AC3E}">
        <p14:creationId xmlns:p14="http://schemas.microsoft.com/office/powerpoint/2010/main" val="3491574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F59BD-8BF2-190F-BE6D-BD8D2DE651EF}"/>
              </a:ext>
            </a:extLst>
          </p:cNvPr>
          <p:cNvSpPr txBox="1">
            <a:spLocks/>
          </p:cNvSpPr>
          <p:nvPr/>
        </p:nvSpPr>
        <p:spPr>
          <a:xfrm>
            <a:off x="838200" y="365125"/>
            <a:ext cx="10515600"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dirty="0"/>
              <a:t>Essays 1 overall issues</a:t>
            </a:r>
          </a:p>
        </p:txBody>
      </p:sp>
      <p:sp>
        <p:nvSpPr>
          <p:cNvPr id="3" name="Content Placeholder 2">
            <a:extLst>
              <a:ext uri="{FF2B5EF4-FFF2-40B4-BE49-F238E27FC236}">
                <a16:creationId xmlns:a16="http://schemas.microsoft.com/office/drawing/2014/main" id="{3DBA07A7-E0FA-BE42-D378-ACBF743B69AB}"/>
              </a:ext>
            </a:extLst>
          </p:cNvPr>
          <p:cNvSpPr txBox="1">
            <a:spLocks/>
          </p:cNvSpPr>
          <p:nvPr/>
        </p:nvSpPr>
        <p:spPr>
          <a:xfrm>
            <a:off x="838200" y="1169987"/>
            <a:ext cx="7386638" cy="307975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Reading the instructions</a:t>
            </a:r>
          </a:p>
          <a:p>
            <a:pPr lvl="1"/>
            <a:r>
              <a:rPr lang="en-US" sz="1200" dirty="0"/>
              <a:t>Be careful, be methodical, read them in full. </a:t>
            </a:r>
          </a:p>
          <a:p>
            <a:pPr lvl="1"/>
            <a:r>
              <a:rPr lang="en-US" altLang="zh-CN" sz="1200" dirty="0"/>
              <a:t>Introduction structure</a:t>
            </a:r>
            <a:r>
              <a:rPr lang="en-CA" altLang="zh-CN" sz="1200" dirty="0"/>
              <a:t>.</a:t>
            </a:r>
          </a:p>
          <a:p>
            <a:pPr marL="457200" lvl="1" indent="0">
              <a:buNone/>
            </a:pPr>
            <a:endParaRPr lang="en-US" sz="1200" dirty="0"/>
          </a:p>
          <a:p>
            <a:r>
              <a:rPr lang="en-US" sz="1400" dirty="0"/>
              <a:t>Formality in academic writing</a:t>
            </a:r>
          </a:p>
          <a:p>
            <a:pPr lvl="1"/>
            <a:r>
              <a:rPr lang="en-US" sz="1200" dirty="0"/>
              <a:t>Use of contractions in academic writing</a:t>
            </a:r>
          </a:p>
          <a:p>
            <a:pPr lvl="1"/>
            <a:r>
              <a:rPr lang="en-US" sz="1200" dirty="0"/>
              <a:t>Wording choice</a:t>
            </a:r>
          </a:p>
          <a:p>
            <a:pPr marL="457200" lvl="1" indent="0">
              <a:buNone/>
            </a:pPr>
            <a:endParaRPr lang="en-US" sz="1200" dirty="0"/>
          </a:p>
          <a:p>
            <a:r>
              <a:rPr lang="en-US" sz="1400" dirty="0"/>
              <a:t>Expansion and including a clear bridge</a:t>
            </a:r>
          </a:p>
          <a:p>
            <a:r>
              <a:rPr lang="en-US" sz="1400" dirty="0"/>
              <a:t>MLA formatting </a:t>
            </a:r>
          </a:p>
          <a:p>
            <a:pPr lvl="1"/>
            <a:r>
              <a:rPr lang="en-US" sz="1200" dirty="0"/>
              <a:t>In-text citations</a:t>
            </a:r>
          </a:p>
          <a:p>
            <a:pPr lvl="1"/>
            <a:r>
              <a:rPr lang="en-US" sz="1200" dirty="0"/>
              <a:t>Incorporating quotations</a:t>
            </a:r>
          </a:p>
          <a:p>
            <a:pPr lvl="1"/>
            <a:r>
              <a:rPr lang="en-US" sz="1200" dirty="0"/>
              <a:t>Works Cited pages</a:t>
            </a:r>
          </a:p>
          <a:p>
            <a:pPr marL="0" indent="0">
              <a:buFont typeface="Arial" pitchFamily="34" charset="0"/>
              <a:buNone/>
            </a:pPr>
            <a:endParaRPr lang="en-US" sz="1400" dirty="0"/>
          </a:p>
          <a:p>
            <a:endParaRPr lang="en-US" sz="1400" dirty="0"/>
          </a:p>
        </p:txBody>
      </p:sp>
    </p:spTree>
    <p:extLst>
      <p:ext uri="{BB962C8B-B14F-4D97-AF65-F5344CB8AC3E}">
        <p14:creationId xmlns:p14="http://schemas.microsoft.com/office/powerpoint/2010/main" val="40750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7A10-D149-6B34-FCEB-09969E5BBBD0}"/>
              </a:ext>
            </a:extLst>
          </p:cNvPr>
          <p:cNvSpPr>
            <a:spLocks noGrp="1"/>
          </p:cNvSpPr>
          <p:nvPr>
            <p:ph type="title"/>
          </p:nvPr>
        </p:nvSpPr>
        <p:spPr>
          <a:xfrm>
            <a:off x="350041" y="440142"/>
            <a:ext cx="2401025" cy="2540623"/>
          </a:xfrm>
        </p:spPr>
        <p:txBody>
          <a:bodyPr anchor="b">
            <a:normAutofit/>
          </a:bodyPr>
          <a:lstStyle/>
          <a:p>
            <a:pPr algn="l"/>
            <a:r>
              <a:rPr lang="en-US" sz="3000" dirty="0">
                <a:solidFill>
                  <a:schemeClr val="tx1">
                    <a:lumMod val="85000"/>
                    <a:lumOff val="15000"/>
                  </a:schemeClr>
                </a:solidFill>
              </a:rPr>
              <a:t>Themes of the course </a:t>
            </a:r>
            <a:br>
              <a:rPr lang="en-US" sz="3000" dirty="0">
                <a:solidFill>
                  <a:schemeClr val="tx1">
                    <a:lumMod val="85000"/>
                    <a:lumOff val="15000"/>
                  </a:schemeClr>
                </a:solidFill>
              </a:rPr>
            </a:br>
            <a:r>
              <a:rPr lang="en-US" sz="3000" dirty="0">
                <a:solidFill>
                  <a:schemeClr val="tx1">
                    <a:lumMod val="85000"/>
                    <a:lumOff val="15000"/>
                  </a:schemeClr>
                </a:solidFill>
              </a:rPr>
              <a:t>(from the syllabus)</a:t>
            </a:r>
          </a:p>
        </p:txBody>
      </p:sp>
      <p:sp>
        <p:nvSpPr>
          <p:cNvPr id="3" name="Content Placeholder 2">
            <a:extLst>
              <a:ext uri="{FF2B5EF4-FFF2-40B4-BE49-F238E27FC236}">
                <a16:creationId xmlns:a16="http://schemas.microsoft.com/office/drawing/2014/main" id="{18581142-E69A-44EE-F215-EBD533F77EC9}"/>
              </a:ext>
            </a:extLst>
          </p:cNvPr>
          <p:cNvSpPr>
            <a:spLocks noGrp="1"/>
          </p:cNvSpPr>
          <p:nvPr>
            <p:ph idx="1"/>
          </p:nvPr>
        </p:nvSpPr>
        <p:spPr>
          <a:xfrm>
            <a:off x="3607695" y="487111"/>
            <a:ext cx="4916510" cy="4159535"/>
          </a:xfrm>
        </p:spPr>
        <p:txBody>
          <a:bodyPr anchor="ctr">
            <a:normAutofit/>
          </a:bodyPr>
          <a:lstStyle/>
          <a:p>
            <a:pPr marL="0" indent="0">
              <a:buNone/>
            </a:pPr>
            <a:r>
              <a:rPr lang="en-US" sz="1500" dirty="0"/>
              <a:t>When analyzing our own experiences with technology—especially digital technologies—how do we move beyond merely subjective or utility-focused responses? </a:t>
            </a:r>
          </a:p>
          <a:p>
            <a:pPr marL="0" indent="0">
              <a:buNone/>
            </a:pPr>
            <a:r>
              <a:rPr lang="en-US" sz="1500" dirty="0">
                <a:highlight>
                  <a:srgbClr val="00FFFF"/>
                </a:highlight>
              </a:rPr>
              <a:t>When writing about digital literature, how do we understand the way that histories of technology have shaped what media forms can express? How do we understand our role in producing and consuming digital media? </a:t>
            </a:r>
          </a:p>
          <a:p>
            <a:pPr marL="0" indent="0">
              <a:buNone/>
            </a:pPr>
            <a:r>
              <a:rPr lang="en-US" sz="1500" dirty="0"/>
              <a:t>Over the last half century, scholars of media, technology, and culture have developed a number of useful approaches to analyzing and engaging in technologies both new and old, to the point where we have a “toolkit” of critical strategies available to us. In this course, we will engage with a variety of cultural products across media platforms—such as digital, print, visual, or sound media—and learn how to analyze them using some of these critical strategies. </a:t>
            </a:r>
          </a:p>
        </p:txBody>
      </p:sp>
    </p:spTree>
    <p:extLst>
      <p:ext uri="{BB962C8B-B14F-4D97-AF65-F5344CB8AC3E}">
        <p14:creationId xmlns:p14="http://schemas.microsoft.com/office/powerpoint/2010/main" val="346034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2CE7655E-1E05-BF94-B9C1-B1227C00407F}"/>
              </a:ext>
            </a:extLst>
          </p:cNvPr>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Group work: Finding and creating definitions</a:t>
            </a:r>
          </a:p>
        </p:txBody>
      </p:sp>
      <p:grpSp>
        <p:nvGrpSpPr>
          <p:cNvPr id="3" name="组合 2">
            <a:extLst>
              <a:ext uri="{FF2B5EF4-FFF2-40B4-BE49-F238E27FC236}">
                <a16:creationId xmlns:a16="http://schemas.microsoft.com/office/drawing/2014/main" id="{F037D924-F8BB-E97D-2B5C-4D7B404248BB}"/>
              </a:ext>
            </a:extLst>
          </p:cNvPr>
          <p:cNvGrpSpPr/>
          <p:nvPr/>
        </p:nvGrpSpPr>
        <p:grpSpPr>
          <a:xfrm>
            <a:off x="438955" y="1133292"/>
            <a:ext cx="7745524" cy="727284"/>
            <a:chOff x="0" y="1071918"/>
            <a:chExt cx="3414946" cy="2048967"/>
          </a:xfrm>
        </p:grpSpPr>
        <p:sp>
          <p:nvSpPr>
            <p:cNvPr id="10" name="矩形 9">
              <a:extLst>
                <a:ext uri="{FF2B5EF4-FFF2-40B4-BE49-F238E27FC236}">
                  <a16:creationId xmlns:a16="http://schemas.microsoft.com/office/drawing/2014/main" id="{FB00C3EC-39F1-B583-CCAA-59216AF57009}"/>
                </a:ext>
              </a:extLst>
            </p:cNvPr>
            <p:cNvSpPr/>
            <p:nvPr/>
          </p:nvSpPr>
          <p:spPr>
            <a:xfrm>
              <a:off x="0" y="1071918"/>
              <a:ext cx="3414946" cy="2048967"/>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CA" sz="1200"/>
            </a:p>
          </p:txBody>
        </p:sp>
        <p:sp>
          <p:nvSpPr>
            <p:cNvPr id="11" name="文本框 10">
              <a:extLst>
                <a:ext uri="{FF2B5EF4-FFF2-40B4-BE49-F238E27FC236}">
                  <a16:creationId xmlns:a16="http://schemas.microsoft.com/office/drawing/2014/main" id="{D28CB19B-3E77-1427-9E54-1CF1255BCDA0}"/>
                </a:ext>
              </a:extLst>
            </p:cNvPr>
            <p:cNvSpPr txBox="1"/>
            <p:nvPr/>
          </p:nvSpPr>
          <p:spPr>
            <a:xfrm>
              <a:off x="0" y="1071918"/>
              <a:ext cx="3414946" cy="20489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99060" rIns="99060" bIns="99060" numCol="1" spcCol="1270" anchor="ctr" anchorCtr="0">
              <a:noAutofit/>
            </a:bodyPr>
            <a:lstStyle/>
            <a:p>
              <a:pPr marL="0" lvl="0" indent="0" defTabSz="1155700">
                <a:lnSpc>
                  <a:spcPct val="90000"/>
                </a:lnSpc>
                <a:spcBef>
                  <a:spcPct val="0"/>
                </a:spcBef>
                <a:spcAft>
                  <a:spcPct val="35000"/>
                </a:spcAft>
                <a:buNone/>
              </a:pPr>
              <a:r>
                <a:rPr lang="en-US" kern="1200" dirty="0"/>
                <a:t>Find terms within </a:t>
              </a:r>
              <a:r>
                <a:rPr lang="en-US" kern="1200" dirty="0">
                  <a:hlinkClick r:id="rId2"/>
                </a:rPr>
                <a:t>McLuhan</a:t>
              </a:r>
              <a:r>
                <a:rPr lang="en-US" kern="1200" dirty="0"/>
                <a:t> or Marx’s work that relate to themes of the course</a:t>
              </a:r>
            </a:p>
          </p:txBody>
        </p:sp>
      </p:grpSp>
      <p:grpSp>
        <p:nvGrpSpPr>
          <p:cNvPr id="4" name="组合 3">
            <a:extLst>
              <a:ext uri="{FF2B5EF4-FFF2-40B4-BE49-F238E27FC236}">
                <a16:creationId xmlns:a16="http://schemas.microsoft.com/office/drawing/2014/main" id="{4357D62E-4164-2CB9-AC35-5FD03BEDE5D7}"/>
              </a:ext>
            </a:extLst>
          </p:cNvPr>
          <p:cNvGrpSpPr/>
          <p:nvPr/>
        </p:nvGrpSpPr>
        <p:grpSpPr>
          <a:xfrm>
            <a:off x="438955" y="1959026"/>
            <a:ext cx="7745524" cy="890678"/>
            <a:chOff x="3756441" y="1071918"/>
            <a:chExt cx="3414946" cy="2048967"/>
          </a:xfrm>
        </p:grpSpPr>
        <p:sp>
          <p:nvSpPr>
            <p:cNvPr id="8" name="矩形 7">
              <a:extLst>
                <a:ext uri="{FF2B5EF4-FFF2-40B4-BE49-F238E27FC236}">
                  <a16:creationId xmlns:a16="http://schemas.microsoft.com/office/drawing/2014/main" id="{203C4A35-45A1-C381-BCB8-824371A1D7C1}"/>
                </a:ext>
              </a:extLst>
            </p:cNvPr>
            <p:cNvSpPr/>
            <p:nvPr/>
          </p:nvSpPr>
          <p:spPr>
            <a:xfrm>
              <a:off x="3756441" y="1071918"/>
              <a:ext cx="3414946" cy="2048967"/>
            </a:xfrm>
            <a:prstGeom prst="rect">
              <a:avLst/>
            </a:prstGeom>
          </p:spPr>
          <p:style>
            <a:lnRef idx="2">
              <a:schemeClr val="lt1">
                <a:hueOff val="0"/>
                <a:satOff val="0"/>
                <a:lumOff val="0"/>
                <a:alphaOff val="0"/>
              </a:schemeClr>
            </a:lnRef>
            <a:fillRef idx="1">
              <a:schemeClr val="accent2">
                <a:hueOff val="3221807"/>
                <a:satOff val="-9246"/>
                <a:lumOff val="-14805"/>
                <a:alphaOff val="0"/>
              </a:schemeClr>
            </a:fillRef>
            <a:effectRef idx="0">
              <a:schemeClr val="accent2">
                <a:hueOff val="3221807"/>
                <a:satOff val="-9246"/>
                <a:lumOff val="-14805"/>
                <a:alphaOff val="0"/>
              </a:schemeClr>
            </a:effectRef>
            <a:fontRef idx="minor">
              <a:schemeClr val="lt1"/>
            </a:fontRef>
          </p:style>
          <p:txBody>
            <a:bodyPr/>
            <a:lstStyle/>
            <a:p>
              <a:endParaRPr lang="en-CA" sz="1200"/>
            </a:p>
          </p:txBody>
        </p:sp>
        <p:sp>
          <p:nvSpPr>
            <p:cNvPr id="9" name="文本框 8">
              <a:extLst>
                <a:ext uri="{FF2B5EF4-FFF2-40B4-BE49-F238E27FC236}">
                  <a16:creationId xmlns:a16="http://schemas.microsoft.com/office/drawing/2014/main" id="{53FF3EF3-47BE-1C44-4D30-EA6F8E52EA82}"/>
                </a:ext>
              </a:extLst>
            </p:cNvPr>
            <p:cNvSpPr txBox="1"/>
            <p:nvPr/>
          </p:nvSpPr>
          <p:spPr>
            <a:xfrm>
              <a:off x="3756441" y="1071918"/>
              <a:ext cx="3414946" cy="20489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99060" rIns="99060" bIns="99060" numCol="1" spcCol="1270" anchor="ctr" anchorCtr="0">
              <a:noAutofit/>
            </a:bodyPr>
            <a:lstStyle/>
            <a:p>
              <a:pPr marL="0" lvl="0" indent="0" defTabSz="1155700">
                <a:lnSpc>
                  <a:spcPct val="90000"/>
                </a:lnSpc>
                <a:spcBef>
                  <a:spcPct val="0"/>
                </a:spcBef>
                <a:spcAft>
                  <a:spcPct val="35000"/>
                </a:spcAft>
                <a:buNone/>
              </a:pPr>
              <a:r>
                <a:rPr lang="en-US" kern="1200" dirty="0"/>
                <a:t>Write your impressions on these terms – how do they fit into the themes of the course?</a:t>
              </a:r>
            </a:p>
          </p:txBody>
        </p:sp>
      </p:grpSp>
      <p:sp>
        <p:nvSpPr>
          <p:cNvPr id="13" name="文本框 12">
            <a:extLst>
              <a:ext uri="{FF2B5EF4-FFF2-40B4-BE49-F238E27FC236}">
                <a16:creationId xmlns:a16="http://schemas.microsoft.com/office/drawing/2014/main" id="{29305D55-7A64-A1ED-661F-66E43F3B34FB}"/>
              </a:ext>
            </a:extLst>
          </p:cNvPr>
          <p:cNvSpPr txBox="1"/>
          <p:nvPr/>
        </p:nvSpPr>
        <p:spPr>
          <a:xfrm>
            <a:off x="407772" y="3086878"/>
            <a:ext cx="7811235" cy="1200329"/>
          </a:xfrm>
          <a:prstGeom prst="rect">
            <a:avLst/>
          </a:prstGeom>
          <a:noFill/>
        </p:spPr>
        <p:txBody>
          <a:bodyPr wrap="square">
            <a:spAutoFit/>
          </a:bodyPr>
          <a:lstStyle/>
          <a:p>
            <a:pPr lvl="0"/>
            <a:r>
              <a:rPr lang="en-US" dirty="0"/>
              <a:t>Go to Google Doc and work in groups to create definitions for each term</a:t>
            </a:r>
          </a:p>
          <a:p>
            <a:endParaRPr lang="en-CA" dirty="0"/>
          </a:p>
          <a:p>
            <a:r>
              <a:rPr lang="en-CA" dirty="0"/>
              <a:t>https://docs.google.com/document/d/1txfse6M0Oa8lzeADRcKA6S6fgx4gaFWAAhVZW7LHAbA/edit?usp=sharing</a:t>
            </a:r>
          </a:p>
        </p:txBody>
      </p:sp>
      <p:sp>
        <p:nvSpPr>
          <p:cNvPr id="15" name="文本框 14">
            <a:extLst>
              <a:ext uri="{FF2B5EF4-FFF2-40B4-BE49-F238E27FC236}">
                <a16:creationId xmlns:a16="http://schemas.microsoft.com/office/drawing/2014/main" id="{83BFA4A1-DD43-7D70-5228-89821625087A}"/>
              </a:ext>
            </a:extLst>
          </p:cNvPr>
          <p:cNvSpPr txBox="1"/>
          <p:nvPr/>
        </p:nvSpPr>
        <p:spPr>
          <a:xfrm>
            <a:off x="407772" y="4438661"/>
            <a:ext cx="8271658" cy="646331"/>
          </a:xfrm>
          <a:prstGeom prst="rect">
            <a:avLst/>
          </a:prstGeom>
          <a:noFill/>
        </p:spPr>
        <p:txBody>
          <a:bodyPr wrap="square">
            <a:spAutoFit/>
          </a:bodyPr>
          <a:lstStyle/>
          <a:p>
            <a:r>
              <a:rPr lang="en-US" dirty="0"/>
              <a:t>This is exam prep! Defining course terminology and writing about those terms will make up the ‘short answer’ portion of the exam.</a:t>
            </a:r>
          </a:p>
        </p:txBody>
      </p:sp>
    </p:spTree>
    <p:extLst>
      <p:ext uri="{BB962C8B-B14F-4D97-AF65-F5344CB8AC3E}">
        <p14:creationId xmlns:p14="http://schemas.microsoft.com/office/powerpoint/2010/main" val="156275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438815" y="1284076"/>
            <a:ext cx="8162458" cy="6035498"/>
          </a:xfrm>
          <a:prstGeom prst="rect">
            <a:avLst/>
          </a:prstGeom>
          <a:noFill/>
          <a:ln/>
        </p:spPr>
        <p:txBody>
          <a:bodyPr/>
          <a:lstStyle/>
          <a:p>
            <a:endParaRPr lang="en-CA"/>
          </a:p>
        </p:txBody>
      </p:sp>
      <p:sp>
        <p:nvSpPr>
          <p:cNvPr id="5" name="Shape 2"/>
          <p:cNvSpPr/>
          <p:nvPr/>
        </p:nvSpPr>
        <p:spPr>
          <a:xfrm>
            <a:off x="438815" y="1284076"/>
            <a:ext cx="8162458" cy="6035498"/>
          </a:xfrm>
          <a:prstGeom prst="rect">
            <a:avLst/>
          </a:prstGeom>
          <a:noFill/>
          <a:ln/>
        </p:spPr>
        <p:txBody>
          <a:bodyPr/>
          <a:lstStyle/>
          <a:p>
            <a:endParaRPr lang="en-CA"/>
          </a:p>
        </p:txBody>
      </p:sp>
      <p:sp>
        <p:nvSpPr>
          <p:cNvPr id="7" name="Text 3"/>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Email Policy</a:t>
            </a:r>
            <a:endParaRPr lang="en-US" sz="2475" dirty="0">
              <a:solidFill>
                <a:schemeClr val="accent1">
                  <a:lumMod val="75000"/>
                </a:schemeClr>
              </a:solidFill>
            </a:endParaRPr>
          </a:p>
        </p:txBody>
      </p:sp>
      <p:sp>
        <p:nvSpPr>
          <p:cNvPr id="8" name="Text 4"/>
          <p:cNvSpPr/>
          <p:nvPr/>
        </p:nvSpPr>
        <p:spPr>
          <a:xfrm>
            <a:off x="735330" y="1241108"/>
            <a:ext cx="7726680" cy="3163252"/>
          </a:xfrm>
          <a:prstGeom prst="rect">
            <a:avLst/>
          </a:prstGeom>
          <a:noFill/>
          <a:ln/>
        </p:spPr>
        <p:txBody>
          <a:bodyPr wrap="square" rtlCol="0" anchor="ctr"/>
          <a:lstStyle/>
          <a:p>
            <a:endParaRPr lang="en-US" sz="2000" dirty="0"/>
          </a:p>
        </p:txBody>
      </p:sp>
      <p:sp>
        <p:nvSpPr>
          <p:cNvPr id="6" name="文本框 5">
            <a:extLst>
              <a:ext uri="{FF2B5EF4-FFF2-40B4-BE49-F238E27FC236}">
                <a16:creationId xmlns:a16="http://schemas.microsoft.com/office/drawing/2014/main" id="{B88221D4-73BD-C553-EDDE-D2D2F1EA2DC9}"/>
              </a:ext>
            </a:extLst>
          </p:cNvPr>
          <p:cNvSpPr txBox="1"/>
          <p:nvPr/>
        </p:nvSpPr>
        <p:spPr>
          <a:xfrm>
            <a:off x="596067" y="1235398"/>
            <a:ext cx="7318127" cy="2292935"/>
          </a:xfrm>
          <a:prstGeom prst="rect">
            <a:avLst/>
          </a:prstGeom>
          <a:noFill/>
        </p:spPr>
        <p:txBody>
          <a:bodyPr wrap="square">
            <a:spAutoFit/>
          </a:bodyPr>
          <a:lstStyle/>
          <a:p>
            <a:r>
              <a:rPr lang="en-US" sz="1100" b="1" dirty="0"/>
              <a:t>ENGLDIHU155 Email Policy</a:t>
            </a:r>
            <a:endParaRPr lang="en-CA" sz="1100" dirty="0"/>
          </a:p>
          <a:p>
            <a:r>
              <a:rPr lang="en-US" sz="800" dirty="0"/>
              <a:t>“ </a:t>
            </a:r>
            <a:r>
              <a:rPr lang="en-US" sz="1100" dirty="0"/>
              <a:t>Your emails to your instructor and TA are the property of the university and a primary mode of communication in this educational and professional context. When you send me an email, please use appropriate greetings—including using my name and your own name in salutations—please write clearly in complete sentences, and provide me with the contextual information to understand whatever questions you might have. </a:t>
            </a:r>
            <a:endParaRPr lang="en-CA" sz="1100" dirty="0"/>
          </a:p>
          <a:p>
            <a:r>
              <a:rPr lang="en-US" sz="1100" dirty="0"/>
              <a:t> </a:t>
            </a:r>
            <a:endParaRPr lang="en-CA" sz="1100" dirty="0"/>
          </a:p>
          <a:p>
            <a:r>
              <a:rPr lang="en-US" sz="1100" dirty="0"/>
              <a:t>I require at least 48 hours to respond to emails, and I will not respond after business hours or on weekends. If you have questions regarding essays or assignments, you must ask them at least 48 hours in advance of the due date; I cannot promise that I will respond in time to assignment-related emails after this point. If you have a question that you can easily answer by looking at the Syllabus, I will refer you there. </a:t>
            </a:r>
            <a:endParaRPr lang="en-CA" sz="1100" dirty="0"/>
          </a:p>
          <a:p>
            <a:r>
              <a:rPr lang="en-US" sz="1100" dirty="0"/>
              <a:t> </a:t>
            </a:r>
            <a:endParaRPr lang="en-CA" sz="1100" dirty="0"/>
          </a:p>
          <a:p>
            <a:r>
              <a:rPr lang="en-US" sz="1100" dirty="0"/>
              <a:t>TAs will set their own email policies. I will encourage them to set similar boundaries to mine so that students get their questions answered and TAs are able to manage their time effectively. </a:t>
            </a:r>
            <a:r>
              <a:rPr kumimoji="0" lang="en-US" sz="700" b="0" i="0" u="none" strike="noStrike" kern="1200" cap="none" spc="0" normalizeH="0" baseline="0" noProof="0" dirty="0">
                <a:ln>
                  <a:noFill/>
                </a:ln>
                <a:effectLst/>
                <a:uLnTx/>
                <a:uFillTx/>
                <a:ea typeface="+mn-ea"/>
                <a:cs typeface="+mn-c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554720" y="348895"/>
            <a:ext cx="5712602" cy="553998"/>
          </a:xfrm>
          <a:prstGeom prst="rect">
            <a:avLst/>
          </a:prstGeom>
          <a:noFill/>
          <a:ln/>
        </p:spPr>
        <p:txBody>
          <a:bodyPr/>
          <a:lstStyle/>
          <a:p>
            <a:endParaRPr lang="en-CA"/>
          </a:p>
        </p:txBody>
      </p:sp>
      <p:sp>
        <p:nvSpPr>
          <p:cNvPr id="5" name="Shape 2"/>
          <p:cNvSpPr/>
          <p:nvPr/>
        </p:nvSpPr>
        <p:spPr>
          <a:xfrm>
            <a:off x="554720" y="936381"/>
            <a:ext cx="2743200" cy="1375056"/>
          </a:xfrm>
          <a:prstGeom prst="rect">
            <a:avLst/>
          </a:prstGeom>
          <a:noFill/>
          <a:ln/>
        </p:spPr>
        <p:txBody>
          <a:bodyPr/>
          <a:lstStyle/>
          <a:p>
            <a:endParaRPr lang="en-CA"/>
          </a:p>
        </p:txBody>
      </p:sp>
      <p:sp>
        <p:nvSpPr>
          <p:cNvPr id="6" name="Shape 3"/>
          <p:cNvSpPr/>
          <p:nvPr/>
        </p:nvSpPr>
        <p:spPr>
          <a:xfrm>
            <a:off x="3296320" y="936380"/>
            <a:ext cx="4945273" cy="307777"/>
          </a:xfrm>
          <a:prstGeom prst="rect">
            <a:avLst/>
          </a:prstGeom>
          <a:noFill/>
          <a:ln/>
        </p:spPr>
        <p:txBody>
          <a:bodyPr/>
          <a:lstStyle/>
          <a:p>
            <a:endParaRPr lang="en-CA"/>
          </a:p>
        </p:txBody>
      </p:sp>
      <p:sp>
        <p:nvSpPr>
          <p:cNvPr id="7" name="Shape 4"/>
          <p:cNvSpPr/>
          <p:nvPr/>
        </p:nvSpPr>
        <p:spPr>
          <a:xfrm>
            <a:off x="3296320" y="1260098"/>
            <a:ext cx="4921295" cy="523220"/>
          </a:xfrm>
          <a:prstGeom prst="rect">
            <a:avLst/>
          </a:prstGeom>
          <a:noFill/>
          <a:ln/>
        </p:spPr>
        <p:txBody>
          <a:bodyPr/>
          <a:lstStyle/>
          <a:p>
            <a:endParaRPr lang="en-CA"/>
          </a:p>
        </p:txBody>
      </p:sp>
      <p:sp>
        <p:nvSpPr>
          <p:cNvPr id="8" name="Shape 5"/>
          <p:cNvSpPr/>
          <p:nvPr/>
        </p:nvSpPr>
        <p:spPr>
          <a:xfrm>
            <a:off x="3296320" y="1767653"/>
            <a:ext cx="4749444" cy="307777"/>
          </a:xfrm>
          <a:prstGeom prst="rect">
            <a:avLst/>
          </a:prstGeom>
          <a:noFill/>
          <a:ln/>
        </p:spPr>
        <p:txBody>
          <a:bodyPr/>
          <a:lstStyle/>
          <a:p>
            <a:endParaRPr lang="en-CA"/>
          </a:p>
        </p:txBody>
      </p:sp>
      <p:sp>
        <p:nvSpPr>
          <p:cNvPr id="9" name="Shape 6"/>
          <p:cNvSpPr/>
          <p:nvPr/>
        </p:nvSpPr>
        <p:spPr>
          <a:xfrm>
            <a:off x="3296320" y="1767653"/>
            <a:ext cx="4749444" cy="307777"/>
          </a:xfrm>
          <a:prstGeom prst="rect">
            <a:avLst/>
          </a:prstGeom>
          <a:noFill/>
          <a:ln/>
        </p:spPr>
        <p:txBody>
          <a:bodyPr/>
          <a:lstStyle/>
          <a:p>
            <a:endParaRPr lang="en-CA"/>
          </a:p>
        </p:txBody>
      </p:sp>
      <p:sp>
        <p:nvSpPr>
          <p:cNvPr id="10" name="Shape 7"/>
          <p:cNvSpPr/>
          <p:nvPr/>
        </p:nvSpPr>
        <p:spPr>
          <a:xfrm>
            <a:off x="3296319" y="1247402"/>
            <a:ext cx="4921295" cy="523220"/>
          </a:xfrm>
          <a:prstGeom prst="rect">
            <a:avLst/>
          </a:prstGeom>
          <a:noFill/>
          <a:ln/>
        </p:spPr>
        <p:txBody>
          <a:bodyPr/>
          <a:lstStyle/>
          <a:p>
            <a:endParaRPr lang="en-CA"/>
          </a:p>
        </p:txBody>
      </p:sp>
      <p:sp>
        <p:nvSpPr>
          <p:cNvPr id="11" name="Shape 8"/>
          <p:cNvSpPr/>
          <p:nvPr/>
        </p:nvSpPr>
        <p:spPr>
          <a:xfrm>
            <a:off x="3296320" y="936380"/>
            <a:ext cx="4945273" cy="307777"/>
          </a:xfrm>
          <a:prstGeom prst="rect">
            <a:avLst/>
          </a:prstGeom>
          <a:noFill/>
          <a:ln/>
        </p:spPr>
        <p:txBody>
          <a:bodyPr/>
          <a:lstStyle/>
          <a:p>
            <a:endParaRPr lang="en-CA"/>
          </a:p>
        </p:txBody>
      </p:sp>
      <p:sp>
        <p:nvSpPr>
          <p:cNvPr id="12" name="Shape 9"/>
          <p:cNvSpPr/>
          <p:nvPr/>
        </p:nvSpPr>
        <p:spPr>
          <a:xfrm>
            <a:off x="554720" y="936381"/>
            <a:ext cx="2743200" cy="1375056"/>
          </a:xfrm>
          <a:prstGeom prst="rect">
            <a:avLst/>
          </a:prstGeom>
          <a:noFill/>
          <a:ln/>
        </p:spPr>
        <p:txBody>
          <a:bodyPr/>
          <a:lstStyle/>
          <a:p>
            <a:endParaRPr lang="en-CA"/>
          </a:p>
        </p:txBody>
      </p:sp>
      <p:sp>
        <p:nvSpPr>
          <p:cNvPr id="13" name="Shape 10"/>
          <p:cNvSpPr/>
          <p:nvPr/>
        </p:nvSpPr>
        <p:spPr>
          <a:xfrm>
            <a:off x="554720" y="348895"/>
            <a:ext cx="5712602" cy="553998"/>
          </a:xfrm>
          <a:prstGeom prst="rect">
            <a:avLst/>
          </a:prstGeom>
          <a:noFill/>
          <a:ln/>
        </p:spPr>
        <p:txBody>
          <a:bodyPr/>
          <a:lstStyle/>
          <a:p>
            <a:endParaRPr lang="en-CA"/>
          </a:p>
        </p:txBody>
      </p:sp>
      <p:pic>
        <p:nvPicPr>
          <p:cNvPr id="16" name="Image 2" descr="preencoded.png"/>
          <p:cNvPicPr>
            <a:picLocks noChangeAspect="1"/>
          </p:cNvPicPr>
          <p:nvPr/>
        </p:nvPicPr>
        <p:blipFill>
          <a:blip r:embed="rId3"/>
          <a:stretch>
            <a:fillRect/>
          </a:stretch>
        </p:blipFill>
        <p:spPr>
          <a:xfrm>
            <a:off x="781297" y="1944481"/>
            <a:ext cx="4270315" cy="2517799"/>
          </a:xfrm>
          <a:prstGeom prst="rect">
            <a:avLst/>
          </a:prstGeom>
        </p:spPr>
      </p:pic>
      <p:sp>
        <p:nvSpPr>
          <p:cNvPr id="17" name="Text 11"/>
          <p:cNvSpPr>
            <a:spLocks/>
          </p:cNvSpPr>
          <p:nvPr/>
        </p:nvSpPr>
        <p:spPr>
          <a:xfrm>
            <a:off x="861730" y="1367819"/>
            <a:ext cx="5206644" cy="307777"/>
          </a:xfrm>
          <a:prstGeom prst="rect">
            <a:avLst/>
          </a:prstGeom>
          <a:noFill/>
          <a:ln/>
        </p:spPr>
        <p:txBody>
          <a:bodyPr wrap="square" rtlCol="0" anchor="ctr"/>
          <a:lstStyle/>
          <a:p>
            <a:pPr marL="0" indent="0" algn="l">
              <a:lnSpc>
                <a:spcPts val="1498"/>
              </a:lnSpc>
              <a:buNone/>
            </a:pPr>
            <a:r>
              <a:rPr lang="en-US" sz="1238" dirty="0">
                <a:solidFill>
                  <a:srgbClr val="000000">
                    <a:alpha val="99000"/>
                  </a:srgbClr>
                </a:solidFill>
                <a:latin typeface="Inter" pitchFamily="34" charset="0"/>
                <a:ea typeface="Inter" pitchFamily="34" charset="-122"/>
                <a:cs typeface="Inter" pitchFamily="34" charset="-120"/>
                <a:hlinkClick r:id="rId4"/>
              </a:rPr>
              <a:t>Purdue OWL</a:t>
            </a:r>
            <a:endParaRPr lang="en-US" sz="1238" dirty="0"/>
          </a:p>
        </p:txBody>
      </p:sp>
      <p:sp>
        <p:nvSpPr>
          <p:cNvPr id="21" name="Text 15"/>
          <p:cNvSpPr/>
          <p:nvPr/>
        </p:nvSpPr>
        <p:spPr>
          <a:xfrm>
            <a:off x="554720" y="348895"/>
            <a:ext cx="6169802" cy="553998"/>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Citation Guide Resource</a:t>
            </a:r>
            <a:r>
              <a:rPr lang="en-US" sz="2475" dirty="0">
                <a:solidFill>
                  <a:srgbClr val="000000">
                    <a:alpha val="99000"/>
                  </a:srgbClr>
                </a:solidFill>
                <a:latin typeface="Poppins" pitchFamily="34" charset="0"/>
                <a:ea typeface="Poppins" pitchFamily="34" charset="-122"/>
                <a:cs typeface="Poppins" pitchFamily="34" charset="-120"/>
              </a:rPr>
              <a:t>​</a:t>
            </a:r>
            <a:endParaRPr lang="en-US" sz="24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1158</Words>
  <Application>Microsoft Office PowerPoint</Application>
  <PresentationFormat>全屏显示(16:9)</PresentationFormat>
  <Paragraphs>93</Paragraphs>
  <Slides>11</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Arial</vt:lpstr>
      <vt:lpstr>Inter</vt:lpstr>
      <vt:lpstr>Poppins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Themes of the course  (from the syllabus)</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Zhehao Sun</cp:lastModifiedBy>
  <cp:revision>6</cp:revision>
  <dcterms:created xsi:type="dcterms:W3CDTF">2026-01-14T07:27:48Z</dcterms:created>
  <dcterms:modified xsi:type="dcterms:W3CDTF">2026-01-28T02:26:20Z</dcterms:modified>
</cp:coreProperties>
</file>