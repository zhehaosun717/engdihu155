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ink/ink1.xml" ContentType="application/inkml+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8"/>
  </p:notesMasterIdLst>
  <p:sldIdLst>
    <p:sldId id="256" r:id="rId2"/>
    <p:sldId id="283" r:id="rId3"/>
    <p:sldId id="284" r:id="rId4"/>
    <p:sldId id="259" r:id="rId5"/>
    <p:sldId id="342" r:id="rId6"/>
    <p:sldId id="326" r:id="rId7"/>
    <p:sldId id="349" r:id="rId8"/>
    <p:sldId id="344" r:id="rId9"/>
    <p:sldId id="347" r:id="rId10"/>
    <p:sldId id="273" r:id="rId11"/>
    <p:sldId id="338" r:id="rId12"/>
    <p:sldId id="340" r:id="rId13"/>
    <p:sldId id="348" r:id="rId14"/>
    <p:sldId id="324" r:id="rId15"/>
    <p:sldId id="345" r:id="rId16"/>
    <p:sldId id="257" r:id="rId17"/>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93" autoAdjust="0"/>
    <p:restoredTop sz="94610"/>
  </p:normalViewPr>
  <p:slideViewPr>
    <p:cSldViewPr snapToGrid="0" snapToObjects="1">
      <p:cViewPr>
        <p:scale>
          <a:sx n="66" d="100"/>
          <a:sy n="66" d="100"/>
        </p:scale>
        <p:origin x="1908" y="1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96A927-DBEE-421D-B9B0-FA4CA22050F0}"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649ECBD-3E1E-423D-A52F-C359CF164759}">
      <dgm:prSet/>
      <dgm:spPr/>
      <dgm:t>
        <a:bodyPr/>
        <a:lstStyle/>
        <a:p>
          <a:pPr>
            <a:lnSpc>
              <a:spcPct val="100000"/>
            </a:lnSpc>
            <a:defRPr cap="all"/>
          </a:pPr>
          <a:r>
            <a:rPr lang="en-US"/>
            <a:t>In literary analysis</a:t>
          </a:r>
        </a:p>
      </dgm:t>
    </dgm:pt>
    <dgm:pt modelId="{DC80A747-27AE-4C5B-828A-B638D4E4F0B1}" type="parTrans" cxnId="{15D1DF67-4C59-43F9-9672-74FA4524917A}">
      <dgm:prSet/>
      <dgm:spPr/>
      <dgm:t>
        <a:bodyPr/>
        <a:lstStyle/>
        <a:p>
          <a:endParaRPr lang="en-US"/>
        </a:p>
      </dgm:t>
    </dgm:pt>
    <dgm:pt modelId="{2A7BC33F-DB44-47E6-BE32-5874A58DE597}" type="sibTrans" cxnId="{15D1DF67-4C59-43F9-9672-74FA4524917A}">
      <dgm:prSet/>
      <dgm:spPr/>
      <dgm:t>
        <a:bodyPr/>
        <a:lstStyle/>
        <a:p>
          <a:endParaRPr lang="en-US"/>
        </a:p>
      </dgm:t>
    </dgm:pt>
    <dgm:pt modelId="{0B66C4D1-EC40-496C-BF26-AC5CD485266D}">
      <dgm:prSet/>
      <dgm:spPr/>
      <dgm:t>
        <a:bodyPr/>
        <a:lstStyle/>
        <a:p>
          <a:pPr>
            <a:lnSpc>
              <a:spcPct val="100000"/>
            </a:lnSpc>
            <a:defRPr cap="all"/>
          </a:pPr>
          <a:r>
            <a:rPr lang="en-US"/>
            <a:t>In </a:t>
          </a:r>
          <a:r>
            <a:rPr lang="en-US" i="1"/>
            <a:t>The Book of Phoenix</a:t>
          </a:r>
          <a:endParaRPr lang="en-US"/>
        </a:p>
      </dgm:t>
    </dgm:pt>
    <dgm:pt modelId="{F858B812-5261-4580-A281-FAF1CC63A485}" type="parTrans" cxnId="{2E9FB7F5-4E6F-4046-B11B-CF9CAF46DE14}">
      <dgm:prSet/>
      <dgm:spPr/>
      <dgm:t>
        <a:bodyPr/>
        <a:lstStyle/>
        <a:p>
          <a:endParaRPr lang="en-US"/>
        </a:p>
      </dgm:t>
    </dgm:pt>
    <dgm:pt modelId="{43239860-BC91-491C-9C90-67026301C795}" type="sibTrans" cxnId="{2E9FB7F5-4E6F-4046-B11B-CF9CAF46DE14}">
      <dgm:prSet/>
      <dgm:spPr/>
      <dgm:t>
        <a:bodyPr/>
        <a:lstStyle/>
        <a:p>
          <a:endParaRPr lang="en-US"/>
        </a:p>
      </dgm:t>
    </dgm:pt>
    <dgm:pt modelId="{9511E5CE-3972-4371-BCA3-61C7852C3B77}" type="pres">
      <dgm:prSet presAssocID="{5996A927-DBEE-421D-B9B0-FA4CA22050F0}" presName="root" presStyleCnt="0">
        <dgm:presLayoutVars>
          <dgm:dir/>
          <dgm:resizeHandles val="exact"/>
        </dgm:presLayoutVars>
      </dgm:prSet>
      <dgm:spPr/>
    </dgm:pt>
    <dgm:pt modelId="{19AB0182-4674-4221-878C-E97A011F874F}" type="pres">
      <dgm:prSet presAssocID="{B649ECBD-3E1E-423D-A52F-C359CF164759}" presName="compNode" presStyleCnt="0"/>
      <dgm:spPr/>
    </dgm:pt>
    <dgm:pt modelId="{68F68747-B623-4B2C-8291-585026834807}" type="pres">
      <dgm:prSet presAssocID="{B649ECBD-3E1E-423D-A52F-C359CF164759}" presName="iconBgRect" presStyleLbl="bgShp" presStyleIdx="0" presStyleCnt="2"/>
      <dgm:spPr>
        <a:prstGeom prst="round2DiagRect">
          <a:avLst>
            <a:gd name="adj1" fmla="val 29727"/>
            <a:gd name="adj2" fmla="val 0"/>
          </a:avLst>
        </a:prstGeom>
      </dgm:spPr>
    </dgm:pt>
    <dgm:pt modelId="{7BF7154A-2C3A-48D1-89FA-2F1920FDF8AF}" type="pres">
      <dgm:prSet presAssocID="{B649ECBD-3E1E-423D-A52F-C359CF16475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7FEBC112-A251-486A-8AD7-7F8DC877206B}" type="pres">
      <dgm:prSet presAssocID="{B649ECBD-3E1E-423D-A52F-C359CF164759}" presName="spaceRect" presStyleCnt="0"/>
      <dgm:spPr/>
    </dgm:pt>
    <dgm:pt modelId="{8392FB07-429B-4674-84C3-83FF44DD2001}" type="pres">
      <dgm:prSet presAssocID="{B649ECBD-3E1E-423D-A52F-C359CF164759}" presName="textRect" presStyleLbl="revTx" presStyleIdx="0" presStyleCnt="2">
        <dgm:presLayoutVars>
          <dgm:chMax val="1"/>
          <dgm:chPref val="1"/>
        </dgm:presLayoutVars>
      </dgm:prSet>
      <dgm:spPr/>
    </dgm:pt>
    <dgm:pt modelId="{2C94D1E5-3286-4DFA-A17D-4C759724561C}" type="pres">
      <dgm:prSet presAssocID="{2A7BC33F-DB44-47E6-BE32-5874A58DE597}" presName="sibTrans" presStyleCnt="0"/>
      <dgm:spPr/>
    </dgm:pt>
    <dgm:pt modelId="{2A988E44-DF5A-46B0-A710-927DE934AEB9}" type="pres">
      <dgm:prSet presAssocID="{0B66C4D1-EC40-496C-BF26-AC5CD485266D}" presName="compNode" presStyleCnt="0"/>
      <dgm:spPr/>
    </dgm:pt>
    <dgm:pt modelId="{C40F918C-6C48-4F15-B76D-E3A2FB13EB20}" type="pres">
      <dgm:prSet presAssocID="{0B66C4D1-EC40-496C-BF26-AC5CD485266D}" presName="iconBgRect" presStyleLbl="bgShp" presStyleIdx="1" presStyleCnt="2"/>
      <dgm:spPr>
        <a:prstGeom prst="round2DiagRect">
          <a:avLst>
            <a:gd name="adj1" fmla="val 29727"/>
            <a:gd name="adj2" fmla="val 0"/>
          </a:avLst>
        </a:prstGeom>
      </dgm:spPr>
    </dgm:pt>
    <dgm:pt modelId="{D5003C48-CB72-499F-B9A3-FA559FB76C11}" type="pres">
      <dgm:prSet presAssocID="{0B66C4D1-EC40-496C-BF26-AC5CD485266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Book"/>
        </a:ext>
      </dgm:extLst>
    </dgm:pt>
    <dgm:pt modelId="{B2FAE807-4EE8-4F04-B60B-00DB93DC4398}" type="pres">
      <dgm:prSet presAssocID="{0B66C4D1-EC40-496C-BF26-AC5CD485266D}" presName="spaceRect" presStyleCnt="0"/>
      <dgm:spPr/>
    </dgm:pt>
    <dgm:pt modelId="{E1144570-EC5F-4DB2-B24D-683595933BB2}" type="pres">
      <dgm:prSet presAssocID="{0B66C4D1-EC40-496C-BF26-AC5CD485266D}" presName="textRect" presStyleLbl="revTx" presStyleIdx="1" presStyleCnt="2">
        <dgm:presLayoutVars>
          <dgm:chMax val="1"/>
          <dgm:chPref val="1"/>
        </dgm:presLayoutVars>
      </dgm:prSet>
      <dgm:spPr/>
    </dgm:pt>
  </dgm:ptLst>
  <dgm:cxnLst>
    <dgm:cxn modelId="{15D1DF67-4C59-43F9-9672-74FA4524917A}" srcId="{5996A927-DBEE-421D-B9B0-FA4CA22050F0}" destId="{B649ECBD-3E1E-423D-A52F-C359CF164759}" srcOrd="0" destOrd="0" parTransId="{DC80A747-27AE-4C5B-828A-B638D4E4F0B1}" sibTransId="{2A7BC33F-DB44-47E6-BE32-5874A58DE597}"/>
    <dgm:cxn modelId="{FC254873-E59D-E142-9DE8-95AEBF2A8AD1}" type="presOf" srcId="{5996A927-DBEE-421D-B9B0-FA4CA22050F0}" destId="{9511E5CE-3972-4371-BCA3-61C7852C3B77}" srcOrd="0" destOrd="0" presId="urn:microsoft.com/office/officeart/2018/5/layout/IconLeafLabelList"/>
    <dgm:cxn modelId="{5A9B8D8A-E138-8147-A3EB-77607D20C24C}" type="presOf" srcId="{B649ECBD-3E1E-423D-A52F-C359CF164759}" destId="{8392FB07-429B-4674-84C3-83FF44DD2001}" srcOrd="0" destOrd="0" presId="urn:microsoft.com/office/officeart/2018/5/layout/IconLeafLabelList"/>
    <dgm:cxn modelId="{E38C14D8-8513-254D-850F-C13801DCCB86}" type="presOf" srcId="{0B66C4D1-EC40-496C-BF26-AC5CD485266D}" destId="{E1144570-EC5F-4DB2-B24D-683595933BB2}" srcOrd="0" destOrd="0" presId="urn:microsoft.com/office/officeart/2018/5/layout/IconLeafLabelList"/>
    <dgm:cxn modelId="{2E9FB7F5-4E6F-4046-B11B-CF9CAF46DE14}" srcId="{5996A927-DBEE-421D-B9B0-FA4CA22050F0}" destId="{0B66C4D1-EC40-496C-BF26-AC5CD485266D}" srcOrd="1" destOrd="0" parTransId="{F858B812-5261-4580-A281-FAF1CC63A485}" sibTransId="{43239860-BC91-491C-9C90-67026301C795}"/>
    <dgm:cxn modelId="{AD28E081-2862-0649-BFEF-154A7C4EE447}" type="presParOf" srcId="{9511E5CE-3972-4371-BCA3-61C7852C3B77}" destId="{19AB0182-4674-4221-878C-E97A011F874F}" srcOrd="0" destOrd="0" presId="urn:microsoft.com/office/officeart/2018/5/layout/IconLeafLabelList"/>
    <dgm:cxn modelId="{26F4B391-F905-2A48-9A4D-198F0174F278}" type="presParOf" srcId="{19AB0182-4674-4221-878C-E97A011F874F}" destId="{68F68747-B623-4B2C-8291-585026834807}" srcOrd="0" destOrd="0" presId="urn:microsoft.com/office/officeart/2018/5/layout/IconLeafLabelList"/>
    <dgm:cxn modelId="{137FF824-5E07-3E44-8ABF-1F1AD23A0B90}" type="presParOf" srcId="{19AB0182-4674-4221-878C-E97A011F874F}" destId="{7BF7154A-2C3A-48D1-89FA-2F1920FDF8AF}" srcOrd="1" destOrd="0" presId="urn:microsoft.com/office/officeart/2018/5/layout/IconLeafLabelList"/>
    <dgm:cxn modelId="{05E85EF4-DE03-5949-A7A2-F38864F16D01}" type="presParOf" srcId="{19AB0182-4674-4221-878C-E97A011F874F}" destId="{7FEBC112-A251-486A-8AD7-7F8DC877206B}" srcOrd="2" destOrd="0" presId="urn:microsoft.com/office/officeart/2018/5/layout/IconLeafLabelList"/>
    <dgm:cxn modelId="{C5B4A2F7-ECCD-4443-A96E-71DDE846BA8E}" type="presParOf" srcId="{19AB0182-4674-4221-878C-E97A011F874F}" destId="{8392FB07-429B-4674-84C3-83FF44DD2001}" srcOrd="3" destOrd="0" presId="urn:microsoft.com/office/officeart/2018/5/layout/IconLeafLabelList"/>
    <dgm:cxn modelId="{B48A8E13-218D-AC4A-80F3-57B280BBC482}" type="presParOf" srcId="{9511E5CE-3972-4371-BCA3-61C7852C3B77}" destId="{2C94D1E5-3286-4DFA-A17D-4C759724561C}" srcOrd="1" destOrd="0" presId="urn:microsoft.com/office/officeart/2018/5/layout/IconLeafLabelList"/>
    <dgm:cxn modelId="{10C8196D-C12B-244C-8FDD-F6E9AE840536}" type="presParOf" srcId="{9511E5CE-3972-4371-BCA3-61C7852C3B77}" destId="{2A988E44-DF5A-46B0-A710-927DE934AEB9}" srcOrd="2" destOrd="0" presId="urn:microsoft.com/office/officeart/2018/5/layout/IconLeafLabelList"/>
    <dgm:cxn modelId="{36A2D5C0-31C5-EF42-A4EB-CA6A063CDC29}" type="presParOf" srcId="{2A988E44-DF5A-46B0-A710-927DE934AEB9}" destId="{C40F918C-6C48-4F15-B76D-E3A2FB13EB20}" srcOrd="0" destOrd="0" presId="urn:microsoft.com/office/officeart/2018/5/layout/IconLeafLabelList"/>
    <dgm:cxn modelId="{E568BD1D-1BFD-8D40-92B0-04F1B95D78B5}" type="presParOf" srcId="{2A988E44-DF5A-46B0-A710-927DE934AEB9}" destId="{D5003C48-CB72-499F-B9A3-FA559FB76C11}" srcOrd="1" destOrd="0" presId="urn:microsoft.com/office/officeart/2018/5/layout/IconLeafLabelList"/>
    <dgm:cxn modelId="{1663BA53-A74A-934D-BA8A-5298AA8B995A}" type="presParOf" srcId="{2A988E44-DF5A-46B0-A710-927DE934AEB9}" destId="{B2FAE807-4EE8-4F04-B60B-00DB93DC4398}" srcOrd="2" destOrd="0" presId="urn:microsoft.com/office/officeart/2018/5/layout/IconLeafLabelList"/>
    <dgm:cxn modelId="{CE48AF92-29C5-0940-946F-775A887C3627}" type="presParOf" srcId="{2A988E44-DF5A-46B0-A710-927DE934AEB9}" destId="{E1144570-EC5F-4DB2-B24D-683595933BB2}"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1EAE2F-E932-431F-BE04-8563A1667497}"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A9F35F4C-7762-4352-A0D6-150695D5F561}">
      <dgm:prSet/>
      <dgm:spPr/>
      <dgm:t>
        <a:bodyPr/>
        <a:lstStyle/>
        <a:p>
          <a:endParaRPr lang="en-US" dirty="0"/>
        </a:p>
      </dgm:t>
    </dgm:pt>
    <dgm:pt modelId="{F48F5583-8225-425C-91B2-4D400317C703}" type="parTrans" cxnId="{D57DB643-D494-4D10-8987-0558E109FC82}">
      <dgm:prSet/>
      <dgm:spPr/>
      <dgm:t>
        <a:bodyPr/>
        <a:lstStyle/>
        <a:p>
          <a:endParaRPr lang="en-US"/>
        </a:p>
      </dgm:t>
    </dgm:pt>
    <dgm:pt modelId="{2ADB9B9D-58B5-4396-BEA3-0C1B2C0352A6}" type="sibTrans" cxnId="{D57DB643-D494-4D10-8987-0558E109FC82}">
      <dgm:prSet/>
      <dgm:spPr/>
      <dgm:t>
        <a:bodyPr/>
        <a:lstStyle/>
        <a:p>
          <a:endParaRPr lang="en-US"/>
        </a:p>
      </dgm:t>
    </dgm:pt>
    <dgm:pt modelId="{55039C92-A2E3-468F-8D8B-E7CFB640AC1B}">
      <dgm:prSet/>
      <dgm:spPr/>
      <dgm:t>
        <a:bodyPr/>
        <a:lstStyle/>
        <a:p>
          <a:endParaRPr lang="en-US" dirty="0"/>
        </a:p>
      </dgm:t>
    </dgm:pt>
    <dgm:pt modelId="{8301226F-FC41-4FAB-883F-DE6BEF3ADA09}" type="parTrans" cxnId="{E3C8BF8C-91D2-4EA9-9819-FF2D9B0FA207}">
      <dgm:prSet/>
      <dgm:spPr/>
      <dgm:t>
        <a:bodyPr/>
        <a:lstStyle/>
        <a:p>
          <a:endParaRPr lang="en-US"/>
        </a:p>
      </dgm:t>
    </dgm:pt>
    <dgm:pt modelId="{E6F55DE4-8069-40FE-916C-8E8D3B2A8E61}" type="sibTrans" cxnId="{E3C8BF8C-91D2-4EA9-9819-FF2D9B0FA207}">
      <dgm:prSet/>
      <dgm:spPr/>
      <dgm:t>
        <a:bodyPr/>
        <a:lstStyle/>
        <a:p>
          <a:endParaRPr lang="en-US"/>
        </a:p>
      </dgm:t>
    </dgm:pt>
    <dgm:pt modelId="{6488D7E0-6902-C244-B7E4-ED85527381E3}" type="pres">
      <dgm:prSet presAssocID="{6C1EAE2F-E932-431F-BE04-8563A1667497}" presName="diagram" presStyleCnt="0">
        <dgm:presLayoutVars>
          <dgm:dir/>
          <dgm:resizeHandles val="exact"/>
        </dgm:presLayoutVars>
      </dgm:prSet>
      <dgm:spPr/>
    </dgm:pt>
    <dgm:pt modelId="{39F8FAE8-DC62-9444-9D02-CFCD4FA02F4D}" type="pres">
      <dgm:prSet presAssocID="{A9F35F4C-7762-4352-A0D6-150695D5F561}" presName="node" presStyleLbl="node1" presStyleIdx="0" presStyleCnt="2">
        <dgm:presLayoutVars>
          <dgm:bulletEnabled val="1"/>
        </dgm:presLayoutVars>
      </dgm:prSet>
      <dgm:spPr/>
    </dgm:pt>
    <dgm:pt modelId="{61D415C7-C815-1C4C-8FE3-8AB311AAC3A7}" type="pres">
      <dgm:prSet presAssocID="{2ADB9B9D-58B5-4396-BEA3-0C1B2C0352A6}" presName="sibTrans" presStyleCnt="0"/>
      <dgm:spPr/>
    </dgm:pt>
    <dgm:pt modelId="{0E14A33B-0042-CC4E-AB6D-D6C1ABEC9CB5}" type="pres">
      <dgm:prSet presAssocID="{55039C92-A2E3-468F-8D8B-E7CFB640AC1B}" presName="node" presStyleLbl="node1" presStyleIdx="1" presStyleCnt="2">
        <dgm:presLayoutVars>
          <dgm:bulletEnabled val="1"/>
        </dgm:presLayoutVars>
      </dgm:prSet>
      <dgm:spPr/>
    </dgm:pt>
  </dgm:ptLst>
  <dgm:cxnLst>
    <dgm:cxn modelId="{D57DB643-D494-4D10-8987-0558E109FC82}" srcId="{6C1EAE2F-E932-431F-BE04-8563A1667497}" destId="{A9F35F4C-7762-4352-A0D6-150695D5F561}" srcOrd="0" destOrd="0" parTransId="{F48F5583-8225-425C-91B2-4D400317C703}" sibTransId="{2ADB9B9D-58B5-4396-BEA3-0C1B2C0352A6}"/>
    <dgm:cxn modelId="{0F14946F-E82F-6647-AAA2-3B434F24FCE1}" type="presOf" srcId="{A9F35F4C-7762-4352-A0D6-150695D5F561}" destId="{39F8FAE8-DC62-9444-9D02-CFCD4FA02F4D}" srcOrd="0" destOrd="0" presId="urn:microsoft.com/office/officeart/2005/8/layout/default"/>
    <dgm:cxn modelId="{AB785456-C893-A548-8D3A-9AE9548DDADD}" type="presOf" srcId="{55039C92-A2E3-468F-8D8B-E7CFB640AC1B}" destId="{0E14A33B-0042-CC4E-AB6D-D6C1ABEC9CB5}" srcOrd="0" destOrd="0" presId="urn:microsoft.com/office/officeart/2005/8/layout/default"/>
    <dgm:cxn modelId="{5E9A6F5A-F312-264D-8A4F-5DC44FA1EEFA}" type="presOf" srcId="{6C1EAE2F-E932-431F-BE04-8563A1667497}" destId="{6488D7E0-6902-C244-B7E4-ED85527381E3}" srcOrd="0" destOrd="0" presId="urn:microsoft.com/office/officeart/2005/8/layout/default"/>
    <dgm:cxn modelId="{E3C8BF8C-91D2-4EA9-9819-FF2D9B0FA207}" srcId="{6C1EAE2F-E932-431F-BE04-8563A1667497}" destId="{55039C92-A2E3-468F-8D8B-E7CFB640AC1B}" srcOrd="1" destOrd="0" parTransId="{8301226F-FC41-4FAB-883F-DE6BEF3ADA09}" sibTransId="{E6F55DE4-8069-40FE-916C-8E8D3B2A8E61}"/>
    <dgm:cxn modelId="{A41A58F1-A131-FE44-B41E-193ED0288A60}" type="presParOf" srcId="{6488D7E0-6902-C244-B7E4-ED85527381E3}" destId="{39F8FAE8-DC62-9444-9D02-CFCD4FA02F4D}" srcOrd="0" destOrd="0" presId="urn:microsoft.com/office/officeart/2005/8/layout/default"/>
    <dgm:cxn modelId="{3C8FCF80-1722-C346-9F3F-4405E1EA737E}" type="presParOf" srcId="{6488D7E0-6902-C244-B7E4-ED85527381E3}" destId="{61D415C7-C815-1C4C-8FE3-8AB311AAC3A7}" srcOrd="1" destOrd="0" presId="urn:microsoft.com/office/officeart/2005/8/layout/default"/>
    <dgm:cxn modelId="{673F4352-2D0A-E846-B274-1785E4188599}" type="presParOf" srcId="{6488D7E0-6902-C244-B7E4-ED85527381E3}" destId="{0E14A33B-0042-CC4E-AB6D-D6C1ABEC9CB5}"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667213-99D3-43EA-8136-FD262A0A0E75}"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B919B745-D864-41F8-9E2A-CA262B0F3561}">
      <dgm:prSet/>
      <dgm:spPr/>
      <dgm:t>
        <a:bodyPr/>
        <a:lstStyle/>
        <a:p>
          <a:r>
            <a:rPr lang="en-US"/>
            <a:t>Thesis Template: “In this essay, I will argue that [BLANK] “</a:t>
          </a:r>
          <a:endParaRPr lang="en-US" dirty="0"/>
        </a:p>
      </dgm:t>
    </dgm:pt>
    <dgm:pt modelId="{3134043F-84DC-4041-9BBF-5AADDEC5C85D}" type="parTrans" cxnId="{0CBF7A6D-F290-48F0-95E0-BA8377C7CD37}">
      <dgm:prSet/>
      <dgm:spPr/>
      <dgm:t>
        <a:bodyPr/>
        <a:lstStyle/>
        <a:p>
          <a:endParaRPr lang="en-US"/>
        </a:p>
      </dgm:t>
    </dgm:pt>
    <dgm:pt modelId="{899E2082-6248-40BB-8C3C-BEA669AF1A60}" type="sibTrans" cxnId="{0CBF7A6D-F290-48F0-95E0-BA8377C7CD37}">
      <dgm:prSet/>
      <dgm:spPr/>
      <dgm:t>
        <a:bodyPr/>
        <a:lstStyle/>
        <a:p>
          <a:endParaRPr lang="en-US"/>
        </a:p>
      </dgm:t>
    </dgm:pt>
    <dgm:pt modelId="{FA03EF34-EE06-4266-9659-86A0718B8928}">
      <dgm:prSet/>
      <dgm:spPr/>
      <dgm:t>
        <a:bodyPr/>
        <a:lstStyle/>
        <a:p>
          <a:r>
            <a:rPr lang="en-US" dirty="0"/>
            <a:t>So What Template: “This argument is significant because [So What Statement].</a:t>
          </a:r>
        </a:p>
      </dgm:t>
    </dgm:pt>
    <dgm:pt modelId="{73E61818-39D5-4709-827A-A357AD98C6ED}" type="parTrans" cxnId="{6F2F869F-D6B8-4DA3-AB73-B27EB6670F03}">
      <dgm:prSet/>
      <dgm:spPr/>
      <dgm:t>
        <a:bodyPr/>
        <a:lstStyle/>
        <a:p>
          <a:endParaRPr lang="en-US"/>
        </a:p>
      </dgm:t>
    </dgm:pt>
    <dgm:pt modelId="{0E4CF13E-2F31-4E72-95BF-BBD4B5C78D31}" type="sibTrans" cxnId="{6F2F869F-D6B8-4DA3-AB73-B27EB6670F03}">
      <dgm:prSet/>
      <dgm:spPr/>
      <dgm:t>
        <a:bodyPr/>
        <a:lstStyle/>
        <a:p>
          <a:endParaRPr lang="en-US"/>
        </a:p>
      </dgm:t>
    </dgm:pt>
    <dgm:pt modelId="{8BEA978D-0030-6E47-AF76-A277AD4219E3}" type="pres">
      <dgm:prSet presAssocID="{74667213-99D3-43EA-8136-FD262A0A0E75}" presName="hierChild1" presStyleCnt="0">
        <dgm:presLayoutVars>
          <dgm:chPref val="1"/>
          <dgm:dir/>
          <dgm:animOne val="branch"/>
          <dgm:animLvl val="lvl"/>
          <dgm:resizeHandles/>
        </dgm:presLayoutVars>
      </dgm:prSet>
      <dgm:spPr/>
    </dgm:pt>
    <dgm:pt modelId="{11E69DE7-8853-C24D-9258-10B4E0097BD2}" type="pres">
      <dgm:prSet presAssocID="{B919B745-D864-41F8-9E2A-CA262B0F3561}" presName="hierRoot1" presStyleCnt="0"/>
      <dgm:spPr/>
    </dgm:pt>
    <dgm:pt modelId="{B21FEAF1-1C6D-0344-A67A-FCBB474BB771}" type="pres">
      <dgm:prSet presAssocID="{B919B745-D864-41F8-9E2A-CA262B0F3561}" presName="composite" presStyleCnt="0"/>
      <dgm:spPr/>
    </dgm:pt>
    <dgm:pt modelId="{7F5F3E3F-C3C1-BB43-BBE2-C21B3C18BECE}" type="pres">
      <dgm:prSet presAssocID="{B919B745-D864-41F8-9E2A-CA262B0F3561}" presName="background" presStyleLbl="node0" presStyleIdx="0" presStyleCnt="2"/>
      <dgm:spPr/>
    </dgm:pt>
    <dgm:pt modelId="{23895925-1945-6740-ABB4-6067DC084E82}" type="pres">
      <dgm:prSet presAssocID="{B919B745-D864-41F8-9E2A-CA262B0F3561}" presName="text" presStyleLbl="fgAcc0" presStyleIdx="0" presStyleCnt="2">
        <dgm:presLayoutVars>
          <dgm:chPref val="3"/>
        </dgm:presLayoutVars>
      </dgm:prSet>
      <dgm:spPr/>
    </dgm:pt>
    <dgm:pt modelId="{B5B74BBC-AD16-5647-926F-C17A1369681A}" type="pres">
      <dgm:prSet presAssocID="{B919B745-D864-41F8-9E2A-CA262B0F3561}" presName="hierChild2" presStyleCnt="0"/>
      <dgm:spPr/>
    </dgm:pt>
    <dgm:pt modelId="{3CBCB914-1A13-6848-B482-CC426CBC9F2E}" type="pres">
      <dgm:prSet presAssocID="{FA03EF34-EE06-4266-9659-86A0718B8928}" presName="hierRoot1" presStyleCnt="0"/>
      <dgm:spPr/>
    </dgm:pt>
    <dgm:pt modelId="{96107315-2DEA-FE4E-92D6-A621C95F0970}" type="pres">
      <dgm:prSet presAssocID="{FA03EF34-EE06-4266-9659-86A0718B8928}" presName="composite" presStyleCnt="0"/>
      <dgm:spPr/>
    </dgm:pt>
    <dgm:pt modelId="{26A0395E-F8F2-5840-8E4A-D307D8A4912E}" type="pres">
      <dgm:prSet presAssocID="{FA03EF34-EE06-4266-9659-86A0718B8928}" presName="background" presStyleLbl="node0" presStyleIdx="1" presStyleCnt="2"/>
      <dgm:spPr/>
    </dgm:pt>
    <dgm:pt modelId="{B80CB17B-70BB-9345-BC57-DB24F96AE28A}" type="pres">
      <dgm:prSet presAssocID="{FA03EF34-EE06-4266-9659-86A0718B8928}" presName="text" presStyleLbl="fgAcc0" presStyleIdx="1" presStyleCnt="2">
        <dgm:presLayoutVars>
          <dgm:chPref val="3"/>
        </dgm:presLayoutVars>
      </dgm:prSet>
      <dgm:spPr/>
    </dgm:pt>
    <dgm:pt modelId="{56EE9873-6316-874E-86C5-30B2EF870632}" type="pres">
      <dgm:prSet presAssocID="{FA03EF34-EE06-4266-9659-86A0718B8928}" presName="hierChild2" presStyleCnt="0"/>
      <dgm:spPr/>
    </dgm:pt>
  </dgm:ptLst>
  <dgm:cxnLst>
    <dgm:cxn modelId="{7BBF055C-35CF-E04C-BE40-D750B54940A4}" type="presOf" srcId="{B919B745-D864-41F8-9E2A-CA262B0F3561}" destId="{23895925-1945-6740-ABB4-6067DC084E82}" srcOrd="0" destOrd="0" presId="urn:microsoft.com/office/officeart/2005/8/layout/hierarchy1"/>
    <dgm:cxn modelId="{0CBF7A6D-F290-48F0-95E0-BA8377C7CD37}" srcId="{74667213-99D3-43EA-8136-FD262A0A0E75}" destId="{B919B745-D864-41F8-9E2A-CA262B0F3561}" srcOrd="0" destOrd="0" parTransId="{3134043F-84DC-4041-9BBF-5AADDEC5C85D}" sibTransId="{899E2082-6248-40BB-8C3C-BEA669AF1A60}"/>
    <dgm:cxn modelId="{833E4982-8A16-444F-98C2-6C18072907E5}" type="presOf" srcId="{74667213-99D3-43EA-8136-FD262A0A0E75}" destId="{8BEA978D-0030-6E47-AF76-A277AD4219E3}" srcOrd="0" destOrd="0" presId="urn:microsoft.com/office/officeart/2005/8/layout/hierarchy1"/>
    <dgm:cxn modelId="{6F2F869F-D6B8-4DA3-AB73-B27EB6670F03}" srcId="{74667213-99D3-43EA-8136-FD262A0A0E75}" destId="{FA03EF34-EE06-4266-9659-86A0718B8928}" srcOrd="1" destOrd="0" parTransId="{73E61818-39D5-4709-827A-A357AD98C6ED}" sibTransId="{0E4CF13E-2F31-4E72-95BF-BBD4B5C78D31}"/>
    <dgm:cxn modelId="{E361C2AB-E224-CE45-9AF9-0ADCE9844112}" type="presOf" srcId="{FA03EF34-EE06-4266-9659-86A0718B8928}" destId="{B80CB17B-70BB-9345-BC57-DB24F96AE28A}" srcOrd="0" destOrd="0" presId="urn:microsoft.com/office/officeart/2005/8/layout/hierarchy1"/>
    <dgm:cxn modelId="{0F18DF51-CC17-B84B-9A0E-0F78678E427E}" type="presParOf" srcId="{8BEA978D-0030-6E47-AF76-A277AD4219E3}" destId="{11E69DE7-8853-C24D-9258-10B4E0097BD2}" srcOrd="0" destOrd="0" presId="urn:microsoft.com/office/officeart/2005/8/layout/hierarchy1"/>
    <dgm:cxn modelId="{83F6966C-A066-CA4E-BB39-EA1703E9D2A5}" type="presParOf" srcId="{11E69DE7-8853-C24D-9258-10B4E0097BD2}" destId="{B21FEAF1-1C6D-0344-A67A-FCBB474BB771}" srcOrd="0" destOrd="0" presId="urn:microsoft.com/office/officeart/2005/8/layout/hierarchy1"/>
    <dgm:cxn modelId="{9A4F239B-AEA1-F24B-9C38-B94B66EA3DC8}" type="presParOf" srcId="{B21FEAF1-1C6D-0344-A67A-FCBB474BB771}" destId="{7F5F3E3F-C3C1-BB43-BBE2-C21B3C18BECE}" srcOrd="0" destOrd="0" presId="urn:microsoft.com/office/officeart/2005/8/layout/hierarchy1"/>
    <dgm:cxn modelId="{2CE85A85-1FBA-1C44-966D-EC6564899B7B}" type="presParOf" srcId="{B21FEAF1-1C6D-0344-A67A-FCBB474BB771}" destId="{23895925-1945-6740-ABB4-6067DC084E82}" srcOrd="1" destOrd="0" presId="urn:microsoft.com/office/officeart/2005/8/layout/hierarchy1"/>
    <dgm:cxn modelId="{2F155347-9E64-6748-94B9-2082444F4BBA}" type="presParOf" srcId="{11E69DE7-8853-C24D-9258-10B4E0097BD2}" destId="{B5B74BBC-AD16-5647-926F-C17A1369681A}" srcOrd="1" destOrd="0" presId="urn:microsoft.com/office/officeart/2005/8/layout/hierarchy1"/>
    <dgm:cxn modelId="{0CABC3BA-BD45-C344-AE27-3C8B6468CA2A}" type="presParOf" srcId="{8BEA978D-0030-6E47-AF76-A277AD4219E3}" destId="{3CBCB914-1A13-6848-B482-CC426CBC9F2E}" srcOrd="1" destOrd="0" presId="urn:microsoft.com/office/officeart/2005/8/layout/hierarchy1"/>
    <dgm:cxn modelId="{DD18DBC1-D3D4-7240-8FAB-7C139B489411}" type="presParOf" srcId="{3CBCB914-1A13-6848-B482-CC426CBC9F2E}" destId="{96107315-2DEA-FE4E-92D6-A621C95F0970}" srcOrd="0" destOrd="0" presId="urn:microsoft.com/office/officeart/2005/8/layout/hierarchy1"/>
    <dgm:cxn modelId="{CAA623A9-A32B-0A42-A6AE-EF34236F9BF7}" type="presParOf" srcId="{96107315-2DEA-FE4E-92D6-A621C95F0970}" destId="{26A0395E-F8F2-5840-8E4A-D307D8A4912E}" srcOrd="0" destOrd="0" presId="urn:microsoft.com/office/officeart/2005/8/layout/hierarchy1"/>
    <dgm:cxn modelId="{B39E374E-3C61-FE43-82B8-1A2B2BD6FFDA}" type="presParOf" srcId="{96107315-2DEA-FE4E-92D6-A621C95F0970}" destId="{B80CB17B-70BB-9345-BC57-DB24F96AE28A}" srcOrd="1" destOrd="0" presId="urn:microsoft.com/office/officeart/2005/8/layout/hierarchy1"/>
    <dgm:cxn modelId="{2643DF93-AAC8-9849-BD60-8F2695CF7781}" type="presParOf" srcId="{3CBCB914-1A13-6848-B482-CC426CBC9F2E}" destId="{56EE9873-6316-874E-86C5-30B2EF870632}"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F68747-B623-4B2C-8291-585026834807}">
      <dsp:nvSpPr>
        <dsp:cNvPr id="0" name=""/>
        <dsp:cNvSpPr/>
      </dsp:nvSpPr>
      <dsp:spPr>
        <a:xfrm>
          <a:off x="1437170" y="19801"/>
          <a:ext cx="1818562" cy="181856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F7154A-2C3A-48D1-89FA-2F1920FDF8AF}">
      <dsp:nvSpPr>
        <dsp:cNvPr id="0" name=""/>
        <dsp:cNvSpPr/>
      </dsp:nvSpPr>
      <dsp:spPr>
        <a:xfrm>
          <a:off x="1824732" y="407364"/>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92FB07-429B-4674-84C3-83FF44DD2001}">
      <dsp:nvSpPr>
        <dsp:cNvPr id="0" name=""/>
        <dsp:cNvSpPr/>
      </dsp:nvSpPr>
      <dsp:spPr>
        <a:xfrm>
          <a:off x="855826" y="240480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a:t>In literary analysis</a:t>
          </a:r>
        </a:p>
      </dsp:txBody>
      <dsp:txXfrm>
        <a:off x="855826" y="2404802"/>
        <a:ext cx="2981250" cy="720000"/>
      </dsp:txXfrm>
    </dsp:sp>
    <dsp:sp modelId="{C40F918C-6C48-4F15-B76D-E3A2FB13EB20}">
      <dsp:nvSpPr>
        <dsp:cNvPr id="0" name=""/>
        <dsp:cNvSpPr/>
      </dsp:nvSpPr>
      <dsp:spPr>
        <a:xfrm>
          <a:off x="4940139" y="19801"/>
          <a:ext cx="1818562" cy="181856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003C48-CB72-499F-B9A3-FA559FB76C11}">
      <dsp:nvSpPr>
        <dsp:cNvPr id="0" name=""/>
        <dsp:cNvSpPr/>
      </dsp:nvSpPr>
      <dsp:spPr>
        <a:xfrm>
          <a:off x="5327701" y="407364"/>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144570-EC5F-4DB2-B24D-683595933BB2}">
      <dsp:nvSpPr>
        <dsp:cNvPr id="0" name=""/>
        <dsp:cNvSpPr/>
      </dsp:nvSpPr>
      <dsp:spPr>
        <a:xfrm>
          <a:off x="4358795" y="240480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a:t>In </a:t>
          </a:r>
          <a:r>
            <a:rPr lang="en-US" sz="2300" i="1" kern="1200"/>
            <a:t>The Book of Phoenix</a:t>
          </a:r>
          <a:endParaRPr lang="en-US" sz="2300" kern="1200"/>
        </a:p>
      </dsp:txBody>
      <dsp:txXfrm>
        <a:off x="4358795" y="2404802"/>
        <a:ext cx="29812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F8FAE8-DC62-9444-9D02-CFCD4FA02F4D}">
      <dsp:nvSpPr>
        <dsp:cNvPr id="0" name=""/>
        <dsp:cNvSpPr/>
      </dsp:nvSpPr>
      <dsp:spPr>
        <a:xfrm>
          <a:off x="1000" y="401748"/>
          <a:ext cx="3901843" cy="2341106"/>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p>
      </dsp:txBody>
      <dsp:txXfrm>
        <a:off x="1000" y="401748"/>
        <a:ext cx="3901843" cy="2341106"/>
      </dsp:txXfrm>
    </dsp:sp>
    <dsp:sp modelId="{0E14A33B-0042-CC4E-AB6D-D6C1ABEC9CB5}">
      <dsp:nvSpPr>
        <dsp:cNvPr id="0" name=""/>
        <dsp:cNvSpPr/>
      </dsp:nvSpPr>
      <dsp:spPr>
        <a:xfrm>
          <a:off x="4293028" y="401748"/>
          <a:ext cx="3901843" cy="2341106"/>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p>
      </dsp:txBody>
      <dsp:txXfrm>
        <a:off x="4293028" y="401748"/>
        <a:ext cx="3901843" cy="23411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5F3E3F-C3C1-BB43-BBE2-C21B3C18BECE}">
      <dsp:nvSpPr>
        <dsp:cNvPr id="0" name=""/>
        <dsp:cNvSpPr/>
      </dsp:nvSpPr>
      <dsp:spPr>
        <a:xfrm>
          <a:off x="1000" y="83237"/>
          <a:ext cx="3511659" cy="222990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895925-1945-6740-ABB4-6067DC084E82}">
      <dsp:nvSpPr>
        <dsp:cNvPr id="0" name=""/>
        <dsp:cNvSpPr/>
      </dsp:nvSpPr>
      <dsp:spPr>
        <a:xfrm>
          <a:off x="391184" y="453912"/>
          <a:ext cx="3511659" cy="222990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Thesis Template: “In this essay, I will argue that [BLANK] “</a:t>
          </a:r>
          <a:endParaRPr lang="en-US" sz="2700" kern="1200" dirty="0"/>
        </a:p>
      </dsp:txBody>
      <dsp:txXfrm>
        <a:off x="456496" y="519224"/>
        <a:ext cx="3381035" cy="2099279"/>
      </dsp:txXfrm>
    </dsp:sp>
    <dsp:sp modelId="{26A0395E-F8F2-5840-8E4A-D307D8A4912E}">
      <dsp:nvSpPr>
        <dsp:cNvPr id="0" name=""/>
        <dsp:cNvSpPr/>
      </dsp:nvSpPr>
      <dsp:spPr>
        <a:xfrm>
          <a:off x="4293028" y="83237"/>
          <a:ext cx="3511659" cy="222990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0CB17B-70BB-9345-BC57-DB24F96AE28A}">
      <dsp:nvSpPr>
        <dsp:cNvPr id="0" name=""/>
        <dsp:cNvSpPr/>
      </dsp:nvSpPr>
      <dsp:spPr>
        <a:xfrm>
          <a:off x="4683212" y="453912"/>
          <a:ext cx="3511659" cy="222990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So What Template: “This argument is significant because [So What Statement].</a:t>
          </a:r>
        </a:p>
      </dsp:txBody>
      <dsp:txXfrm>
        <a:off x="4748524" y="519224"/>
        <a:ext cx="3381035" cy="2099279"/>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05:38:35.350"/>
    </inkml:context>
    <inkml:brush xml:id="br0">
      <inkml:brushProperty name="width" value="0.035" units="cm"/>
      <inkml:brushProperty name="height" value="0.035" units="cm"/>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4131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7B822-A592-6CEE-84C6-B9DBE23C06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F920E-AEB6-C90D-90C8-6C9DC1F729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92BCC7-7C91-CD8D-62B6-7858934905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807A15-A46D-2DAA-D0CA-7115030C54F0}"/>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471652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B0277-584A-E636-ED6D-0BC085124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163DF-A6CC-F56D-1147-665B15DD4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7A5932-A764-835E-5664-4E62C61D2F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038130-1806-B16D-F1C2-D309818323B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788063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66D38A-0E40-4849-B809-6766167723DC}" type="slidenum">
              <a:rPr lang="en-US" smtClean="0"/>
              <a:t>6</a:t>
            </a:fld>
            <a:endParaRPr lang="en-US"/>
          </a:p>
        </p:txBody>
      </p:sp>
    </p:spTree>
    <p:extLst>
      <p:ext uri="{BB962C8B-B14F-4D97-AF65-F5344CB8AC3E}">
        <p14:creationId xmlns:p14="http://schemas.microsoft.com/office/powerpoint/2010/main" val="2364742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‘They Say’ / ‘I Say’ / ‘Expansion’ paragraphs. Each paragraph should represent a single theme or row in your evidence chart. Each is an argumentative paragraph that bridges clearly back to your thesis. </a:t>
            </a:r>
          </a:p>
        </p:txBody>
      </p:sp>
      <p:sp>
        <p:nvSpPr>
          <p:cNvPr id="4" name="Slide Number Placeholder 3"/>
          <p:cNvSpPr>
            <a:spLocks noGrp="1"/>
          </p:cNvSpPr>
          <p:nvPr>
            <p:ph type="sldNum" sz="quarter" idx="5"/>
          </p:nvPr>
        </p:nvSpPr>
        <p:spPr/>
        <p:txBody>
          <a:bodyPr/>
          <a:lstStyle/>
          <a:p>
            <a:fld id="{89AB1032-0CDA-3B43-8DB8-977ACA6F5C65}" type="slidenum">
              <a:rPr lang="en-US" smtClean="0"/>
              <a:t>9</a:t>
            </a:fld>
            <a:endParaRPr lang="en-US"/>
          </a:p>
        </p:txBody>
      </p:sp>
    </p:spTree>
    <p:extLst>
      <p:ext uri="{BB962C8B-B14F-4D97-AF65-F5344CB8AC3E}">
        <p14:creationId xmlns:p14="http://schemas.microsoft.com/office/powerpoint/2010/main" val="3846238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(Purdue OWL) is widely regarded as one of the most authoritative and practical academic writing resources available.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out, talk to your </a:t>
            </a:r>
            <a:r>
              <a:rPr lang="en-US" dirty="0" err="1"/>
              <a:t>neighbour</a:t>
            </a:r>
            <a:r>
              <a:rPr lang="en-US" dirty="0"/>
              <a:t> (groups of 2 or 3) and then we will discuss our findings as a class</a:t>
            </a:r>
          </a:p>
        </p:txBody>
      </p:sp>
      <p:sp>
        <p:nvSpPr>
          <p:cNvPr id="4" name="Slide Number Placeholder 3"/>
          <p:cNvSpPr>
            <a:spLocks noGrp="1"/>
          </p:cNvSpPr>
          <p:nvPr>
            <p:ph type="sldNum" sz="quarter" idx="5"/>
          </p:nvPr>
        </p:nvSpPr>
        <p:spPr/>
        <p:txBody>
          <a:bodyPr/>
          <a:lstStyle/>
          <a:p>
            <a:fld id="{F266D38A-0E40-4849-B809-6766167723DC}" type="slidenum">
              <a:rPr lang="en-US" smtClean="0"/>
              <a:t>14</a:t>
            </a:fld>
            <a:endParaRPr lang="en-US"/>
          </a:p>
        </p:txBody>
      </p:sp>
    </p:spTree>
    <p:extLst>
      <p:ext uri="{BB962C8B-B14F-4D97-AF65-F5344CB8AC3E}">
        <p14:creationId xmlns:p14="http://schemas.microsoft.com/office/powerpoint/2010/main" val="3257783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8093CA-37DA-8CFC-5EBA-3A4FD31D37EA}"/>
              </a:ext>
            </a:extLst>
          </p:cNvPr>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CA"/>
          </a:p>
        </p:txBody>
      </p:sp>
      <p:sp>
        <p:nvSpPr>
          <p:cNvPr id="3" name="副标题 2">
            <a:extLst>
              <a:ext uri="{FF2B5EF4-FFF2-40B4-BE49-F238E27FC236}">
                <a16:creationId xmlns:a16="http://schemas.microsoft.com/office/drawing/2014/main" id="{F233A410-D96E-6A73-8209-70BCC57C6940}"/>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CA"/>
          </a:p>
        </p:txBody>
      </p:sp>
      <p:sp>
        <p:nvSpPr>
          <p:cNvPr id="4" name="日期占位符 3">
            <a:extLst>
              <a:ext uri="{FF2B5EF4-FFF2-40B4-BE49-F238E27FC236}">
                <a16:creationId xmlns:a16="http://schemas.microsoft.com/office/drawing/2014/main" id="{BF84B102-3CB0-1207-56A1-D699B1351FD0}"/>
              </a:ext>
            </a:extLst>
          </p:cNvPr>
          <p:cNvSpPr>
            <a:spLocks noGrp="1"/>
          </p:cNvSpPr>
          <p:nvPr>
            <p:ph type="dt" sz="half" idx="10"/>
          </p:nvPr>
        </p:nvSpPr>
        <p:spPr/>
        <p:txBody>
          <a:bodyPr/>
          <a:lstStyle/>
          <a:p>
            <a:fld id="{47411305-0062-4BD4-BF02-89595AD95638}" type="datetimeFigureOut">
              <a:rPr lang="en-CA" smtClean="0"/>
              <a:t>2026-02-10</a:t>
            </a:fld>
            <a:endParaRPr lang="en-CA"/>
          </a:p>
        </p:txBody>
      </p:sp>
      <p:sp>
        <p:nvSpPr>
          <p:cNvPr id="5" name="页脚占位符 4">
            <a:extLst>
              <a:ext uri="{FF2B5EF4-FFF2-40B4-BE49-F238E27FC236}">
                <a16:creationId xmlns:a16="http://schemas.microsoft.com/office/drawing/2014/main" id="{70892A5B-3FF0-6D46-49C9-C0961A9E4B58}"/>
              </a:ext>
            </a:extLst>
          </p:cNvPr>
          <p:cNvSpPr>
            <a:spLocks noGrp="1"/>
          </p:cNvSpPr>
          <p:nvPr>
            <p:ph type="ftr" sz="quarter" idx="11"/>
          </p:nvPr>
        </p:nvSpPr>
        <p:spPr/>
        <p:txBody>
          <a:bodyPr/>
          <a:lstStyle/>
          <a:p>
            <a:endParaRPr lang="en-CA"/>
          </a:p>
        </p:txBody>
      </p:sp>
      <p:sp>
        <p:nvSpPr>
          <p:cNvPr id="6" name="灯片编号占位符 5">
            <a:extLst>
              <a:ext uri="{FF2B5EF4-FFF2-40B4-BE49-F238E27FC236}">
                <a16:creationId xmlns:a16="http://schemas.microsoft.com/office/drawing/2014/main" id="{DEDC9285-9F30-D9DF-0756-5943FD96A499}"/>
              </a:ext>
            </a:extLst>
          </p:cNvPr>
          <p:cNvSpPr>
            <a:spLocks noGrp="1"/>
          </p:cNvSpPr>
          <p:nvPr>
            <p:ph type="sldNum" sz="quarter" idx="12"/>
          </p:nvPr>
        </p:nvSpPr>
        <p:spPr/>
        <p:txBody>
          <a:bodyPr/>
          <a:lstStyle/>
          <a:p>
            <a:fld id="{31B3444E-A9AC-4ED3-B0E7-C5DAF281F7FC}" type="slidenum">
              <a:rPr lang="en-CA" smtClean="0"/>
              <a:t>‹#›</a:t>
            </a:fld>
            <a:endParaRPr lang="en-CA"/>
          </a:p>
        </p:txBody>
      </p:sp>
    </p:spTree>
    <p:extLst>
      <p:ext uri="{BB962C8B-B14F-4D97-AF65-F5344CB8AC3E}">
        <p14:creationId xmlns:p14="http://schemas.microsoft.com/office/powerpoint/2010/main" val="217676808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DB7FB6-FD13-FD16-8A18-1822E0BFEA94}"/>
              </a:ext>
            </a:extLst>
          </p:cNvPr>
          <p:cNvSpPr>
            <a:spLocks noGrp="1"/>
          </p:cNvSpPr>
          <p:nvPr>
            <p:ph type="title"/>
          </p:nvPr>
        </p:nvSpPr>
        <p:spPr/>
        <p:txBody>
          <a:bodyPr/>
          <a:lstStyle/>
          <a:p>
            <a:r>
              <a:rPr lang="zh-CN" altLang="en-US"/>
              <a:t>单击此处编辑母版标题样式</a:t>
            </a:r>
            <a:endParaRPr lang="en-CA"/>
          </a:p>
        </p:txBody>
      </p:sp>
      <p:sp>
        <p:nvSpPr>
          <p:cNvPr id="3" name="内容占位符 2">
            <a:extLst>
              <a:ext uri="{FF2B5EF4-FFF2-40B4-BE49-F238E27FC236}">
                <a16:creationId xmlns:a16="http://schemas.microsoft.com/office/drawing/2014/main" id="{F3F117A5-5B9B-0410-9FDC-2DEE62CA506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4" name="日期占位符 3">
            <a:extLst>
              <a:ext uri="{FF2B5EF4-FFF2-40B4-BE49-F238E27FC236}">
                <a16:creationId xmlns:a16="http://schemas.microsoft.com/office/drawing/2014/main" id="{ACD7E50E-1A29-D58E-8F2C-2EFC8E1C3967}"/>
              </a:ext>
            </a:extLst>
          </p:cNvPr>
          <p:cNvSpPr>
            <a:spLocks noGrp="1"/>
          </p:cNvSpPr>
          <p:nvPr>
            <p:ph type="dt" sz="half" idx="10"/>
          </p:nvPr>
        </p:nvSpPr>
        <p:spPr/>
        <p:txBody>
          <a:bodyPr/>
          <a:lstStyle/>
          <a:p>
            <a:fld id="{47411305-0062-4BD4-BF02-89595AD95638}" type="datetimeFigureOut">
              <a:rPr lang="en-CA" smtClean="0"/>
              <a:t>2026-02-10</a:t>
            </a:fld>
            <a:endParaRPr lang="en-CA"/>
          </a:p>
        </p:txBody>
      </p:sp>
      <p:sp>
        <p:nvSpPr>
          <p:cNvPr id="5" name="页脚占位符 4">
            <a:extLst>
              <a:ext uri="{FF2B5EF4-FFF2-40B4-BE49-F238E27FC236}">
                <a16:creationId xmlns:a16="http://schemas.microsoft.com/office/drawing/2014/main" id="{7363FD64-A57F-6BDC-6262-6E1571F6F2A8}"/>
              </a:ext>
            </a:extLst>
          </p:cNvPr>
          <p:cNvSpPr>
            <a:spLocks noGrp="1"/>
          </p:cNvSpPr>
          <p:nvPr>
            <p:ph type="ftr" sz="quarter" idx="11"/>
          </p:nvPr>
        </p:nvSpPr>
        <p:spPr/>
        <p:txBody>
          <a:bodyPr/>
          <a:lstStyle/>
          <a:p>
            <a:endParaRPr lang="en-CA"/>
          </a:p>
        </p:txBody>
      </p:sp>
      <p:sp>
        <p:nvSpPr>
          <p:cNvPr id="6" name="灯片编号占位符 5">
            <a:extLst>
              <a:ext uri="{FF2B5EF4-FFF2-40B4-BE49-F238E27FC236}">
                <a16:creationId xmlns:a16="http://schemas.microsoft.com/office/drawing/2014/main" id="{B2B3410C-18FC-8E3E-DD1A-5BB8BA5A7BD0}"/>
              </a:ext>
            </a:extLst>
          </p:cNvPr>
          <p:cNvSpPr>
            <a:spLocks noGrp="1"/>
          </p:cNvSpPr>
          <p:nvPr>
            <p:ph type="sldNum" sz="quarter" idx="12"/>
          </p:nvPr>
        </p:nvSpPr>
        <p:spPr/>
        <p:txBody>
          <a:bodyPr/>
          <a:lstStyle/>
          <a:p>
            <a:fld id="{31B3444E-A9AC-4ED3-B0E7-C5DAF281F7FC}" type="slidenum">
              <a:rPr lang="en-CA" smtClean="0"/>
              <a:t>‹#›</a:t>
            </a:fld>
            <a:endParaRPr lang="en-CA"/>
          </a:p>
        </p:txBody>
      </p:sp>
    </p:spTree>
    <p:extLst>
      <p:ext uri="{BB962C8B-B14F-4D97-AF65-F5344CB8AC3E}">
        <p14:creationId xmlns:p14="http://schemas.microsoft.com/office/powerpoint/2010/main" val="225440675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A5C0FC-AE8A-CB54-9093-4210C8390D26}"/>
              </a:ext>
            </a:extLst>
          </p:cNvPr>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CA"/>
          </a:p>
        </p:txBody>
      </p:sp>
      <p:sp>
        <p:nvSpPr>
          <p:cNvPr id="3" name="文本占位符 2">
            <a:extLst>
              <a:ext uri="{FF2B5EF4-FFF2-40B4-BE49-F238E27FC236}">
                <a16:creationId xmlns:a16="http://schemas.microsoft.com/office/drawing/2014/main" id="{D646F8AF-8D4B-46BF-0F97-251FE0D9AE6B}"/>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FBE25C4-17BC-BE74-1505-17A702161847}"/>
              </a:ext>
            </a:extLst>
          </p:cNvPr>
          <p:cNvSpPr>
            <a:spLocks noGrp="1"/>
          </p:cNvSpPr>
          <p:nvPr>
            <p:ph type="dt" sz="half" idx="10"/>
          </p:nvPr>
        </p:nvSpPr>
        <p:spPr/>
        <p:txBody>
          <a:bodyPr/>
          <a:lstStyle/>
          <a:p>
            <a:fld id="{47411305-0062-4BD4-BF02-89595AD95638}" type="datetimeFigureOut">
              <a:rPr lang="en-CA" smtClean="0"/>
              <a:t>2026-02-10</a:t>
            </a:fld>
            <a:endParaRPr lang="en-CA"/>
          </a:p>
        </p:txBody>
      </p:sp>
      <p:sp>
        <p:nvSpPr>
          <p:cNvPr id="5" name="页脚占位符 4">
            <a:extLst>
              <a:ext uri="{FF2B5EF4-FFF2-40B4-BE49-F238E27FC236}">
                <a16:creationId xmlns:a16="http://schemas.microsoft.com/office/drawing/2014/main" id="{9396A371-7993-FAC9-87AC-4B3FA21865C2}"/>
              </a:ext>
            </a:extLst>
          </p:cNvPr>
          <p:cNvSpPr>
            <a:spLocks noGrp="1"/>
          </p:cNvSpPr>
          <p:nvPr>
            <p:ph type="ftr" sz="quarter" idx="11"/>
          </p:nvPr>
        </p:nvSpPr>
        <p:spPr/>
        <p:txBody>
          <a:bodyPr/>
          <a:lstStyle/>
          <a:p>
            <a:endParaRPr lang="en-CA"/>
          </a:p>
        </p:txBody>
      </p:sp>
      <p:sp>
        <p:nvSpPr>
          <p:cNvPr id="6" name="灯片编号占位符 5">
            <a:extLst>
              <a:ext uri="{FF2B5EF4-FFF2-40B4-BE49-F238E27FC236}">
                <a16:creationId xmlns:a16="http://schemas.microsoft.com/office/drawing/2014/main" id="{34CB47F2-EF80-8894-5DCC-4AAA33028A0E}"/>
              </a:ext>
            </a:extLst>
          </p:cNvPr>
          <p:cNvSpPr>
            <a:spLocks noGrp="1"/>
          </p:cNvSpPr>
          <p:nvPr>
            <p:ph type="sldNum" sz="quarter" idx="12"/>
          </p:nvPr>
        </p:nvSpPr>
        <p:spPr/>
        <p:txBody>
          <a:bodyPr/>
          <a:lstStyle/>
          <a:p>
            <a:fld id="{31B3444E-A9AC-4ED3-B0E7-C5DAF281F7FC}" type="slidenum">
              <a:rPr lang="en-CA" smtClean="0"/>
              <a:t>‹#›</a:t>
            </a:fld>
            <a:endParaRPr lang="en-CA"/>
          </a:p>
        </p:txBody>
      </p:sp>
    </p:spTree>
    <p:extLst>
      <p:ext uri="{BB962C8B-B14F-4D97-AF65-F5344CB8AC3E}">
        <p14:creationId xmlns:p14="http://schemas.microsoft.com/office/powerpoint/2010/main" val="217068087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1ACE20-298C-FD72-FEF7-4951A09798F4}"/>
              </a:ext>
            </a:extLst>
          </p:cNvPr>
          <p:cNvSpPr>
            <a:spLocks noGrp="1"/>
          </p:cNvSpPr>
          <p:nvPr>
            <p:ph type="title"/>
          </p:nvPr>
        </p:nvSpPr>
        <p:spPr/>
        <p:txBody>
          <a:bodyPr/>
          <a:lstStyle/>
          <a:p>
            <a:r>
              <a:rPr lang="zh-CN" altLang="en-US"/>
              <a:t>单击此处编辑母版标题样式</a:t>
            </a:r>
            <a:endParaRPr lang="en-CA"/>
          </a:p>
        </p:txBody>
      </p:sp>
      <p:sp>
        <p:nvSpPr>
          <p:cNvPr id="3" name="内容占位符 2">
            <a:extLst>
              <a:ext uri="{FF2B5EF4-FFF2-40B4-BE49-F238E27FC236}">
                <a16:creationId xmlns:a16="http://schemas.microsoft.com/office/drawing/2014/main" id="{38F1AFA9-1B4B-F429-5273-406AE22C709D}"/>
              </a:ext>
            </a:extLst>
          </p:cNvPr>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4" name="内容占位符 3">
            <a:extLst>
              <a:ext uri="{FF2B5EF4-FFF2-40B4-BE49-F238E27FC236}">
                <a16:creationId xmlns:a16="http://schemas.microsoft.com/office/drawing/2014/main" id="{0201A851-60F8-D45E-6F7B-C98C440F1119}"/>
              </a:ext>
            </a:extLst>
          </p:cNvPr>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5" name="日期占位符 4">
            <a:extLst>
              <a:ext uri="{FF2B5EF4-FFF2-40B4-BE49-F238E27FC236}">
                <a16:creationId xmlns:a16="http://schemas.microsoft.com/office/drawing/2014/main" id="{234553E6-C631-8439-90B5-23B67B106D8B}"/>
              </a:ext>
            </a:extLst>
          </p:cNvPr>
          <p:cNvSpPr>
            <a:spLocks noGrp="1"/>
          </p:cNvSpPr>
          <p:nvPr>
            <p:ph type="dt" sz="half" idx="10"/>
          </p:nvPr>
        </p:nvSpPr>
        <p:spPr/>
        <p:txBody>
          <a:bodyPr/>
          <a:lstStyle/>
          <a:p>
            <a:fld id="{47411305-0062-4BD4-BF02-89595AD95638}" type="datetimeFigureOut">
              <a:rPr lang="en-CA" smtClean="0"/>
              <a:t>2026-02-10</a:t>
            </a:fld>
            <a:endParaRPr lang="en-CA"/>
          </a:p>
        </p:txBody>
      </p:sp>
      <p:sp>
        <p:nvSpPr>
          <p:cNvPr id="6" name="页脚占位符 5">
            <a:extLst>
              <a:ext uri="{FF2B5EF4-FFF2-40B4-BE49-F238E27FC236}">
                <a16:creationId xmlns:a16="http://schemas.microsoft.com/office/drawing/2014/main" id="{C65EBA4D-9A2B-2739-6D74-713021116606}"/>
              </a:ext>
            </a:extLst>
          </p:cNvPr>
          <p:cNvSpPr>
            <a:spLocks noGrp="1"/>
          </p:cNvSpPr>
          <p:nvPr>
            <p:ph type="ftr" sz="quarter" idx="11"/>
          </p:nvPr>
        </p:nvSpPr>
        <p:spPr/>
        <p:txBody>
          <a:bodyPr/>
          <a:lstStyle/>
          <a:p>
            <a:endParaRPr lang="en-CA"/>
          </a:p>
        </p:txBody>
      </p:sp>
      <p:sp>
        <p:nvSpPr>
          <p:cNvPr id="7" name="灯片编号占位符 6">
            <a:extLst>
              <a:ext uri="{FF2B5EF4-FFF2-40B4-BE49-F238E27FC236}">
                <a16:creationId xmlns:a16="http://schemas.microsoft.com/office/drawing/2014/main" id="{E67FA7B1-C46E-178C-2452-1BC81977FEB9}"/>
              </a:ext>
            </a:extLst>
          </p:cNvPr>
          <p:cNvSpPr>
            <a:spLocks noGrp="1"/>
          </p:cNvSpPr>
          <p:nvPr>
            <p:ph type="sldNum" sz="quarter" idx="12"/>
          </p:nvPr>
        </p:nvSpPr>
        <p:spPr/>
        <p:txBody>
          <a:bodyPr/>
          <a:lstStyle/>
          <a:p>
            <a:fld id="{31B3444E-A9AC-4ED3-B0E7-C5DAF281F7FC}" type="slidenum">
              <a:rPr lang="en-CA" smtClean="0"/>
              <a:t>‹#›</a:t>
            </a:fld>
            <a:endParaRPr lang="en-CA"/>
          </a:p>
        </p:txBody>
      </p:sp>
    </p:spTree>
    <p:extLst>
      <p:ext uri="{BB962C8B-B14F-4D97-AF65-F5344CB8AC3E}">
        <p14:creationId xmlns:p14="http://schemas.microsoft.com/office/powerpoint/2010/main" val="188335043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9A0FA1-FE7A-82A7-32F6-B6CE279DEB47}"/>
              </a:ext>
            </a:extLst>
          </p:cNvPr>
          <p:cNvSpPr>
            <a:spLocks noGrp="1"/>
          </p:cNvSpPr>
          <p:nvPr>
            <p:ph type="title"/>
          </p:nvPr>
        </p:nvSpPr>
        <p:spPr>
          <a:xfrm>
            <a:off x="629841" y="273844"/>
            <a:ext cx="7886700" cy="994172"/>
          </a:xfrm>
        </p:spPr>
        <p:txBody>
          <a:bodyPr/>
          <a:lstStyle/>
          <a:p>
            <a:r>
              <a:rPr lang="zh-CN" altLang="en-US"/>
              <a:t>单击此处编辑母版标题样式</a:t>
            </a:r>
            <a:endParaRPr lang="en-CA"/>
          </a:p>
        </p:txBody>
      </p:sp>
      <p:sp>
        <p:nvSpPr>
          <p:cNvPr id="3" name="文本占位符 2">
            <a:extLst>
              <a:ext uri="{FF2B5EF4-FFF2-40B4-BE49-F238E27FC236}">
                <a16:creationId xmlns:a16="http://schemas.microsoft.com/office/drawing/2014/main" id="{AB9417BB-3EEB-272E-9FBC-E94A9DD2BB11}"/>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55BC62C-B52B-4320-A46B-9199B8D38DA1}"/>
              </a:ext>
            </a:extLst>
          </p:cNvPr>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5" name="文本占位符 4">
            <a:extLst>
              <a:ext uri="{FF2B5EF4-FFF2-40B4-BE49-F238E27FC236}">
                <a16:creationId xmlns:a16="http://schemas.microsoft.com/office/drawing/2014/main" id="{0944E5BE-128F-C0D3-0540-DD6D3C0EC37A}"/>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F9406F3-98FE-CFF8-6678-2C771DD77859}"/>
              </a:ext>
            </a:extLst>
          </p:cNvPr>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7" name="日期占位符 6">
            <a:extLst>
              <a:ext uri="{FF2B5EF4-FFF2-40B4-BE49-F238E27FC236}">
                <a16:creationId xmlns:a16="http://schemas.microsoft.com/office/drawing/2014/main" id="{4D019093-FA3B-9BEC-3504-2575863CDCFB}"/>
              </a:ext>
            </a:extLst>
          </p:cNvPr>
          <p:cNvSpPr>
            <a:spLocks noGrp="1"/>
          </p:cNvSpPr>
          <p:nvPr>
            <p:ph type="dt" sz="half" idx="10"/>
          </p:nvPr>
        </p:nvSpPr>
        <p:spPr/>
        <p:txBody>
          <a:bodyPr/>
          <a:lstStyle/>
          <a:p>
            <a:fld id="{47411305-0062-4BD4-BF02-89595AD95638}" type="datetimeFigureOut">
              <a:rPr lang="en-CA" smtClean="0"/>
              <a:t>2026-02-10</a:t>
            </a:fld>
            <a:endParaRPr lang="en-CA"/>
          </a:p>
        </p:txBody>
      </p:sp>
      <p:sp>
        <p:nvSpPr>
          <p:cNvPr id="8" name="页脚占位符 7">
            <a:extLst>
              <a:ext uri="{FF2B5EF4-FFF2-40B4-BE49-F238E27FC236}">
                <a16:creationId xmlns:a16="http://schemas.microsoft.com/office/drawing/2014/main" id="{8F9884FF-B824-0244-9A5F-826248DE845B}"/>
              </a:ext>
            </a:extLst>
          </p:cNvPr>
          <p:cNvSpPr>
            <a:spLocks noGrp="1"/>
          </p:cNvSpPr>
          <p:nvPr>
            <p:ph type="ftr" sz="quarter" idx="11"/>
          </p:nvPr>
        </p:nvSpPr>
        <p:spPr/>
        <p:txBody>
          <a:bodyPr/>
          <a:lstStyle/>
          <a:p>
            <a:endParaRPr lang="en-CA"/>
          </a:p>
        </p:txBody>
      </p:sp>
      <p:sp>
        <p:nvSpPr>
          <p:cNvPr id="9" name="灯片编号占位符 8">
            <a:extLst>
              <a:ext uri="{FF2B5EF4-FFF2-40B4-BE49-F238E27FC236}">
                <a16:creationId xmlns:a16="http://schemas.microsoft.com/office/drawing/2014/main" id="{5BD2C790-9AC9-C490-2FA8-4D5678CBCD6C}"/>
              </a:ext>
            </a:extLst>
          </p:cNvPr>
          <p:cNvSpPr>
            <a:spLocks noGrp="1"/>
          </p:cNvSpPr>
          <p:nvPr>
            <p:ph type="sldNum" sz="quarter" idx="12"/>
          </p:nvPr>
        </p:nvSpPr>
        <p:spPr/>
        <p:txBody>
          <a:bodyPr/>
          <a:lstStyle/>
          <a:p>
            <a:fld id="{31B3444E-A9AC-4ED3-B0E7-C5DAF281F7FC}" type="slidenum">
              <a:rPr lang="en-CA" smtClean="0"/>
              <a:t>‹#›</a:t>
            </a:fld>
            <a:endParaRPr lang="en-CA"/>
          </a:p>
        </p:txBody>
      </p:sp>
    </p:spTree>
    <p:extLst>
      <p:ext uri="{BB962C8B-B14F-4D97-AF65-F5344CB8AC3E}">
        <p14:creationId xmlns:p14="http://schemas.microsoft.com/office/powerpoint/2010/main" val="71454371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7772D5-D619-2027-4EB2-3C42876BBB91}"/>
              </a:ext>
            </a:extLst>
          </p:cNvPr>
          <p:cNvSpPr>
            <a:spLocks noGrp="1"/>
          </p:cNvSpPr>
          <p:nvPr>
            <p:ph type="title"/>
          </p:nvPr>
        </p:nvSpPr>
        <p:spPr/>
        <p:txBody>
          <a:bodyPr/>
          <a:lstStyle/>
          <a:p>
            <a:r>
              <a:rPr lang="zh-CN" altLang="en-US"/>
              <a:t>单击此处编辑母版标题样式</a:t>
            </a:r>
            <a:endParaRPr lang="en-CA"/>
          </a:p>
        </p:txBody>
      </p:sp>
      <p:sp>
        <p:nvSpPr>
          <p:cNvPr id="3" name="日期占位符 2">
            <a:extLst>
              <a:ext uri="{FF2B5EF4-FFF2-40B4-BE49-F238E27FC236}">
                <a16:creationId xmlns:a16="http://schemas.microsoft.com/office/drawing/2014/main" id="{02B38DB7-5756-39F2-E2B9-F5A910C73FF6}"/>
              </a:ext>
            </a:extLst>
          </p:cNvPr>
          <p:cNvSpPr>
            <a:spLocks noGrp="1"/>
          </p:cNvSpPr>
          <p:nvPr>
            <p:ph type="dt" sz="half" idx="10"/>
          </p:nvPr>
        </p:nvSpPr>
        <p:spPr/>
        <p:txBody>
          <a:bodyPr/>
          <a:lstStyle/>
          <a:p>
            <a:fld id="{47411305-0062-4BD4-BF02-89595AD95638}" type="datetimeFigureOut">
              <a:rPr lang="en-CA" smtClean="0"/>
              <a:t>2026-02-10</a:t>
            </a:fld>
            <a:endParaRPr lang="en-CA"/>
          </a:p>
        </p:txBody>
      </p:sp>
      <p:sp>
        <p:nvSpPr>
          <p:cNvPr id="4" name="页脚占位符 3">
            <a:extLst>
              <a:ext uri="{FF2B5EF4-FFF2-40B4-BE49-F238E27FC236}">
                <a16:creationId xmlns:a16="http://schemas.microsoft.com/office/drawing/2014/main" id="{212307C4-F970-84DD-868E-EE7725371270}"/>
              </a:ext>
            </a:extLst>
          </p:cNvPr>
          <p:cNvSpPr>
            <a:spLocks noGrp="1"/>
          </p:cNvSpPr>
          <p:nvPr>
            <p:ph type="ftr" sz="quarter" idx="11"/>
          </p:nvPr>
        </p:nvSpPr>
        <p:spPr/>
        <p:txBody>
          <a:bodyPr/>
          <a:lstStyle/>
          <a:p>
            <a:endParaRPr lang="en-CA"/>
          </a:p>
        </p:txBody>
      </p:sp>
      <p:sp>
        <p:nvSpPr>
          <p:cNvPr id="5" name="灯片编号占位符 4">
            <a:extLst>
              <a:ext uri="{FF2B5EF4-FFF2-40B4-BE49-F238E27FC236}">
                <a16:creationId xmlns:a16="http://schemas.microsoft.com/office/drawing/2014/main" id="{933AB9D5-6032-1D3F-6923-698AC6545764}"/>
              </a:ext>
            </a:extLst>
          </p:cNvPr>
          <p:cNvSpPr>
            <a:spLocks noGrp="1"/>
          </p:cNvSpPr>
          <p:nvPr>
            <p:ph type="sldNum" sz="quarter" idx="12"/>
          </p:nvPr>
        </p:nvSpPr>
        <p:spPr/>
        <p:txBody>
          <a:bodyPr/>
          <a:lstStyle/>
          <a:p>
            <a:fld id="{31B3444E-A9AC-4ED3-B0E7-C5DAF281F7FC}" type="slidenum">
              <a:rPr lang="en-CA" smtClean="0"/>
              <a:t>‹#›</a:t>
            </a:fld>
            <a:endParaRPr lang="en-CA"/>
          </a:p>
        </p:txBody>
      </p:sp>
    </p:spTree>
    <p:extLst>
      <p:ext uri="{BB962C8B-B14F-4D97-AF65-F5344CB8AC3E}">
        <p14:creationId xmlns:p14="http://schemas.microsoft.com/office/powerpoint/2010/main" val="25396286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0DEEA80-118B-B243-23D5-36A2E5E1643A}"/>
              </a:ext>
            </a:extLst>
          </p:cNvPr>
          <p:cNvSpPr>
            <a:spLocks noGrp="1"/>
          </p:cNvSpPr>
          <p:nvPr>
            <p:ph type="dt" sz="half" idx="10"/>
          </p:nvPr>
        </p:nvSpPr>
        <p:spPr/>
        <p:txBody>
          <a:bodyPr/>
          <a:lstStyle/>
          <a:p>
            <a:fld id="{47411305-0062-4BD4-BF02-89595AD95638}" type="datetimeFigureOut">
              <a:rPr lang="en-CA" smtClean="0"/>
              <a:t>2026-02-10</a:t>
            </a:fld>
            <a:endParaRPr lang="en-CA"/>
          </a:p>
        </p:txBody>
      </p:sp>
      <p:sp>
        <p:nvSpPr>
          <p:cNvPr id="3" name="页脚占位符 2">
            <a:extLst>
              <a:ext uri="{FF2B5EF4-FFF2-40B4-BE49-F238E27FC236}">
                <a16:creationId xmlns:a16="http://schemas.microsoft.com/office/drawing/2014/main" id="{9DAAE1E2-3D1C-8A16-E037-4BFC7419C509}"/>
              </a:ext>
            </a:extLst>
          </p:cNvPr>
          <p:cNvSpPr>
            <a:spLocks noGrp="1"/>
          </p:cNvSpPr>
          <p:nvPr>
            <p:ph type="ftr" sz="quarter" idx="11"/>
          </p:nvPr>
        </p:nvSpPr>
        <p:spPr/>
        <p:txBody>
          <a:bodyPr/>
          <a:lstStyle/>
          <a:p>
            <a:endParaRPr lang="en-CA"/>
          </a:p>
        </p:txBody>
      </p:sp>
      <p:sp>
        <p:nvSpPr>
          <p:cNvPr id="4" name="灯片编号占位符 3">
            <a:extLst>
              <a:ext uri="{FF2B5EF4-FFF2-40B4-BE49-F238E27FC236}">
                <a16:creationId xmlns:a16="http://schemas.microsoft.com/office/drawing/2014/main" id="{DA4761A0-AEEB-3687-95F9-CDA3781A089C}"/>
              </a:ext>
            </a:extLst>
          </p:cNvPr>
          <p:cNvSpPr>
            <a:spLocks noGrp="1"/>
          </p:cNvSpPr>
          <p:nvPr>
            <p:ph type="sldNum" sz="quarter" idx="12"/>
          </p:nvPr>
        </p:nvSpPr>
        <p:spPr/>
        <p:txBody>
          <a:bodyPr/>
          <a:lstStyle/>
          <a:p>
            <a:fld id="{31B3444E-A9AC-4ED3-B0E7-C5DAF281F7FC}" type="slidenum">
              <a:rPr lang="en-CA" smtClean="0"/>
              <a:t>‹#›</a:t>
            </a:fld>
            <a:endParaRPr lang="en-CA"/>
          </a:p>
        </p:txBody>
      </p:sp>
    </p:spTree>
    <p:extLst>
      <p:ext uri="{BB962C8B-B14F-4D97-AF65-F5344CB8AC3E}">
        <p14:creationId xmlns:p14="http://schemas.microsoft.com/office/powerpoint/2010/main" val="405646542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BA8F35-53D9-244C-D9B6-B977F9B18FE2}"/>
              </a:ext>
            </a:extLst>
          </p:cNvPr>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CA"/>
          </a:p>
        </p:txBody>
      </p:sp>
      <p:sp>
        <p:nvSpPr>
          <p:cNvPr id="3" name="内容占位符 2">
            <a:extLst>
              <a:ext uri="{FF2B5EF4-FFF2-40B4-BE49-F238E27FC236}">
                <a16:creationId xmlns:a16="http://schemas.microsoft.com/office/drawing/2014/main" id="{D22D7BC2-7FF3-A3E4-E533-DA5E063074C3}"/>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4" name="文本占位符 3">
            <a:extLst>
              <a:ext uri="{FF2B5EF4-FFF2-40B4-BE49-F238E27FC236}">
                <a16:creationId xmlns:a16="http://schemas.microsoft.com/office/drawing/2014/main" id="{EAF92923-27A5-52A3-6D68-7F1BB8AB05E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97BAADC-BBD0-3DC6-448C-219B0C259FF9}"/>
              </a:ext>
            </a:extLst>
          </p:cNvPr>
          <p:cNvSpPr>
            <a:spLocks noGrp="1"/>
          </p:cNvSpPr>
          <p:nvPr>
            <p:ph type="dt" sz="half" idx="10"/>
          </p:nvPr>
        </p:nvSpPr>
        <p:spPr/>
        <p:txBody>
          <a:bodyPr/>
          <a:lstStyle/>
          <a:p>
            <a:fld id="{47411305-0062-4BD4-BF02-89595AD95638}" type="datetimeFigureOut">
              <a:rPr lang="en-CA" smtClean="0"/>
              <a:t>2026-02-10</a:t>
            </a:fld>
            <a:endParaRPr lang="en-CA"/>
          </a:p>
        </p:txBody>
      </p:sp>
      <p:sp>
        <p:nvSpPr>
          <p:cNvPr id="6" name="页脚占位符 5">
            <a:extLst>
              <a:ext uri="{FF2B5EF4-FFF2-40B4-BE49-F238E27FC236}">
                <a16:creationId xmlns:a16="http://schemas.microsoft.com/office/drawing/2014/main" id="{59A3849D-A470-C01D-2AF8-8943F8F7CE46}"/>
              </a:ext>
            </a:extLst>
          </p:cNvPr>
          <p:cNvSpPr>
            <a:spLocks noGrp="1"/>
          </p:cNvSpPr>
          <p:nvPr>
            <p:ph type="ftr" sz="quarter" idx="11"/>
          </p:nvPr>
        </p:nvSpPr>
        <p:spPr/>
        <p:txBody>
          <a:bodyPr/>
          <a:lstStyle/>
          <a:p>
            <a:endParaRPr lang="en-CA"/>
          </a:p>
        </p:txBody>
      </p:sp>
      <p:sp>
        <p:nvSpPr>
          <p:cNvPr id="7" name="灯片编号占位符 6">
            <a:extLst>
              <a:ext uri="{FF2B5EF4-FFF2-40B4-BE49-F238E27FC236}">
                <a16:creationId xmlns:a16="http://schemas.microsoft.com/office/drawing/2014/main" id="{0146E4F0-3969-1BBF-9F5F-1483D341A117}"/>
              </a:ext>
            </a:extLst>
          </p:cNvPr>
          <p:cNvSpPr>
            <a:spLocks noGrp="1"/>
          </p:cNvSpPr>
          <p:nvPr>
            <p:ph type="sldNum" sz="quarter" idx="12"/>
          </p:nvPr>
        </p:nvSpPr>
        <p:spPr/>
        <p:txBody>
          <a:bodyPr/>
          <a:lstStyle/>
          <a:p>
            <a:fld id="{31B3444E-A9AC-4ED3-B0E7-C5DAF281F7FC}" type="slidenum">
              <a:rPr lang="en-CA" smtClean="0"/>
              <a:t>‹#›</a:t>
            </a:fld>
            <a:endParaRPr lang="en-CA"/>
          </a:p>
        </p:txBody>
      </p:sp>
    </p:spTree>
    <p:extLst>
      <p:ext uri="{BB962C8B-B14F-4D97-AF65-F5344CB8AC3E}">
        <p14:creationId xmlns:p14="http://schemas.microsoft.com/office/powerpoint/2010/main" val="54480041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F57188-D3B5-526F-F94C-4B0D820EC8F0}"/>
              </a:ext>
            </a:extLst>
          </p:cNvPr>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CA"/>
          </a:p>
        </p:txBody>
      </p:sp>
      <p:sp>
        <p:nvSpPr>
          <p:cNvPr id="3" name="图片占位符 2">
            <a:extLst>
              <a:ext uri="{FF2B5EF4-FFF2-40B4-BE49-F238E27FC236}">
                <a16:creationId xmlns:a16="http://schemas.microsoft.com/office/drawing/2014/main" id="{1485ECF3-A99F-6AEF-9A6A-E880E74C3090}"/>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CA"/>
          </a:p>
        </p:txBody>
      </p:sp>
      <p:sp>
        <p:nvSpPr>
          <p:cNvPr id="4" name="文本占位符 3">
            <a:extLst>
              <a:ext uri="{FF2B5EF4-FFF2-40B4-BE49-F238E27FC236}">
                <a16:creationId xmlns:a16="http://schemas.microsoft.com/office/drawing/2014/main" id="{E508F06F-2939-1228-1526-31041E3D4AAB}"/>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6FB996F-F757-76E8-4BAC-68B91AF3F453}"/>
              </a:ext>
            </a:extLst>
          </p:cNvPr>
          <p:cNvSpPr>
            <a:spLocks noGrp="1"/>
          </p:cNvSpPr>
          <p:nvPr>
            <p:ph type="dt" sz="half" idx="10"/>
          </p:nvPr>
        </p:nvSpPr>
        <p:spPr/>
        <p:txBody>
          <a:bodyPr/>
          <a:lstStyle/>
          <a:p>
            <a:fld id="{47411305-0062-4BD4-BF02-89595AD95638}" type="datetimeFigureOut">
              <a:rPr lang="en-CA" smtClean="0"/>
              <a:t>2026-02-10</a:t>
            </a:fld>
            <a:endParaRPr lang="en-CA"/>
          </a:p>
        </p:txBody>
      </p:sp>
      <p:sp>
        <p:nvSpPr>
          <p:cNvPr id="6" name="页脚占位符 5">
            <a:extLst>
              <a:ext uri="{FF2B5EF4-FFF2-40B4-BE49-F238E27FC236}">
                <a16:creationId xmlns:a16="http://schemas.microsoft.com/office/drawing/2014/main" id="{E8EC1C4D-F478-DC38-5E74-800FBA04E002}"/>
              </a:ext>
            </a:extLst>
          </p:cNvPr>
          <p:cNvSpPr>
            <a:spLocks noGrp="1"/>
          </p:cNvSpPr>
          <p:nvPr>
            <p:ph type="ftr" sz="quarter" idx="11"/>
          </p:nvPr>
        </p:nvSpPr>
        <p:spPr/>
        <p:txBody>
          <a:bodyPr/>
          <a:lstStyle/>
          <a:p>
            <a:endParaRPr lang="en-CA"/>
          </a:p>
        </p:txBody>
      </p:sp>
      <p:sp>
        <p:nvSpPr>
          <p:cNvPr id="7" name="灯片编号占位符 6">
            <a:extLst>
              <a:ext uri="{FF2B5EF4-FFF2-40B4-BE49-F238E27FC236}">
                <a16:creationId xmlns:a16="http://schemas.microsoft.com/office/drawing/2014/main" id="{22A82C34-5561-E289-4AF1-ADD0F2F65111}"/>
              </a:ext>
            </a:extLst>
          </p:cNvPr>
          <p:cNvSpPr>
            <a:spLocks noGrp="1"/>
          </p:cNvSpPr>
          <p:nvPr>
            <p:ph type="sldNum" sz="quarter" idx="12"/>
          </p:nvPr>
        </p:nvSpPr>
        <p:spPr/>
        <p:txBody>
          <a:bodyPr/>
          <a:lstStyle/>
          <a:p>
            <a:fld id="{31B3444E-A9AC-4ED3-B0E7-C5DAF281F7FC}" type="slidenum">
              <a:rPr lang="en-CA" smtClean="0"/>
              <a:t>‹#›</a:t>
            </a:fld>
            <a:endParaRPr lang="en-CA"/>
          </a:p>
        </p:txBody>
      </p:sp>
    </p:spTree>
    <p:extLst>
      <p:ext uri="{BB962C8B-B14F-4D97-AF65-F5344CB8AC3E}">
        <p14:creationId xmlns:p14="http://schemas.microsoft.com/office/powerpoint/2010/main" val="345861508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B122C-949F-B179-F2BA-A28AE1C98E7B}"/>
              </a:ext>
            </a:extLst>
          </p:cNvPr>
          <p:cNvSpPr>
            <a:spLocks noGrp="1"/>
          </p:cNvSpPr>
          <p:nvPr>
            <p:ph type="title"/>
          </p:nvPr>
        </p:nvSpPr>
        <p:spPr/>
        <p:txBody>
          <a:bodyPr/>
          <a:lstStyle/>
          <a:p>
            <a:r>
              <a:rPr lang="zh-CN" altLang="en-US"/>
              <a:t>单击此处编辑母版标题样式</a:t>
            </a:r>
            <a:endParaRPr lang="en-CA"/>
          </a:p>
        </p:txBody>
      </p:sp>
      <p:sp>
        <p:nvSpPr>
          <p:cNvPr id="3" name="竖排文字占位符 2">
            <a:extLst>
              <a:ext uri="{FF2B5EF4-FFF2-40B4-BE49-F238E27FC236}">
                <a16:creationId xmlns:a16="http://schemas.microsoft.com/office/drawing/2014/main" id="{D5CFD9EA-64AE-29B3-538B-5FF918BE91B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4" name="日期占位符 3">
            <a:extLst>
              <a:ext uri="{FF2B5EF4-FFF2-40B4-BE49-F238E27FC236}">
                <a16:creationId xmlns:a16="http://schemas.microsoft.com/office/drawing/2014/main" id="{DEFCC2EA-8CA0-4079-C883-924A1092410F}"/>
              </a:ext>
            </a:extLst>
          </p:cNvPr>
          <p:cNvSpPr>
            <a:spLocks noGrp="1"/>
          </p:cNvSpPr>
          <p:nvPr>
            <p:ph type="dt" sz="half" idx="10"/>
          </p:nvPr>
        </p:nvSpPr>
        <p:spPr/>
        <p:txBody>
          <a:bodyPr/>
          <a:lstStyle/>
          <a:p>
            <a:fld id="{47411305-0062-4BD4-BF02-89595AD95638}" type="datetimeFigureOut">
              <a:rPr lang="en-CA" smtClean="0"/>
              <a:t>2026-02-10</a:t>
            </a:fld>
            <a:endParaRPr lang="en-CA"/>
          </a:p>
        </p:txBody>
      </p:sp>
      <p:sp>
        <p:nvSpPr>
          <p:cNvPr id="5" name="页脚占位符 4">
            <a:extLst>
              <a:ext uri="{FF2B5EF4-FFF2-40B4-BE49-F238E27FC236}">
                <a16:creationId xmlns:a16="http://schemas.microsoft.com/office/drawing/2014/main" id="{AFA981E9-30DC-2975-009C-301A4FCD08C9}"/>
              </a:ext>
            </a:extLst>
          </p:cNvPr>
          <p:cNvSpPr>
            <a:spLocks noGrp="1"/>
          </p:cNvSpPr>
          <p:nvPr>
            <p:ph type="ftr" sz="quarter" idx="11"/>
          </p:nvPr>
        </p:nvSpPr>
        <p:spPr/>
        <p:txBody>
          <a:bodyPr/>
          <a:lstStyle/>
          <a:p>
            <a:endParaRPr lang="en-CA"/>
          </a:p>
        </p:txBody>
      </p:sp>
      <p:sp>
        <p:nvSpPr>
          <p:cNvPr id="6" name="灯片编号占位符 5">
            <a:extLst>
              <a:ext uri="{FF2B5EF4-FFF2-40B4-BE49-F238E27FC236}">
                <a16:creationId xmlns:a16="http://schemas.microsoft.com/office/drawing/2014/main" id="{FECA69E7-CCF8-8980-6462-2BE859F05EAC}"/>
              </a:ext>
            </a:extLst>
          </p:cNvPr>
          <p:cNvSpPr>
            <a:spLocks noGrp="1"/>
          </p:cNvSpPr>
          <p:nvPr>
            <p:ph type="sldNum" sz="quarter" idx="12"/>
          </p:nvPr>
        </p:nvSpPr>
        <p:spPr/>
        <p:txBody>
          <a:bodyPr/>
          <a:lstStyle/>
          <a:p>
            <a:fld id="{31B3444E-A9AC-4ED3-B0E7-C5DAF281F7FC}" type="slidenum">
              <a:rPr lang="en-CA" smtClean="0"/>
              <a:t>‹#›</a:t>
            </a:fld>
            <a:endParaRPr lang="en-CA"/>
          </a:p>
        </p:txBody>
      </p:sp>
    </p:spTree>
    <p:extLst>
      <p:ext uri="{BB962C8B-B14F-4D97-AF65-F5344CB8AC3E}">
        <p14:creationId xmlns:p14="http://schemas.microsoft.com/office/powerpoint/2010/main" val="271172887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448BF20-6521-51E9-79F5-F27DFC916764}"/>
              </a:ext>
            </a:extLst>
          </p:cNvPr>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CA"/>
          </a:p>
        </p:txBody>
      </p:sp>
      <p:sp>
        <p:nvSpPr>
          <p:cNvPr id="3" name="竖排文字占位符 2">
            <a:extLst>
              <a:ext uri="{FF2B5EF4-FFF2-40B4-BE49-F238E27FC236}">
                <a16:creationId xmlns:a16="http://schemas.microsoft.com/office/drawing/2014/main" id="{4480E705-0268-7892-6B7E-3C040CCA4E61}"/>
              </a:ext>
            </a:extLst>
          </p:cNvPr>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4" name="日期占位符 3">
            <a:extLst>
              <a:ext uri="{FF2B5EF4-FFF2-40B4-BE49-F238E27FC236}">
                <a16:creationId xmlns:a16="http://schemas.microsoft.com/office/drawing/2014/main" id="{FF4BC566-7223-5BBC-FA06-6F2408D16432}"/>
              </a:ext>
            </a:extLst>
          </p:cNvPr>
          <p:cNvSpPr>
            <a:spLocks noGrp="1"/>
          </p:cNvSpPr>
          <p:nvPr>
            <p:ph type="dt" sz="half" idx="10"/>
          </p:nvPr>
        </p:nvSpPr>
        <p:spPr/>
        <p:txBody>
          <a:bodyPr/>
          <a:lstStyle/>
          <a:p>
            <a:fld id="{47411305-0062-4BD4-BF02-89595AD95638}" type="datetimeFigureOut">
              <a:rPr lang="en-CA" smtClean="0"/>
              <a:t>2026-02-10</a:t>
            </a:fld>
            <a:endParaRPr lang="en-CA"/>
          </a:p>
        </p:txBody>
      </p:sp>
      <p:sp>
        <p:nvSpPr>
          <p:cNvPr id="5" name="页脚占位符 4">
            <a:extLst>
              <a:ext uri="{FF2B5EF4-FFF2-40B4-BE49-F238E27FC236}">
                <a16:creationId xmlns:a16="http://schemas.microsoft.com/office/drawing/2014/main" id="{B47E6C8E-C4B5-A366-6EB8-C15A35F74FAB}"/>
              </a:ext>
            </a:extLst>
          </p:cNvPr>
          <p:cNvSpPr>
            <a:spLocks noGrp="1"/>
          </p:cNvSpPr>
          <p:nvPr>
            <p:ph type="ftr" sz="quarter" idx="11"/>
          </p:nvPr>
        </p:nvSpPr>
        <p:spPr/>
        <p:txBody>
          <a:bodyPr/>
          <a:lstStyle/>
          <a:p>
            <a:endParaRPr lang="en-CA"/>
          </a:p>
        </p:txBody>
      </p:sp>
      <p:sp>
        <p:nvSpPr>
          <p:cNvPr id="6" name="灯片编号占位符 5">
            <a:extLst>
              <a:ext uri="{FF2B5EF4-FFF2-40B4-BE49-F238E27FC236}">
                <a16:creationId xmlns:a16="http://schemas.microsoft.com/office/drawing/2014/main" id="{95F77F88-FEEB-CED3-5612-F98BBA9BB75E}"/>
              </a:ext>
            </a:extLst>
          </p:cNvPr>
          <p:cNvSpPr>
            <a:spLocks noGrp="1"/>
          </p:cNvSpPr>
          <p:nvPr>
            <p:ph type="sldNum" sz="quarter" idx="12"/>
          </p:nvPr>
        </p:nvSpPr>
        <p:spPr/>
        <p:txBody>
          <a:bodyPr/>
          <a:lstStyle/>
          <a:p>
            <a:fld id="{31B3444E-A9AC-4ED3-B0E7-C5DAF281F7FC}" type="slidenum">
              <a:rPr lang="en-CA" smtClean="0"/>
              <a:t>‹#›</a:t>
            </a:fld>
            <a:endParaRPr lang="en-CA"/>
          </a:p>
        </p:txBody>
      </p:sp>
    </p:spTree>
    <p:extLst>
      <p:ext uri="{BB962C8B-B14F-4D97-AF65-F5344CB8AC3E}">
        <p14:creationId xmlns:p14="http://schemas.microsoft.com/office/powerpoint/2010/main" val="221728060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965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99DD1E6-37D4-7BA1-B248-F6A17452C71B}"/>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CA"/>
          </a:p>
        </p:txBody>
      </p:sp>
      <p:sp>
        <p:nvSpPr>
          <p:cNvPr id="3" name="文本占位符 2">
            <a:extLst>
              <a:ext uri="{FF2B5EF4-FFF2-40B4-BE49-F238E27FC236}">
                <a16:creationId xmlns:a16="http://schemas.microsoft.com/office/drawing/2014/main" id="{073576F8-9335-8F67-9B0E-436C6ED2AEF1}"/>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CA"/>
          </a:p>
        </p:txBody>
      </p:sp>
      <p:sp>
        <p:nvSpPr>
          <p:cNvPr id="4" name="日期占位符 3">
            <a:extLst>
              <a:ext uri="{FF2B5EF4-FFF2-40B4-BE49-F238E27FC236}">
                <a16:creationId xmlns:a16="http://schemas.microsoft.com/office/drawing/2014/main" id="{50C41CE5-5646-7B8B-5B34-6C9AB0E8B453}"/>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47411305-0062-4BD4-BF02-89595AD95638}" type="datetimeFigureOut">
              <a:rPr lang="en-CA" smtClean="0"/>
              <a:t>2026-02-10</a:t>
            </a:fld>
            <a:endParaRPr lang="en-CA"/>
          </a:p>
        </p:txBody>
      </p:sp>
      <p:sp>
        <p:nvSpPr>
          <p:cNvPr id="5" name="页脚占位符 4">
            <a:extLst>
              <a:ext uri="{FF2B5EF4-FFF2-40B4-BE49-F238E27FC236}">
                <a16:creationId xmlns:a16="http://schemas.microsoft.com/office/drawing/2014/main" id="{5065B9C2-4D93-B1D3-1C74-447311E4C66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CA"/>
          </a:p>
        </p:txBody>
      </p:sp>
      <p:sp>
        <p:nvSpPr>
          <p:cNvPr id="6" name="灯片编号占位符 5">
            <a:extLst>
              <a:ext uri="{FF2B5EF4-FFF2-40B4-BE49-F238E27FC236}">
                <a16:creationId xmlns:a16="http://schemas.microsoft.com/office/drawing/2014/main" id="{2FD367D6-59EE-8BD4-F099-394CC505CB75}"/>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31B3444E-A9AC-4ED3-B0E7-C5DAF281F7FC}" type="slidenum">
              <a:rPr lang="en-CA" smtClean="0"/>
              <a:t>‹#›</a:t>
            </a:fld>
            <a:endParaRPr lang="en-CA"/>
          </a:p>
        </p:txBody>
      </p:sp>
    </p:spTree>
    <p:extLst>
      <p:ext uri="{BB962C8B-B14F-4D97-AF65-F5344CB8AC3E}">
        <p14:creationId xmlns:p14="http://schemas.microsoft.com/office/powerpoint/2010/main" val="2712122816"/>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hyperlink" Target="https://docs.google.com/document/d/1ivRm3RtELvlMPR0EycmPy_Bzi0Rd1ZilCOF9LtZafDQ/edit?tab=t.0" TargetMode="Externa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hyperlink" Target="https://owl.purdue.edu/" TargetMode="Externa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43888" y="1131888"/>
            <a:ext cx="900112" cy="1131887"/>
          </a:xfrm>
          <a:prstGeom prst="rect">
            <a:avLst/>
          </a:prstGeom>
          <a:solidFill>
            <a:srgbClr val="002040"/>
          </a:solidFill>
          <a:ln/>
        </p:spPr>
        <p:txBody>
          <a:bodyPr/>
          <a:lstStyle/>
          <a:p>
            <a:endParaRPr lang="en-CA"/>
          </a:p>
        </p:txBody>
      </p:sp>
      <p:sp>
        <p:nvSpPr>
          <p:cNvPr id="4" name="Text 1"/>
          <p:cNvSpPr/>
          <p:nvPr/>
        </p:nvSpPr>
        <p:spPr>
          <a:xfrm>
            <a:off x="800100" y="3143249"/>
            <a:ext cx="6952284" cy="866775"/>
          </a:xfrm>
          <a:prstGeom prst="rect">
            <a:avLst/>
          </a:prstGeom>
          <a:noFill/>
          <a:ln/>
        </p:spPr>
        <p:txBody>
          <a:bodyPr wrap="square" rtlCol="0" anchor="ctr"/>
          <a:lstStyle/>
          <a:p>
            <a:pPr marL="0" indent="0" algn="l">
              <a:lnSpc>
                <a:spcPts val="2063"/>
              </a:lnSpc>
              <a:buNone/>
            </a:pPr>
            <a:r>
              <a:rPr lang="en-US" sz="1238" dirty="0">
                <a:solidFill>
                  <a:srgbClr val="002040">
                    <a:alpha val="99000"/>
                  </a:srgbClr>
                </a:solidFill>
                <a:latin typeface="Inter" pitchFamily="34" charset="0"/>
                <a:ea typeface="Inter" pitchFamily="34" charset="-122"/>
                <a:cs typeface="Inter" pitchFamily="34" charset="-120"/>
              </a:rPr>
              <a:t>Week 6 Tutorial</a:t>
            </a:r>
            <a:endParaRPr lang="en-US" sz="1238" dirty="0"/>
          </a:p>
          <a:p>
            <a:pPr marL="0" indent="0" algn="l">
              <a:lnSpc>
                <a:spcPts val="2063"/>
              </a:lnSpc>
              <a:buNone/>
            </a:pPr>
            <a:r>
              <a:rPr lang="en-US" sz="1238" dirty="0">
                <a:solidFill>
                  <a:srgbClr val="002040">
                    <a:alpha val="99000"/>
                  </a:srgbClr>
                </a:solidFill>
                <a:latin typeface="Inter" pitchFamily="34" charset="0"/>
                <a:ea typeface="Inter" pitchFamily="34" charset="-122"/>
                <a:cs typeface="Inter" pitchFamily="34" charset="-120"/>
              </a:rPr>
              <a:t>Zhehao Sun</a:t>
            </a:r>
            <a:endParaRPr lang="en-US" sz="1238" dirty="0"/>
          </a:p>
          <a:p>
            <a:pPr>
              <a:lnSpc>
                <a:spcPts val="2063"/>
              </a:lnSpc>
            </a:pPr>
            <a:r>
              <a:rPr lang="en-US" sz="1238" dirty="0">
                <a:solidFill>
                  <a:srgbClr val="002040">
                    <a:alpha val="99000"/>
                  </a:srgbClr>
                </a:solidFill>
                <a:latin typeface="Inter" pitchFamily="34" charset="0"/>
                <a:ea typeface="Inter" pitchFamily="34" charset="-122"/>
                <a:cs typeface="Inter" pitchFamily="34" charset="-120"/>
              </a:rPr>
              <a:t>Contact: zhehao.sun@ubc.ca</a:t>
            </a:r>
            <a:endParaRPr lang="en-US" sz="1238" dirty="0"/>
          </a:p>
        </p:txBody>
      </p:sp>
      <p:sp>
        <p:nvSpPr>
          <p:cNvPr id="5" name="Text 2"/>
          <p:cNvSpPr/>
          <p:nvPr/>
        </p:nvSpPr>
        <p:spPr>
          <a:xfrm>
            <a:off x="809625" y="1133475"/>
            <a:ext cx="7891463" cy="1571625"/>
          </a:xfrm>
          <a:prstGeom prst="rect">
            <a:avLst/>
          </a:prstGeom>
          <a:noFill/>
          <a:ln/>
        </p:spPr>
        <p:txBody>
          <a:bodyPr wrap="square" rtlCol="0" anchor="ctr"/>
          <a:lstStyle/>
          <a:p>
            <a:pPr marL="0" indent="0" algn="l">
              <a:lnSpc>
                <a:spcPts val="4331"/>
              </a:lnSpc>
              <a:buNone/>
            </a:pPr>
            <a:r>
              <a:rPr lang="en-US" sz="2888" b="1" dirty="0">
                <a:solidFill>
                  <a:srgbClr val="0077C8">
                    <a:alpha val="99000"/>
                  </a:srgbClr>
                </a:solidFill>
                <a:latin typeface="Poppins" pitchFamily="34" charset="0"/>
                <a:ea typeface="Poppins" pitchFamily="34" charset="-122"/>
                <a:cs typeface="Poppins" pitchFamily="34" charset="-120"/>
              </a:rPr>
              <a:t>ENGL/ DIHU 155</a:t>
            </a:r>
            <a:endParaRPr lang="en-US" sz="2888" dirty="0"/>
          </a:p>
          <a:p>
            <a:pPr marL="0" indent="0" algn="l">
              <a:lnSpc>
                <a:spcPts val="4331"/>
              </a:lnSpc>
              <a:buNone/>
            </a:pPr>
            <a:r>
              <a:rPr lang="en-US" sz="2888" b="1" dirty="0">
                <a:solidFill>
                  <a:srgbClr val="0077C8">
                    <a:alpha val="99000"/>
                  </a:srgbClr>
                </a:solidFill>
                <a:latin typeface="Poppins" pitchFamily="34" charset="0"/>
                <a:ea typeface="Poppins" pitchFamily="34" charset="-122"/>
                <a:cs typeface="Poppins" pitchFamily="34" charset="-120"/>
              </a:rPr>
              <a:t>Reading, Writing, and Making with Technology in the Humanities</a:t>
            </a:r>
            <a:endParaRPr lang="en-US" sz="2888"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43ECE8B-6978-0514-F1CF-9066E625B37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82A142B-DDC8-1AA1-B8B0-AB02AB0D9617}"/>
              </a:ext>
            </a:extLst>
          </p:cNvPr>
          <p:cNvSpPr/>
          <p:nvPr/>
        </p:nvSpPr>
        <p:spPr>
          <a:xfrm rot="10800000">
            <a:off x="8586788" y="4729163"/>
            <a:ext cx="304800" cy="192087"/>
          </a:xfrm>
          <a:prstGeom prst="rect">
            <a:avLst/>
          </a:prstGeom>
          <a:noFill/>
          <a:ln/>
        </p:spPr>
        <p:txBody>
          <a:bodyPr/>
          <a:lstStyle/>
          <a:p>
            <a:endParaRPr lang="en-CA"/>
          </a:p>
        </p:txBody>
      </p:sp>
      <p:sp>
        <p:nvSpPr>
          <p:cNvPr id="3" name="Shape 1">
            <a:extLst>
              <a:ext uri="{FF2B5EF4-FFF2-40B4-BE49-F238E27FC236}">
                <a16:creationId xmlns:a16="http://schemas.microsoft.com/office/drawing/2014/main" id="{771DE183-E15E-0F1F-819C-65F3A12F2D0F}"/>
              </a:ext>
            </a:extLst>
          </p:cNvPr>
          <p:cNvSpPr/>
          <p:nvPr/>
        </p:nvSpPr>
        <p:spPr>
          <a:xfrm>
            <a:off x="8623" y="469004"/>
            <a:ext cx="9134748" cy="572700"/>
          </a:xfrm>
          <a:prstGeom prst="rect">
            <a:avLst/>
          </a:prstGeom>
          <a:noFill/>
          <a:ln/>
        </p:spPr>
        <p:txBody>
          <a:bodyPr/>
          <a:lstStyle/>
          <a:p>
            <a:endParaRPr lang="en-CA"/>
          </a:p>
        </p:txBody>
      </p:sp>
      <p:sp>
        <p:nvSpPr>
          <p:cNvPr id="4" name="Shape 2">
            <a:extLst>
              <a:ext uri="{FF2B5EF4-FFF2-40B4-BE49-F238E27FC236}">
                <a16:creationId xmlns:a16="http://schemas.microsoft.com/office/drawing/2014/main" id="{4C60D0A5-DFAE-6FC7-0140-DAF6048CDCA2}"/>
              </a:ext>
            </a:extLst>
          </p:cNvPr>
          <p:cNvSpPr/>
          <p:nvPr/>
        </p:nvSpPr>
        <p:spPr>
          <a:xfrm>
            <a:off x="639128" y="1046230"/>
            <a:ext cx="7863935" cy="3303392"/>
          </a:xfrm>
          <a:prstGeom prst="rect">
            <a:avLst/>
          </a:prstGeom>
          <a:noFill/>
          <a:ln/>
        </p:spPr>
        <p:txBody>
          <a:bodyPr/>
          <a:lstStyle/>
          <a:p>
            <a:endParaRPr lang="en-CA"/>
          </a:p>
        </p:txBody>
      </p:sp>
      <p:sp>
        <p:nvSpPr>
          <p:cNvPr id="5" name="Shape 3">
            <a:extLst>
              <a:ext uri="{FF2B5EF4-FFF2-40B4-BE49-F238E27FC236}">
                <a16:creationId xmlns:a16="http://schemas.microsoft.com/office/drawing/2014/main" id="{7462D11F-D5CC-FC2E-3CBF-5133D4276179}"/>
              </a:ext>
            </a:extLst>
          </p:cNvPr>
          <p:cNvSpPr/>
          <p:nvPr/>
        </p:nvSpPr>
        <p:spPr>
          <a:xfrm>
            <a:off x="639128" y="1046230"/>
            <a:ext cx="7863935" cy="3303392"/>
          </a:xfrm>
          <a:prstGeom prst="rect">
            <a:avLst/>
          </a:prstGeom>
          <a:noFill/>
          <a:ln/>
        </p:spPr>
        <p:txBody>
          <a:bodyPr/>
          <a:lstStyle/>
          <a:p>
            <a:endParaRPr lang="en-CA"/>
          </a:p>
        </p:txBody>
      </p:sp>
      <p:sp>
        <p:nvSpPr>
          <p:cNvPr id="6" name="Shape 4">
            <a:extLst>
              <a:ext uri="{FF2B5EF4-FFF2-40B4-BE49-F238E27FC236}">
                <a16:creationId xmlns:a16="http://schemas.microsoft.com/office/drawing/2014/main" id="{1C934349-F8FF-025F-8BF4-F768715C005F}"/>
              </a:ext>
            </a:extLst>
          </p:cNvPr>
          <p:cNvSpPr/>
          <p:nvPr/>
        </p:nvSpPr>
        <p:spPr>
          <a:xfrm>
            <a:off x="8623" y="469004"/>
            <a:ext cx="9134748" cy="572700"/>
          </a:xfrm>
          <a:prstGeom prst="rect">
            <a:avLst/>
          </a:prstGeom>
          <a:noFill/>
          <a:ln/>
        </p:spPr>
        <p:txBody>
          <a:bodyPr/>
          <a:lstStyle/>
          <a:p>
            <a:endParaRPr lang="en-CA"/>
          </a:p>
        </p:txBody>
      </p:sp>
      <p:sp>
        <p:nvSpPr>
          <p:cNvPr id="9" name="Text 6">
            <a:extLst>
              <a:ext uri="{FF2B5EF4-FFF2-40B4-BE49-F238E27FC236}">
                <a16:creationId xmlns:a16="http://schemas.microsoft.com/office/drawing/2014/main" id="{E8DF15AA-9408-C293-CA62-31D105DF0E0A}"/>
              </a:ext>
            </a:extLst>
          </p:cNvPr>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chemeClr val="tx1">
                    <a:lumMod val="85000"/>
                    <a:lumOff val="15000"/>
                  </a:schemeClr>
                </a:solidFill>
                <a:latin typeface="Poppins" pitchFamily="34" charset="0"/>
                <a:ea typeface="Poppins" pitchFamily="34" charset="-122"/>
                <a:cs typeface="Poppins" pitchFamily="34" charset="-120"/>
              </a:rPr>
              <a:t>Reminder</a:t>
            </a:r>
            <a:endParaRPr lang="en-US" sz="2475" dirty="0">
              <a:solidFill>
                <a:schemeClr val="tx1">
                  <a:lumMod val="85000"/>
                  <a:lumOff val="15000"/>
                </a:schemeClr>
              </a:solidFill>
            </a:endParaRPr>
          </a:p>
        </p:txBody>
      </p:sp>
      <p:pic>
        <p:nvPicPr>
          <p:cNvPr id="10" name="图片 9" descr="日程表&#10;&#10;AI 生成的内容可能不正确。">
            <a:extLst>
              <a:ext uri="{FF2B5EF4-FFF2-40B4-BE49-F238E27FC236}">
                <a16:creationId xmlns:a16="http://schemas.microsoft.com/office/drawing/2014/main" id="{5A33B7BD-727A-0940-3012-F3DCD60AE535}"/>
              </a:ext>
            </a:extLst>
          </p:cNvPr>
          <p:cNvPicPr>
            <a:picLocks noChangeAspect="1"/>
          </p:cNvPicPr>
          <p:nvPr/>
        </p:nvPicPr>
        <p:blipFill>
          <a:blip r:embed="rId3"/>
          <a:stretch>
            <a:fillRect/>
          </a:stretch>
        </p:blipFill>
        <p:spPr>
          <a:xfrm>
            <a:off x="1469308" y="1046230"/>
            <a:ext cx="6026603" cy="1839445"/>
          </a:xfrm>
          <a:prstGeom prst="rect">
            <a:avLst/>
          </a:prstGeom>
        </p:spPr>
      </p:pic>
      <p:sp>
        <p:nvSpPr>
          <p:cNvPr id="12" name="文本框 11">
            <a:extLst>
              <a:ext uri="{FF2B5EF4-FFF2-40B4-BE49-F238E27FC236}">
                <a16:creationId xmlns:a16="http://schemas.microsoft.com/office/drawing/2014/main" id="{7881A207-E53A-5640-2C33-67B8D3DFF9B8}"/>
              </a:ext>
            </a:extLst>
          </p:cNvPr>
          <p:cNvSpPr txBox="1"/>
          <p:nvPr/>
        </p:nvSpPr>
        <p:spPr>
          <a:xfrm>
            <a:off x="1325225" y="3144164"/>
            <a:ext cx="6491740" cy="1661993"/>
          </a:xfrm>
          <a:prstGeom prst="rect">
            <a:avLst/>
          </a:prstGeom>
          <a:noFill/>
        </p:spPr>
        <p:txBody>
          <a:bodyPr wrap="square">
            <a:spAutoFit/>
          </a:bodyPr>
          <a:lstStyle/>
          <a:p>
            <a:pPr lvl="0">
              <a:lnSpc>
                <a:spcPct val="150000"/>
              </a:lnSpc>
            </a:pPr>
            <a:r>
              <a:rPr lang="en-US" sz="1200" dirty="0"/>
              <a:t>Essay 2 is the Monday after Reading Wee</a:t>
            </a:r>
            <a:r>
              <a:rPr lang="en-CA" sz="1200" dirty="0"/>
              <a:t>.</a:t>
            </a:r>
            <a:r>
              <a:rPr lang="en-US" sz="1200" dirty="0"/>
              <a:t> (February 23</a:t>
            </a:r>
            <a:r>
              <a:rPr lang="en-US" sz="1200" baseline="30000" dirty="0"/>
              <a:t>rd</a:t>
            </a:r>
            <a:r>
              <a:rPr lang="en-US" sz="1200" dirty="0"/>
              <a:t>, Week 8)</a:t>
            </a:r>
            <a:endParaRPr lang="en-US" sz="1200" i="1" dirty="0"/>
          </a:p>
          <a:p>
            <a:pPr>
              <a:lnSpc>
                <a:spcPct val="150000"/>
              </a:lnSpc>
            </a:pPr>
            <a:endParaRPr lang="en-US" sz="1200" dirty="0"/>
          </a:p>
          <a:p>
            <a:pPr lvl="0"/>
            <a:r>
              <a:rPr lang="en-US" sz="1200" dirty="0"/>
              <a:t>Grade Contract Renegotiations is due February 23rd. </a:t>
            </a:r>
            <a:endParaRPr lang="en-CA" sz="1200" dirty="0"/>
          </a:p>
          <a:p>
            <a:pPr>
              <a:lnSpc>
                <a:spcPct val="150000"/>
              </a:lnSpc>
            </a:pPr>
            <a:r>
              <a:rPr lang="en-US" sz="1200" dirty="0"/>
              <a:t>You must rewrite this even if you are maintaining your current grade contract</a:t>
            </a:r>
          </a:p>
          <a:p>
            <a:pPr lvl="0"/>
            <a:r>
              <a:rPr lang="en-US" sz="1200" dirty="0"/>
              <a:t>You can change your grade beforehand – this can lead to lighter revisions on your essay</a:t>
            </a:r>
          </a:p>
          <a:p>
            <a:pPr lvl="0"/>
            <a:endParaRPr lang="en-US" sz="1200" dirty="0"/>
          </a:p>
          <a:p>
            <a:pPr lvl="0"/>
            <a:r>
              <a:rPr lang="en-US" sz="1200" dirty="0"/>
              <a:t>No tutorial on Week 8. </a:t>
            </a:r>
          </a:p>
        </p:txBody>
      </p:sp>
    </p:spTree>
    <p:extLst>
      <p:ext uri="{BB962C8B-B14F-4D97-AF65-F5344CB8AC3E}">
        <p14:creationId xmlns:p14="http://schemas.microsoft.com/office/powerpoint/2010/main" val="66925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40"/>
        </a:solidFill>
        <a:effectLst/>
      </p:bgPr>
    </p:bg>
    <p:spTree>
      <p:nvGrpSpPr>
        <p:cNvPr id="1" name="">
          <a:extLst>
            <a:ext uri="{FF2B5EF4-FFF2-40B4-BE49-F238E27FC236}">
              <a16:creationId xmlns:a16="http://schemas.microsoft.com/office/drawing/2014/main" id="{7C6764E8-AC2B-B05B-AEB3-8816403A8DE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DEEDC9A-6905-3B63-B097-AEFF4926FC1B}"/>
              </a:ext>
            </a:extLst>
          </p:cNvPr>
          <p:cNvSpPr/>
          <p:nvPr/>
        </p:nvSpPr>
        <p:spPr>
          <a:xfrm rot="10800000">
            <a:off x="8586788" y="4729163"/>
            <a:ext cx="304800" cy="192087"/>
          </a:xfrm>
          <a:prstGeom prst="rect">
            <a:avLst/>
          </a:prstGeom>
          <a:noFill/>
          <a:ln/>
        </p:spPr>
        <p:txBody>
          <a:bodyPr/>
          <a:lstStyle/>
          <a:p>
            <a:endParaRPr lang="en-CA"/>
          </a:p>
        </p:txBody>
      </p:sp>
      <p:sp>
        <p:nvSpPr>
          <p:cNvPr id="3" name="Shape 1">
            <a:extLst>
              <a:ext uri="{FF2B5EF4-FFF2-40B4-BE49-F238E27FC236}">
                <a16:creationId xmlns:a16="http://schemas.microsoft.com/office/drawing/2014/main" id="{4E055416-68CC-3568-DA0A-724E80C87188}"/>
              </a:ext>
            </a:extLst>
          </p:cNvPr>
          <p:cNvSpPr/>
          <p:nvPr/>
        </p:nvSpPr>
        <p:spPr>
          <a:xfrm>
            <a:off x="8623" y="469004"/>
            <a:ext cx="9134748" cy="572700"/>
          </a:xfrm>
          <a:prstGeom prst="rect">
            <a:avLst/>
          </a:prstGeom>
          <a:noFill/>
          <a:ln/>
        </p:spPr>
        <p:txBody>
          <a:bodyPr/>
          <a:lstStyle/>
          <a:p>
            <a:endParaRPr lang="en-CA"/>
          </a:p>
        </p:txBody>
      </p:sp>
      <p:sp>
        <p:nvSpPr>
          <p:cNvPr id="4" name="Shape 2">
            <a:extLst>
              <a:ext uri="{FF2B5EF4-FFF2-40B4-BE49-F238E27FC236}">
                <a16:creationId xmlns:a16="http://schemas.microsoft.com/office/drawing/2014/main" id="{F44DAAEF-9534-16E9-B0AE-96ADB21C72F0}"/>
              </a:ext>
            </a:extLst>
          </p:cNvPr>
          <p:cNvSpPr/>
          <p:nvPr/>
        </p:nvSpPr>
        <p:spPr>
          <a:xfrm>
            <a:off x="639128" y="1046230"/>
            <a:ext cx="7863935" cy="3303392"/>
          </a:xfrm>
          <a:prstGeom prst="rect">
            <a:avLst/>
          </a:prstGeom>
          <a:noFill/>
          <a:ln/>
        </p:spPr>
        <p:txBody>
          <a:bodyPr/>
          <a:lstStyle/>
          <a:p>
            <a:endParaRPr lang="en-CA"/>
          </a:p>
        </p:txBody>
      </p:sp>
      <p:sp>
        <p:nvSpPr>
          <p:cNvPr id="5" name="Shape 3">
            <a:extLst>
              <a:ext uri="{FF2B5EF4-FFF2-40B4-BE49-F238E27FC236}">
                <a16:creationId xmlns:a16="http://schemas.microsoft.com/office/drawing/2014/main" id="{8F992845-A1C6-209C-BC51-0EF8E77CA49C}"/>
              </a:ext>
            </a:extLst>
          </p:cNvPr>
          <p:cNvSpPr/>
          <p:nvPr/>
        </p:nvSpPr>
        <p:spPr>
          <a:xfrm>
            <a:off x="639128" y="1046230"/>
            <a:ext cx="7863935" cy="3303392"/>
          </a:xfrm>
          <a:prstGeom prst="rect">
            <a:avLst/>
          </a:prstGeom>
          <a:noFill/>
          <a:ln/>
        </p:spPr>
        <p:txBody>
          <a:bodyPr/>
          <a:lstStyle/>
          <a:p>
            <a:endParaRPr lang="en-CA"/>
          </a:p>
        </p:txBody>
      </p:sp>
      <p:sp>
        <p:nvSpPr>
          <p:cNvPr id="6" name="Shape 4">
            <a:extLst>
              <a:ext uri="{FF2B5EF4-FFF2-40B4-BE49-F238E27FC236}">
                <a16:creationId xmlns:a16="http://schemas.microsoft.com/office/drawing/2014/main" id="{9EE9D832-606A-9824-3583-A1DA7FE22A80}"/>
              </a:ext>
            </a:extLst>
          </p:cNvPr>
          <p:cNvSpPr/>
          <p:nvPr/>
        </p:nvSpPr>
        <p:spPr>
          <a:xfrm>
            <a:off x="8623" y="469004"/>
            <a:ext cx="9134748" cy="572700"/>
          </a:xfrm>
          <a:prstGeom prst="rect">
            <a:avLst/>
          </a:prstGeom>
          <a:noFill/>
          <a:ln/>
        </p:spPr>
        <p:txBody>
          <a:bodyPr/>
          <a:lstStyle/>
          <a:p>
            <a:endParaRPr lang="en-CA"/>
          </a:p>
        </p:txBody>
      </p:sp>
      <p:sp>
        <p:nvSpPr>
          <p:cNvPr id="8" name="Text 5">
            <a:extLst>
              <a:ext uri="{FF2B5EF4-FFF2-40B4-BE49-F238E27FC236}">
                <a16:creationId xmlns:a16="http://schemas.microsoft.com/office/drawing/2014/main" id="{19E73599-31B2-8870-3E1E-C42E2F6A8DC3}"/>
              </a:ext>
            </a:extLst>
          </p:cNvPr>
          <p:cNvSpPr/>
          <p:nvPr/>
        </p:nvSpPr>
        <p:spPr>
          <a:xfrm>
            <a:off x="639128" y="1046230"/>
            <a:ext cx="8321135" cy="3303392"/>
          </a:xfrm>
          <a:prstGeom prst="rect">
            <a:avLst/>
          </a:prstGeom>
          <a:noFill/>
          <a:ln/>
        </p:spPr>
        <p:txBody>
          <a:bodyPr wrap="square" rtlCol="0" anchor="ctr"/>
          <a:lstStyle/>
          <a:p>
            <a:pPr>
              <a:lnSpc>
                <a:spcPts val="1694"/>
              </a:lnSpc>
            </a:pPr>
            <a:r>
              <a:rPr lang="en-US" sz="1400" b="1" dirty="0">
                <a:solidFill>
                  <a:srgbClr val="C00000">
                    <a:alpha val="99000"/>
                  </a:srgbClr>
                </a:solidFill>
                <a:latin typeface="Inter" pitchFamily="34" charset="0"/>
                <a:ea typeface="Inter" pitchFamily="34" charset="-122"/>
              </a:rPr>
              <a:t>Week 6 Reading</a:t>
            </a:r>
          </a:p>
          <a:p>
            <a:pPr>
              <a:lnSpc>
                <a:spcPts val="1694"/>
              </a:lnSpc>
            </a:pPr>
            <a:endParaRPr lang="en-US" sz="1400" b="1" dirty="0">
              <a:solidFill>
                <a:srgbClr val="C00000">
                  <a:alpha val="99000"/>
                </a:srgbClr>
              </a:solidFill>
              <a:latin typeface="Inter" pitchFamily="34" charset="0"/>
              <a:ea typeface="Inter" pitchFamily="34" charset="-122"/>
            </a:endParaRPr>
          </a:p>
          <a:p>
            <a:pPr marL="285750" indent="-228600" fontAlgn="ctr">
              <a:lnSpc>
                <a:spcPct val="90000"/>
              </a:lnSpc>
              <a:spcAft>
                <a:spcPts val="600"/>
              </a:spcAft>
              <a:buFont typeface="Arial" panose="020B0604020202020204" pitchFamily="34" charset="0"/>
              <a:buChar char="•"/>
            </a:pPr>
            <a:r>
              <a:rPr lang="en-US" sz="1400" dirty="0" err="1">
                <a:solidFill>
                  <a:schemeClr val="bg1"/>
                </a:solidFill>
              </a:rPr>
              <a:t>Okorafor</a:t>
            </a:r>
            <a:r>
              <a:rPr lang="en-US" sz="1400" dirty="0">
                <a:solidFill>
                  <a:schemeClr val="bg1"/>
                </a:solidFill>
              </a:rPr>
              <a:t>, </a:t>
            </a:r>
            <a:r>
              <a:rPr lang="en-US" sz="1400" dirty="0" err="1">
                <a:solidFill>
                  <a:schemeClr val="bg1"/>
                </a:solidFill>
              </a:rPr>
              <a:t>Nnedi</a:t>
            </a:r>
            <a:r>
              <a:rPr lang="en-US" sz="1400" dirty="0">
                <a:solidFill>
                  <a:schemeClr val="bg1"/>
                </a:solidFill>
              </a:rPr>
              <a:t>. </a:t>
            </a:r>
            <a:r>
              <a:rPr lang="en-US" sz="1400" i="1" dirty="0">
                <a:solidFill>
                  <a:schemeClr val="bg1"/>
                </a:solidFill>
              </a:rPr>
              <a:t>The Book of Phoenix.</a:t>
            </a:r>
            <a:r>
              <a:rPr lang="en-US" sz="1400" dirty="0">
                <a:solidFill>
                  <a:schemeClr val="bg1"/>
                </a:solidFill>
              </a:rPr>
              <a:t> (Read </a:t>
            </a:r>
            <a:r>
              <a:rPr lang="en-US" altLang="zh-CN" sz="1400" dirty="0">
                <a:solidFill>
                  <a:schemeClr val="bg1"/>
                </a:solidFill>
              </a:rPr>
              <a:t>Second</a:t>
            </a:r>
            <a:r>
              <a:rPr lang="en-US" sz="1400" dirty="0">
                <a:solidFill>
                  <a:schemeClr val="bg1"/>
                </a:solidFill>
              </a:rPr>
              <a:t> half by lecture.) </a:t>
            </a:r>
          </a:p>
          <a:p>
            <a:pPr marL="285750" indent="-228600" fontAlgn="ctr">
              <a:lnSpc>
                <a:spcPct val="90000"/>
              </a:lnSpc>
              <a:spcAft>
                <a:spcPts val="600"/>
              </a:spcAft>
              <a:buFont typeface="Arial" panose="020B0604020202020204" pitchFamily="34" charset="0"/>
              <a:buChar char="•"/>
            </a:pPr>
            <a:endParaRPr lang="en-US" sz="1400" i="1" dirty="0">
              <a:solidFill>
                <a:schemeClr val="bg1"/>
              </a:solidFill>
            </a:endParaRPr>
          </a:p>
          <a:p>
            <a:pPr marL="285750" indent="-228600" fontAlgn="ctr">
              <a:lnSpc>
                <a:spcPct val="90000"/>
              </a:lnSpc>
              <a:spcAft>
                <a:spcPts val="600"/>
              </a:spcAft>
              <a:buFont typeface="Arial" panose="020B0604020202020204" pitchFamily="34" charset="0"/>
              <a:buChar char="•"/>
            </a:pPr>
            <a:r>
              <a:rPr lang="en-US" sz="1400" i="1" dirty="0">
                <a:solidFill>
                  <a:schemeClr val="bg1">
                    <a:lumMod val="95000"/>
                  </a:schemeClr>
                </a:solidFill>
              </a:rPr>
              <a:t>They Say I Say</a:t>
            </a:r>
            <a:r>
              <a:rPr lang="en-US" sz="1400" dirty="0">
                <a:solidFill>
                  <a:schemeClr val="bg1">
                    <a:lumMod val="95000"/>
                  </a:schemeClr>
                </a:solidFill>
              </a:rPr>
              <a:t> Chapters 8 and 9</a:t>
            </a:r>
            <a:endParaRPr lang="en-US" sz="1400" b="1" dirty="0">
              <a:solidFill>
                <a:srgbClr val="C00000">
                  <a:alpha val="99000"/>
                </a:srgbClr>
              </a:solidFill>
              <a:latin typeface="Inter" pitchFamily="34" charset="0"/>
              <a:ea typeface="Inter" pitchFamily="34" charset="-122"/>
            </a:endParaRPr>
          </a:p>
        </p:txBody>
      </p:sp>
      <p:sp>
        <p:nvSpPr>
          <p:cNvPr id="9" name="Text 6">
            <a:extLst>
              <a:ext uri="{FF2B5EF4-FFF2-40B4-BE49-F238E27FC236}">
                <a16:creationId xmlns:a16="http://schemas.microsoft.com/office/drawing/2014/main" id="{C11FC954-8C35-0BF4-7FFE-B2867B96B2B9}"/>
              </a:ext>
            </a:extLst>
          </p:cNvPr>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rgbClr val="BDE3FF">
                    <a:alpha val="99000"/>
                  </a:srgbClr>
                </a:solidFill>
                <a:latin typeface="Poppins" pitchFamily="34" charset="0"/>
                <a:ea typeface="Poppins" pitchFamily="34" charset="-122"/>
                <a:cs typeface="Poppins" pitchFamily="34" charset="-120"/>
              </a:rPr>
              <a:t>Reminder</a:t>
            </a:r>
            <a:endParaRPr lang="en-US" sz="2475" dirty="0"/>
          </a:p>
        </p:txBody>
      </p:sp>
    </p:spTree>
    <p:extLst>
      <p:ext uri="{BB962C8B-B14F-4D97-AF65-F5344CB8AC3E}">
        <p14:creationId xmlns:p14="http://schemas.microsoft.com/office/powerpoint/2010/main" val="2356526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2040"/>
        </a:solidFill>
        <a:effectLst/>
      </p:bgPr>
    </p:bg>
    <p:spTree>
      <p:nvGrpSpPr>
        <p:cNvPr id="1" name=""/>
        <p:cNvGrpSpPr/>
        <p:nvPr/>
      </p:nvGrpSpPr>
      <p:grpSpPr>
        <a:xfrm>
          <a:off x="0" y="0"/>
          <a:ext cx="0" cy="0"/>
          <a:chOff x="0" y="0"/>
          <a:chExt cx="0" cy="0"/>
        </a:xfrm>
      </p:grpSpPr>
      <p:sp>
        <p:nvSpPr>
          <p:cNvPr id="2" name="Shape 0"/>
          <p:cNvSpPr/>
          <p:nvPr/>
        </p:nvSpPr>
        <p:spPr>
          <a:xfrm rot="10800000">
            <a:off x="8586788" y="4729163"/>
            <a:ext cx="304800" cy="192087"/>
          </a:xfrm>
          <a:prstGeom prst="rect">
            <a:avLst/>
          </a:prstGeom>
          <a:noFill/>
          <a:ln/>
        </p:spPr>
        <p:txBody>
          <a:bodyPr/>
          <a:lstStyle/>
          <a:p>
            <a:endParaRPr lang="en-CA"/>
          </a:p>
        </p:txBody>
      </p:sp>
      <p:sp>
        <p:nvSpPr>
          <p:cNvPr id="3" name="Shape 1"/>
          <p:cNvSpPr/>
          <p:nvPr/>
        </p:nvSpPr>
        <p:spPr>
          <a:xfrm>
            <a:off x="8623" y="469004"/>
            <a:ext cx="9134748" cy="572700"/>
          </a:xfrm>
          <a:prstGeom prst="rect">
            <a:avLst/>
          </a:prstGeom>
          <a:noFill/>
          <a:ln/>
        </p:spPr>
        <p:txBody>
          <a:bodyPr/>
          <a:lstStyle/>
          <a:p>
            <a:endParaRPr lang="en-CA"/>
          </a:p>
        </p:txBody>
      </p:sp>
      <p:sp>
        <p:nvSpPr>
          <p:cNvPr id="4" name="Shape 2"/>
          <p:cNvSpPr/>
          <p:nvPr/>
        </p:nvSpPr>
        <p:spPr>
          <a:xfrm>
            <a:off x="639128" y="1046230"/>
            <a:ext cx="7863935" cy="3303392"/>
          </a:xfrm>
          <a:prstGeom prst="rect">
            <a:avLst/>
          </a:prstGeom>
          <a:noFill/>
          <a:ln/>
        </p:spPr>
        <p:txBody>
          <a:bodyPr/>
          <a:lstStyle/>
          <a:p>
            <a:endParaRPr lang="en-CA"/>
          </a:p>
        </p:txBody>
      </p:sp>
      <p:sp>
        <p:nvSpPr>
          <p:cNvPr id="5" name="Shape 3"/>
          <p:cNvSpPr/>
          <p:nvPr/>
        </p:nvSpPr>
        <p:spPr>
          <a:xfrm>
            <a:off x="639128" y="1046230"/>
            <a:ext cx="7863935" cy="3303392"/>
          </a:xfrm>
          <a:prstGeom prst="rect">
            <a:avLst/>
          </a:prstGeom>
          <a:noFill/>
          <a:ln/>
        </p:spPr>
        <p:txBody>
          <a:bodyPr/>
          <a:lstStyle/>
          <a:p>
            <a:endParaRPr lang="en-CA"/>
          </a:p>
        </p:txBody>
      </p:sp>
      <p:sp>
        <p:nvSpPr>
          <p:cNvPr id="6" name="Shape 4"/>
          <p:cNvSpPr/>
          <p:nvPr/>
        </p:nvSpPr>
        <p:spPr>
          <a:xfrm>
            <a:off x="8623" y="469004"/>
            <a:ext cx="9134748" cy="572700"/>
          </a:xfrm>
          <a:prstGeom prst="rect">
            <a:avLst/>
          </a:prstGeom>
          <a:noFill/>
          <a:ln/>
        </p:spPr>
        <p:txBody>
          <a:bodyPr/>
          <a:lstStyle/>
          <a:p>
            <a:endParaRPr lang="en-CA"/>
          </a:p>
        </p:txBody>
      </p:sp>
      <p:pic>
        <p:nvPicPr>
          <p:cNvPr id="8" name="Image 1" descr="preencoded.png"/>
          <p:cNvPicPr>
            <a:picLocks noChangeAspect="1"/>
          </p:cNvPicPr>
          <p:nvPr/>
        </p:nvPicPr>
        <p:blipFill>
          <a:blip r:embed="rId3"/>
          <a:srcRect t="10886"/>
          <a:stretch>
            <a:fillRect/>
          </a:stretch>
        </p:blipFill>
        <p:spPr>
          <a:xfrm>
            <a:off x="3027180" y="1409550"/>
            <a:ext cx="4862066" cy="2642572"/>
          </a:xfrm>
          <a:prstGeom prst="rect">
            <a:avLst/>
          </a:prstGeom>
        </p:spPr>
      </p:pic>
      <p:sp>
        <p:nvSpPr>
          <p:cNvPr id="9" name="Text 5"/>
          <p:cNvSpPr/>
          <p:nvPr/>
        </p:nvSpPr>
        <p:spPr>
          <a:xfrm>
            <a:off x="639128" y="1046230"/>
            <a:ext cx="8321135" cy="3303392"/>
          </a:xfrm>
          <a:prstGeom prst="rect">
            <a:avLst/>
          </a:prstGeom>
          <a:noFill/>
          <a:ln/>
        </p:spPr>
        <p:txBody>
          <a:bodyPr wrap="square" rtlCol="0" anchor="ctr"/>
          <a:lstStyle/>
          <a:p>
            <a:pPr marL="0" indent="0" algn="l">
              <a:lnSpc>
                <a:spcPts val="2496"/>
              </a:lnSpc>
              <a:buNone/>
            </a:pPr>
            <a:r>
              <a:rPr lang="en-US" sz="2063" dirty="0">
                <a:solidFill>
                  <a:srgbClr val="BDE3FF">
                    <a:alpha val="99000"/>
                  </a:srgbClr>
                </a:solidFill>
                <a:latin typeface="Inter" pitchFamily="34" charset="0"/>
                <a:ea typeface="Inter" pitchFamily="34" charset="-122"/>
                <a:cs typeface="Inter" pitchFamily="34" charset="-120"/>
              </a:rPr>
              <a:t>Office Hours</a:t>
            </a:r>
          </a:p>
          <a:p>
            <a:pPr marL="0" indent="0" algn="l">
              <a:lnSpc>
                <a:spcPts val="2496"/>
              </a:lnSpc>
              <a:buNone/>
            </a:pPr>
            <a:endParaRPr lang="en-US" sz="2063" dirty="0">
              <a:solidFill>
                <a:srgbClr val="BDE3FF">
                  <a:alpha val="99000"/>
                </a:srgbClr>
              </a:solidFill>
              <a:latin typeface="Inter" pitchFamily="34" charset="0"/>
              <a:ea typeface="Inter" pitchFamily="34" charset="-122"/>
              <a:cs typeface="Inter" pitchFamily="34" charset="-120"/>
            </a:endParaRPr>
          </a:p>
          <a:p>
            <a:pPr marL="0" indent="0" algn="l">
              <a:lnSpc>
                <a:spcPts val="2496"/>
              </a:lnSpc>
              <a:buNone/>
            </a:pPr>
            <a:r>
              <a:rPr lang="en-US" sz="2063" dirty="0">
                <a:solidFill>
                  <a:srgbClr val="BDE3FF">
                    <a:alpha val="99000"/>
                  </a:srgbClr>
                </a:solidFill>
                <a:latin typeface="Inter" pitchFamily="34" charset="0"/>
                <a:ea typeface="Inter" pitchFamily="34" charset="-122"/>
                <a:hlinkClick r:id="rId4"/>
              </a:rPr>
              <a:t>Sign Up Sheet</a:t>
            </a:r>
            <a:endParaRPr lang="en-US" sz="2063" dirty="0"/>
          </a:p>
          <a:p>
            <a:pPr marL="0" indent="0" algn="l">
              <a:lnSpc>
                <a:spcPts val="1498"/>
              </a:lnSpc>
              <a:buNone/>
            </a:pPr>
            <a:endParaRPr lang="en-US" sz="1238" dirty="0">
              <a:solidFill>
                <a:srgbClr val="BDE3FF">
                  <a:alpha val="99000"/>
                </a:srgbClr>
              </a:solidFill>
              <a:latin typeface="Inter" pitchFamily="34" charset="0"/>
              <a:ea typeface="Inter" pitchFamily="34" charset="-122"/>
              <a:cs typeface="Inter" pitchFamily="34" charset="-120"/>
            </a:endParaRPr>
          </a:p>
          <a:p>
            <a:pPr marL="0" indent="0" algn="l">
              <a:lnSpc>
                <a:spcPts val="1498"/>
              </a:lnSpc>
              <a:buNone/>
            </a:pPr>
            <a:endParaRPr lang="en-US" sz="1238" dirty="0">
              <a:solidFill>
                <a:srgbClr val="BDE3FF">
                  <a:alpha val="99000"/>
                </a:srgbClr>
              </a:solidFill>
              <a:latin typeface="Inter" pitchFamily="34" charset="0"/>
              <a:ea typeface="Inter" pitchFamily="34" charset="-122"/>
              <a:cs typeface="Inter" pitchFamily="34" charset="-120"/>
            </a:endParaRPr>
          </a:p>
          <a:p>
            <a:pPr marL="0" indent="0" algn="l">
              <a:lnSpc>
                <a:spcPts val="1498"/>
              </a:lnSpc>
              <a:buNone/>
            </a:pPr>
            <a:r>
              <a:rPr lang="en-US" sz="1238" dirty="0">
                <a:solidFill>
                  <a:srgbClr val="BDE3FF">
                    <a:alpha val="99000"/>
                  </a:srgbClr>
                </a:solidFill>
                <a:latin typeface="Inter" pitchFamily="34" charset="0"/>
                <a:ea typeface="Inter" pitchFamily="34" charset="-122"/>
                <a:cs typeface="Inter" pitchFamily="34" charset="-120"/>
              </a:rPr>
              <a:t>Fridays 10:00 – 12:00</a:t>
            </a:r>
          </a:p>
          <a:p>
            <a:pPr marL="0" indent="0" algn="l">
              <a:lnSpc>
                <a:spcPts val="1498"/>
              </a:lnSpc>
              <a:buNone/>
            </a:pPr>
            <a:endParaRPr lang="en-US" sz="1238" dirty="0">
              <a:solidFill>
                <a:srgbClr val="BDE3FF">
                  <a:alpha val="99000"/>
                </a:srgbClr>
              </a:solidFill>
              <a:latin typeface="Inter" pitchFamily="34" charset="0"/>
              <a:ea typeface="Inter" pitchFamily="34" charset="-122"/>
            </a:endParaRPr>
          </a:p>
        </p:txBody>
      </p:sp>
      <p:sp>
        <p:nvSpPr>
          <p:cNvPr id="10" name="Text 6"/>
          <p:cNvSpPr/>
          <p:nvPr/>
        </p:nvSpPr>
        <p:spPr>
          <a:xfrm>
            <a:off x="8623" y="469004"/>
            <a:ext cx="9591948" cy="572700"/>
          </a:xfrm>
          <a:prstGeom prst="rect">
            <a:avLst/>
          </a:prstGeom>
          <a:noFill/>
          <a:ln/>
        </p:spPr>
        <p:txBody>
          <a:bodyPr wrap="square" rtlCol="0" anchor="ctr"/>
          <a:lstStyle/>
          <a:p>
            <a:pPr marL="0" indent="0" algn="ctr">
              <a:lnSpc>
                <a:spcPts val="3713"/>
              </a:lnSpc>
              <a:buNone/>
            </a:pPr>
            <a:r>
              <a:rPr lang="en-US" sz="2475" dirty="0">
                <a:solidFill>
                  <a:srgbClr val="BDE3FF">
                    <a:alpha val="99000"/>
                  </a:srgbClr>
                </a:solidFill>
                <a:latin typeface="Poppins" pitchFamily="34" charset="0"/>
                <a:ea typeface="Poppins" pitchFamily="34" charset="-122"/>
                <a:cs typeface="Poppins" pitchFamily="34" charset="-120"/>
              </a:rPr>
              <a:t>Reminder</a:t>
            </a:r>
            <a:endParaRPr lang="en-US" sz="24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E660C-61A3-CA19-3A3A-DF947DB72FA3}"/>
              </a:ext>
            </a:extLst>
          </p:cNvPr>
          <p:cNvSpPr>
            <a:spLocks noGrp="1"/>
          </p:cNvSpPr>
          <p:nvPr>
            <p:ph type="title"/>
          </p:nvPr>
        </p:nvSpPr>
        <p:spPr>
          <a:xfrm>
            <a:off x="1028698" y="261649"/>
            <a:ext cx="7533017" cy="658297"/>
          </a:xfrm>
        </p:spPr>
        <p:txBody>
          <a:bodyPr anchor="ctr">
            <a:normAutofit/>
          </a:bodyPr>
          <a:lstStyle/>
          <a:p>
            <a:r>
              <a:rPr lang="en-US" sz="3000">
                <a:solidFill>
                  <a:srgbClr val="FFFFFF"/>
                </a:solidFill>
              </a:rPr>
              <a:t>Review – Last week we looked at themes</a:t>
            </a:r>
          </a:p>
        </p:txBody>
      </p:sp>
      <p:graphicFrame>
        <p:nvGraphicFramePr>
          <p:cNvPr id="5" name="Content Placeholder 2">
            <a:extLst>
              <a:ext uri="{FF2B5EF4-FFF2-40B4-BE49-F238E27FC236}">
                <a16:creationId xmlns:a16="http://schemas.microsoft.com/office/drawing/2014/main" id="{E59B4D8E-A50E-05FD-D4C8-1AEE68FB8F98}"/>
              </a:ext>
            </a:extLst>
          </p:cNvPr>
          <p:cNvGraphicFramePr>
            <a:graphicFrameLocks noGrp="1"/>
          </p:cNvGraphicFramePr>
          <p:nvPr>
            <p:ph idx="1"/>
          </p:nvPr>
        </p:nvGraphicFramePr>
        <p:xfrm>
          <a:off x="483042" y="1584435"/>
          <a:ext cx="8195872" cy="3144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9984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0788D-0B4D-294B-6639-CEC5DD1BD532}"/>
              </a:ext>
            </a:extLst>
          </p:cNvPr>
          <p:cNvSpPr>
            <a:spLocks noGrp="1"/>
          </p:cNvSpPr>
          <p:nvPr>
            <p:ph type="title"/>
          </p:nvPr>
        </p:nvSpPr>
        <p:spPr>
          <a:xfrm>
            <a:off x="571352" y="262647"/>
            <a:ext cx="3485178" cy="1218390"/>
          </a:xfrm>
        </p:spPr>
        <p:txBody>
          <a:bodyPr vert="horz" lIns="68580" tIns="34290" rIns="68580" bIns="34290" rtlCol="0" anchor="ctr">
            <a:normAutofit/>
          </a:bodyPr>
          <a:lstStyle/>
          <a:p>
            <a:r>
              <a:rPr lang="en-US" sz="3000" dirty="0"/>
              <a:t>What is a ‘theme’ in literature?</a:t>
            </a:r>
          </a:p>
        </p:txBody>
      </p:sp>
      <p:sp>
        <p:nvSpPr>
          <p:cNvPr id="5" name="TextBox 4">
            <a:extLst>
              <a:ext uri="{FF2B5EF4-FFF2-40B4-BE49-F238E27FC236}">
                <a16:creationId xmlns:a16="http://schemas.microsoft.com/office/drawing/2014/main" id="{47A34B1A-B3B9-9930-8A84-1C0BB6A03D20}"/>
              </a:ext>
            </a:extLst>
          </p:cNvPr>
          <p:cNvSpPr txBox="1"/>
          <p:nvPr/>
        </p:nvSpPr>
        <p:spPr>
          <a:xfrm>
            <a:off x="603017" y="4689630"/>
            <a:ext cx="4500271" cy="507831"/>
          </a:xfrm>
          <a:prstGeom prst="rect">
            <a:avLst/>
          </a:prstGeom>
          <a:noFill/>
        </p:spPr>
        <p:txBody>
          <a:bodyPr wrap="none" rtlCol="0">
            <a:spAutoFit/>
          </a:bodyPr>
          <a:lstStyle/>
          <a:p>
            <a:r>
              <a:rPr lang="en-CA" sz="1350" dirty="0"/>
              <a:t>“Theme” </a:t>
            </a:r>
            <a:r>
              <a:rPr lang="en-CA" sz="1350" i="1" dirty="0" err="1"/>
              <a:t>LitCharts</a:t>
            </a:r>
            <a:r>
              <a:rPr lang="en-CA" sz="1350" dirty="0"/>
              <a:t>, 30 January 2026, </a:t>
            </a:r>
          </a:p>
          <a:p>
            <a:r>
              <a:rPr lang="en-CA" sz="1350" dirty="0"/>
              <a:t>https://</a:t>
            </a:r>
            <a:r>
              <a:rPr lang="en-CA" sz="1350" dirty="0" err="1"/>
              <a:t>www.litcharts.com</a:t>
            </a:r>
            <a:r>
              <a:rPr lang="en-CA" sz="1350" dirty="0"/>
              <a:t>/literary-devices-and-terms/theme</a:t>
            </a:r>
          </a:p>
        </p:txBody>
      </p:sp>
      <p:sp>
        <p:nvSpPr>
          <p:cNvPr id="9" name="文本框 8">
            <a:extLst>
              <a:ext uri="{FF2B5EF4-FFF2-40B4-BE49-F238E27FC236}">
                <a16:creationId xmlns:a16="http://schemas.microsoft.com/office/drawing/2014/main" id="{412FD6BE-4994-0C06-8FB1-2247316465CF}"/>
              </a:ext>
            </a:extLst>
          </p:cNvPr>
          <p:cNvSpPr txBox="1"/>
          <p:nvPr/>
        </p:nvSpPr>
        <p:spPr>
          <a:xfrm>
            <a:off x="603017" y="3130224"/>
            <a:ext cx="7330206" cy="1200329"/>
          </a:xfrm>
          <a:prstGeom prst="rect">
            <a:avLst/>
          </a:prstGeom>
          <a:noFill/>
        </p:spPr>
        <p:txBody>
          <a:bodyPr wrap="square">
            <a:spAutoFit/>
          </a:bodyPr>
          <a:lstStyle/>
          <a:p>
            <a:pPr lvl="0">
              <a:lnSpc>
                <a:spcPct val="100000"/>
              </a:lnSpc>
            </a:pPr>
            <a:r>
              <a:rPr lang="en-US" sz="1800" dirty="0"/>
              <a:t>For example, John Steinbeck’s </a:t>
            </a:r>
            <a:r>
              <a:rPr lang="en-US" sz="1800" i="1" dirty="0"/>
              <a:t>The Grapes of Wrath </a:t>
            </a:r>
            <a:r>
              <a:rPr lang="en-US" sz="1800" dirty="0"/>
              <a:t>(about a family of tenant farmers who are displaced from their land in Oklahoma) is a book whose themes might be said to include the inhumanity of capitalism, as well as the vitality and necessity of family and friendship.</a:t>
            </a:r>
          </a:p>
        </p:txBody>
      </p:sp>
      <p:sp>
        <p:nvSpPr>
          <p:cNvPr id="3" name="文本框 2">
            <a:extLst>
              <a:ext uri="{FF2B5EF4-FFF2-40B4-BE49-F238E27FC236}">
                <a16:creationId xmlns:a16="http://schemas.microsoft.com/office/drawing/2014/main" id="{BC5828AD-A9BE-3AAF-E530-A65A14E7625A}"/>
              </a:ext>
            </a:extLst>
          </p:cNvPr>
          <p:cNvSpPr txBox="1"/>
          <p:nvPr/>
        </p:nvSpPr>
        <p:spPr>
          <a:xfrm>
            <a:off x="603017" y="1293819"/>
            <a:ext cx="7232234" cy="1477328"/>
          </a:xfrm>
          <a:prstGeom prst="rect">
            <a:avLst/>
          </a:prstGeom>
          <a:noFill/>
        </p:spPr>
        <p:txBody>
          <a:bodyPr wrap="square">
            <a:spAutoFit/>
          </a:bodyPr>
          <a:lstStyle/>
          <a:p>
            <a:pPr lvl="0">
              <a:lnSpc>
                <a:spcPct val="100000"/>
              </a:lnSpc>
            </a:pPr>
            <a:r>
              <a:rPr lang="en-US" sz="1800" dirty="0"/>
              <a:t>A theme is a universal idea, lesson, or message explored throughout a work of literature. One key characteristic of literary themes is their universality, which is to say that themes are ideas that not only apply to the specific characters and events of a book or play, but also express broader truths about human experience that readers can apply to their own lives. </a:t>
            </a:r>
          </a:p>
        </p:txBody>
      </p:sp>
    </p:spTree>
    <p:extLst>
      <p:ext uri="{BB962C8B-B14F-4D97-AF65-F5344CB8AC3E}">
        <p14:creationId xmlns:p14="http://schemas.microsoft.com/office/powerpoint/2010/main" val="2388312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360045"/>
            <a:ext cx="8428482" cy="442341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表格 3">
            <a:extLst>
              <a:ext uri="{FF2B5EF4-FFF2-40B4-BE49-F238E27FC236}">
                <a16:creationId xmlns:a16="http://schemas.microsoft.com/office/drawing/2014/main" id="{FDF5DC8B-4287-A985-996F-CD228B31619D}"/>
              </a:ext>
            </a:extLst>
          </p:cNvPr>
          <p:cNvGraphicFramePr>
            <a:graphicFrameLocks noGrp="1"/>
          </p:cNvGraphicFramePr>
          <p:nvPr>
            <p:extLst>
              <p:ext uri="{D42A27DB-BD31-4B8C-83A1-F6EECF244321}">
                <p14:modId xmlns:p14="http://schemas.microsoft.com/office/powerpoint/2010/main" val="804928218"/>
              </p:ext>
            </p:extLst>
          </p:nvPr>
        </p:nvGraphicFramePr>
        <p:xfrm>
          <a:off x="434975" y="1137285"/>
          <a:ext cx="5271762" cy="2868930"/>
        </p:xfrm>
        <a:graphic>
          <a:graphicData uri="http://schemas.openxmlformats.org/drawingml/2006/table">
            <a:tbl>
              <a:tblPr>
                <a:solidFill>
                  <a:schemeClr val="bg1"/>
                </a:solidFill>
              </a:tblPr>
              <a:tblGrid>
                <a:gridCol w="590995">
                  <a:extLst>
                    <a:ext uri="{9D8B030D-6E8A-4147-A177-3AD203B41FA5}">
                      <a16:colId xmlns:a16="http://schemas.microsoft.com/office/drawing/2014/main" val="2764368440"/>
                    </a:ext>
                  </a:extLst>
                </a:gridCol>
                <a:gridCol w="1855989">
                  <a:extLst>
                    <a:ext uri="{9D8B030D-6E8A-4147-A177-3AD203B41FA5}">
                      <a16:colId xmlns:a16="http://schemas.microsoft.com/office/drawing/2014/main" val="2747654270"/>
                    </a:ext>
                  </a:extLst>
                </a:gridCol>
                <a:gridCol w="1777071">
                  <a:extLst>
                    <a:ext uri="{9D8B030D-6E8A-4147-A177-3AD203B41FA5}">
                      <a16:colId xmlns:a16="http://schemas.microsoft.com/office/drawing/2014/main" val="62747801"/>
                    </a:ext>
                  </a:extLst>
                </a:gridCol>
                <a:gridCol w="1047707">
                  <a:extLst>
                    <a:ext uri="{9D8B030D-6E8A-4147-A177-3AD203B41FA5}">
                      <a16:colId xmlns:a16="http://schemas.microsoft.com/office/drawing/2014/main" val="3733866810"/>
                    </a:ext>
                  </a:extLst>
                </a:gridCol>
              </a:tblGrid>
              <a:tr h="358878">
                <a:tc>
                  <a:txBody>
                    <a:bodyPr/>
                    <a:lstStyle/>
                    <a:p>
                      <a:pPr rtl="0">
                        <a:buNone/>
                      </a:pPr>
                      <a:r>
                        <a:rPr lang="en-CA" sz="1000" b="1" cap="none" spc="0">
                          <a:solidFill>
                            <a:schemeClr val="tx1"/>
                          </a:solidFill>
                          <a:effectLst/>
                          <a:latin typeface="Google Sans Text"/>
                        </a:rPr>
                        <a:t>Themes</a:t>
                      </a:r>
                      <a:endParaRPr lang="en-CA" sz="1000" cap="none" spc="0">
                        <a:solidFill>
                          <a:schemeClr val="tx1"/>
                        </a:solidFill>
                        <a:effectLst/>
                        <a:latin typeface="Google Sans Text"/>
                      </a:endParaRPr>
                    </a:p>
                  </a:txBody>
                  <a:tcPr marL="126301" marR="59335" marT="97155" marB="97155"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rtl="0">
                        <a:buNone/>
                      </a:pPr>
                      <a:r>
                        <a:rPr lang="en-CA" sz="1000" b="1" cap="none" spc="0">
                          <a:solidFill>
                            <a:schemeClr val="tx1"/>
                          </a:solidFill>
                          <a:effectLst/>
                          <a:latin typeface="Google Sans Text"/>
                        </a:rPr>
                        <a:t>Identity</a:t>
                      </a:r>
                      <a:endParaRPr lang="en-CA" sz="1000" cap="none" spc="0">
                        <a:solidFill>
                          <a:schemeClr val="tx1"/>
                        </a:solidFill>
                        <a:effectLst/>
                        <a:latin typeface="Google Sans Text"/>
                      </a:endParaRPr>
                    </a:p>
                  </a:txBody>
                  <a:tcPr marL="126301" marR="59335" marT="97155" marB="97155"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rtl="0">
                        <a:buNone/>
                      </a:pPr>
                      <a:r>
                        <a:rPr lang="en-CA" sz="1000" b="1" cap="none" spc="0">
                          <a:solidFill>
                            <a:schemeClr val="tx1"/>
                          </a:solidFill>
                          <a:effectLst/>
                          <a:latin typeface="Google Sans Text"/>
                        </a:rPr>
                        <a:t>Death + Rebirth</a:t>
                      </a:r>
                      <a:endParaRPr lang="en-CA" sz="1000" cap="none" spc="0">
                        <a:solidFill>
                          <a:schemeClr val="tx1"/>
                        </a:solidFill>
                        <a:effectLst/>
                        <a:latin typeface="Google Sans Text"/>
                      </a:endParaRPr>
                    </a:p>
                  </a:txBody>
                  <a:tcPr marL="126301" marR="59335" marT="97155" marB="97155"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rtl="0">
                        <a:buNone/>
                      </a:pPr>
                      <a:r>
                        <a:rPr lang="en-CA" sz="1000" b="1" cap="none" spc="0">
                          <a:solidFill>
                            <a:schemeClr val="tx1"/>
                          </a:solidFill>
                          <a:effectLst/>
                          <a:latin typeface="Google Sans Text"/>
                        </a:rPr>
                        <a:t>Storytelling</a:t>
                      </a:r>
                      <a:endParaRPr lang="en-CA" sz="1000" cap="none" spc="0">
                        <a:solidFill>
                          <a:schemeClr val="tx1"/>
                        </a:solidFill>
                        <a:effectLst/>
                        <a:latin typeface="Google Sans Text"/>
                      </a:endParaRPr>
                    </a:p>
                  </a:txBody>
                  <a:tcPr marL="126301" marR="59335" marT="97155" marB="97155"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725381014"/>
                  </a:ext>
                </a:extLst>
              </a:tr>
              <a:tr h="687622">
                <a:tc>
                  <a:txBody>
                    <a:bodyPr/>
                    <a:lstStyle/>
                    <a:p>
                      <a:pPr rtl="0">
                        <a:buNone/>
                      </a:pPr>
                      <a:r>
                        <a:rPr lang="en-CA" sz="1000" b="1" cap="none" spc="0">
                          <a:solidFill>
                            <a:schemeClr val="tx1"/>
                          </a:solidFill>
                          <a:effectLst/>
                          <a:latin typeface="Google Sans Text"/>
                        </a:rPr>
                        <a:t>Quotes</a:t>
                      </a:r>
                      <a:endParaRPr lang="en-CA" sz="1000" cap="none" spc="0">
                        <a:solidFill>
                          <a:schemeClr val="tx1"/>
                        </a:solidFill>
                        <a:effectLst/>
                        <a:latin typeface="Google Sans Text"/>
                      </a:endParaRPr>
                    </a:p>
                  </a:txBody>
                  <a:tcPr marL="126301" marR="59335" marT="97155" marB="9715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rtl="0">
                        <a:buNone/>
                      </a:pPr>
                      <a:r>
                        <a:rPr lang="en-CA" sz="1000" cap="none" spc="0">
                          <a:solidFill>
                            <a:schemeClr val="tx1"/>
                          </a:solidFill>
                          <a:effectLst/>
                          <a:latin typeface="Google Sans Text"/>
                        </a:rPr>
                        <a:t>“Plus, after all that had happened, it felt good to be different from what I had been, yet the same.”</a:t>
                      </a:r>
                    </a:p>
                  </a:txBody>
                  <a:tcPr marL="126301" marR="59335" marT="97155" marB="9715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rtl="0">
                        <a:buNone/>
                      </a:pPr>
                      <a:r>
                        <a:rPr lang="en-CA" sz="1000" cap="none" spc="0">
                          <a:solidFill>
                            <a:schemeClr val="tx1"/>
                          </a:solidFill>
                          <a:effectLst/>
                          <a:latin typeface="Google Sans Text"/>
                        </a:rPr>
                        <a:t>“That which was me could survive death. Over and over.“</a:t>
                      </a:r>
                    </a:p>
                    <a:p>
                      <a:pPr rtl="0">
                        <a:buNone/>
                      </a:pPr>
                      <a:br>
                        <a:rPr lang="en-CA" sz="1000" cap="none" spc="0">
                          <a:solidFill>
                            <a:schemeClr val="tx1"/>
                          </a:solidFill>
                          <a:effectLst/>
                          <a:latin typeface="Google Sans Text"/>
                        </a:rPr>
                      </a:br>
                      <a:endParaRPr lang="en-CA" sz="1000" cap="none" spc="0">
                        <a:solidFill>
                          <a:schemeClr val="tx1"/>
                        </a:solidFill>
                        <a:effectLst/>
                        <a:latin typeface="Google Sans Text"/>
                      </a:endParaRPr>
                    </a:p>
                    <a:p>
                      <a:pPr rtl="0">
                        <a:buNone/>
                      </a:pPr>
                      <a:r>
                        <a:rPr lang="en-CA" sz="1000" cap="none" spc="0">
                          <a:solidFill>
                            <a:schemeClr val="tx1"/>
                          </a:solidFill>
                          <a:effectLst/>
                          <a:latin typeface="Google Sans Text"/>
                        </a:rPr>
                        <a:t>“I was Phoenix.”</a:t>
                      </a:r>
                    </a:p>
                  </a:txBody>
                  <a:tcPr marL="126301" marR="59335" marT="97155" marB="9715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rtl="0">
                        <a:buNone/>
                      </a:pPr>
                      <a:r>
                        <a:rPr lang="en-CA" sz="1000" cap="none" spc="0" dirty="0">
                          <a:solidFill>
                            <a:schemeClr val="tx1"/>
                          </a:solidFill>
                          <a:effectLst/>
                          <a:latin typeface="Google Sans Text"/>
                        </a:rPr>
                        <a:t>You and the storyteller share everything, even your existence.</a:t>
                      </a:r>
                    </a:p>
                  </a:txBody>
                  <a:tcPr marL="126301" marR="59335" marT="97155" marB="9715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074180949"/>
                  </a:ext>
                </a:extLst>
              </a:tr>
              <a:tr h="1016365">
                <a:tc>
                  <a:txBody>
                    <a:bodyPr/>
                    <a:lstStyle/>
                    <a:p>
                      <a:pPr rtl="0">
                        <a:buNone/>
                      </a:pPr>
                      <a:r>
                        <a:rPr lang="en-CA" sz="1000" b="1" cap="none" spc="0">
                          <a:solidFill>
                            <a:schemeClr val="tx1"/>
                          </a:solidFill>
                          <a:effectLst/>
                          <a:latin typeface="Google Sans Text"/>
                        </a:rPr>
                        <a:t>Context</a:t>
                      </a:r>
                      <a:endParaRPr lang="en-CA" sz="1000" cap="none" spc="0">
                        <a:solidFill>
                          <a:schemeClr val="tx1"/>
                        </a:solidFill>
                        <a:effectLst/>
                        <a:latin typeface="Google Sans Text"/>
                      </a:endParaRPr>
                    </a:p>
                  </a:txBody>
                  <a:tcPr marL="126301" marR="59335" marT="97155" marB="9715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rtl="0">
                        <a:buNone/>
                      </a:pPr>
                      <a:r>
                        <a:rPr lang="en-CA" sz="1000" cap="none" spc="0" dirty="0">
                          <a:solidFill>
                            <a:schemeClr val="tx1"/>
                          </a:solidFill>
                          <a:effectLst/>
                          <a:latin typeface="Google Sans Text"/>
                        </a:rPr>
                        <a:t>Self discovery, figuring out who she is from life outside the tower, rather than from just her life from the inside</a:t>
                      </a:r>
                    </a:p>
                  </a:txBody>
                  <a:tcPr marL="126301" marR="59335" marT="97155" marB="9715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rtl="0">
                        <a:buNone/>
                      </a:pPr>
                      <a:r>
                        <a:rPr lang="en-CA" sz="1000" cap="none" spc="0" dirty="0">
                          <a:solidFill>
                            <a:schemeClr val="tx1"/>
                          </a:solidFill>
                          <a:effectLst/>
                          <a:latin typeface="Google Sans Text"/>
                        </a:rPr>
                        <a:t>- Literal parallel to death/ human condition, which humanizes her</a:t>
                      </a:r>
                    </a:p>
                    <a:p>
                      <a:pPr rtl="0">
                        <a:buNone/>
                      </a:pPr>
                      <a:br>
                        <a:rPr lang="en-CA" sz="1000" cap="none" spc="0" dirty="0">
                          <a:solidFill>
                            <a:schemeClr val="tx1"/>
                          </a:solidFill>
                          <a:effectLst/>
                          <a:latin typeface="Google Sans Text"/>
                        </a:rPr>
                      </a:br>
                      <a:endParaRPr lang="en-CA" sz="1000" cap="none" spc="0" dirty="0">
                        <a:solidFill>
                          <a:schemeClr val="tx1"/>
                        </a:solidFill>
                        <a:effectLst/>
                        <a:latin typeface="Google Sans Text"/>
                      </a:endParaRPr>
                    </a:p>
                    <a:p>
                      <a:pPr rtl="0">
                        <a:buNone/>
                      </a:pPr>
                      <a:r>
                        <a:rPr lang="en-CA" sz="1000" cap="none" spc="0" dirty="0">
                          <a:solidFill>
                            <a:schemeClr val="tx1"/>
                          </a:solidFill>
                          <a:effectLst/>
                          <a:latin typeface="Google Sans Text"/>
                        </a:rPr>
                        <a:t>- Human condition, she is taking about resilience and overcoming hardship</a:t>
                      </a:r>
                    </a:p>
                  </a:txBody>
                  <a:tcPr marL="126301" marR="59335" marT="97155" marB="9715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rtl="0">
                        <a:buNone/>
                      </a:pPr>
                      <a:r>
                        <a:rPr lang="en-CA" sz="1000" cap="none" spc="0" dirty="0">
                          <a:solidFill>
                            <a:schemeClr val="tx1"/>
                          </a:solidFill>
                          <a:effectLst/>
                          <a:latin typeface="Google Sans Text"/>
                        </a:rPr>
                        <a:t>Relationship between you and the storyteller linking both.</a:t>
                      </a:r>
                    </a:p>
                  </a:txBody>
                  <a:tcPr marL="126301" marR="59335" marT="97155" marB="9715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785900527"/>
                  </a:ext>
                </a:extLst>
              </a:tr>
            </a:tbl>
          </a:graphicData>
        </a:graphic>
      </p:graphicFrame>
      <p:sp>
        <p:nvSpPr>
          <p:cNvPr id="5" name="Content Placeholder 8">
            <a:extLst>
              <a:ext uri="{FF2B5EF4-FFF2-40B4-BE49-F238E27FC236}">
                <a16:creationId xmlns:a16="http://schemas.microsoft.com/office/drawing/2014/main" id="{BFEDD8D2-BFBB-1617-68C4-13A976A39758}"/>
              </a:ext>
            </a:extLst>
          </p:cNvPr>
          <p:cNvSpPr>
            <a:spLocks noGrp="1"/>
          </p:cNvSpPr>
          <p:nvPr>
            <p:ph idx="1"/>
          </p:nvPr>
        </p:nvSpPr>
        <p:spPr>
          <a:xfrm>
            <a:off x="5934075" y="976313"/>
            <a:ext cx="2736962" cy="3543299"/>
          </a:xfrm>
        </p:spPr>
        <p:txBody>
          <a:bodyPr anchor="t">
            <a:normAutofit/>
          </a:bodyPr>
          <a:lstStyle/>
          <a:p>
            <a:pPr marL="0" indent="0">
              <a:buNone/>
            </a:pPr>
            <a:r>
              <a:rPr lang="en-US" sz="975" dirty="0">
                <a:solidFill>
                  <a:schemeClr val="tx1">
                    <a:alpha val="80000"/>
                  </a:schemeClr>
                </a:solidFill>
              </a:rPr>
              <a:t>“One must stop time to listen to a story. The storyteller starts it again.</a:t>
            </a:r>
          </a:p>
          <a:p>
            <a:pPr marL="0" indent="0">
              <a:buNone/>
            </a:pPr>
            <a:r>
              <a:rPr lang="en-US" sz="975" dirty="0">
                <a:solidFill>
                  <a:schemeClr val="tx1">
                    <a:alpha val="80000"/>
                  </a:schemeClr>
                </a:solidFill>
              </a:rPr>
              <a:t>	She starts it in her own place, in her own moment, in her own point of view. As long as you listen, she is in charge of your destiny. You and the storyteller share everything, even your existence. </a:t>
            </a:r>
          </a:p>
          <a:p>
            <a:pPr marL="0" indent="0">
              <a:buNone/>
            </a:pPr>
            <a:r>
              <a:rPr lang="en-US" sz="975" dirty="0">
                <a:solidFill>
                  <a:schemeClr val="tx1">
                    <a:alpha val="80000"/>
                  </a:schemeClr>
                </a:solidFill>
              </a:rPr>
              <a:t>	Listen…</a:t>
            </a:r>
          </a:p>
          <a:p>
            <a:pPr marL="0" indent="0">
              <a:buNone/>
            </a:pPr>
            <a:r>
              <a:rPr lang="en-US" sz="975" dirty="0">
                <a:solidFill>
                  <a:schemeClr val="tx1">
                    <a:alpha val="80000"/>
                  </a:schemeClr>
                </a:solidFill>
              </a:rPr>
              <a:t>	I started picking up the local accent. I could never fit in, so that wasn’t the reason. I just liked the sound of it. I missed my love Saeed, my friend </a:t>
            </a:r>
            <a:r>
              <a:rPr lang="en-US" sz="975" dirty="0" err="1">
                <a:solidFill>
                  <a:schemeClr val="tx1">
                    <a:alpha val="80000"/>
                  </a:schemeClr>
                </a:solidFill>
              </a:rPr>
              <a:t>Mmuo</a:t>
            </a:r>
            <a:r>
              <a:rPr lang="en-US" sz="975" dirty="0">
                <a:solidFill>
                  <a:schemeClr val="tx1">
                    <a:alpha val="80000"/>
                  </a:schemeClr>
                </a:solidFill>
              </a:rPr>
              <a:t>, the other Tower 7 prisoners who weren’t so nice to me. Speaking like the Ghanaians reminded me of them all. Plus, after all that had happened, it felt good to be different from what I had been, yet the same. That which was me would never change. That which was me could survive death. Over and over. </a:t>
            </a:r>
          </a:p>
          <a:p>
            <a:pPr marL="0" indent="0">
              <a:buNone/>
            </a:pPr>
            <a:r>
              <a:rPr lang="en-US" sz="975" dirty="0">
                <a:solidFill>
                  <a:schemeClr val="tx1">
                    <a:alpha val="80000"/>
                  </a:schemeClr>
                </a:solidFill>
              </a:rPr>
              <a:t>	I was Phoenix.” </a:t>
            </a:r>
          </a:p>
          <a:p>
            <a:endParaRPr lang="en-US" sz="975" dirty="0">
              <a:solidFill>
                <a:schemeClr val="tx1">
                  <a:alpha val="80000"/>
                </a:schemeClr>
              </a:solidFill>
            </a:endParaRPr>
          </a:p>
        </p:txBody>
      </p:sp>
    </p:spTree>
    <p:extLst>
      <p:ext uri="{BB962C8B-B14F-4D97-AF65-F5344CB8AC3E}">
        <p14:creationId xmlns:p14="http://schemas.microsoft.com/office/powerpoint/2010/main" val="3443234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C50140-CD4C-5EC1-6D19-0107A06F17B3}"/>
              </a:ext>
            </a:extLst>
          </p:cNvPr>
          <p:cNvSpPr>
            <a:spLocks noGrp="1"/>
          </p:cNvSpPr>
          <p:nvPr>
            <p:ph type="title"/>
          </p:nvPr>
        </p:nvSpPr>
        <p:spPr>
          <a:xfrm>
            <a:off x="628650" y="273844"/>
            <a:ext cx="2333625" cy="994172"/>
          </a:xfrm>
        </p:spPr>
        <p:txBody>
          <a:bodyPr/>
          <a:lstStyle/>
          <a:p>
            <a:r>
              <a:rPr lang="en-CA" dirty="0"/>
              <a:t>Essay 2</a:t>
            </a:r>
          </a:p>
        </p:txBody>
      </p:sp>
      <p:sp>
        <p:nvSpPr>
          <p:cNvPr id="5" name="文本框 4">
            <a:extLst>
              <a:ext uri="{FF2B5EF4-FFF2-40B4-BE49-F238E27FC236}">
                <a16:creationId xmlns:a16="http://schemas.microsoft.com/office/drawing/2014/main" id="{6D13D0A6-55CE-2A30-8D22-F1BFC01F7C3A}"/>
              </a:ext>
            </a:extLst>
          </p:cNvPr>
          <p:cNvSpPr txBox="1"/>
          <p:nvPr/>
        </p:nvSpPr>
        <p:spPr>
          <a:xfrm>
            <a:off x="3038476" y="944345"/>
            <a:ext cx="5857874" cy="3816429"/>
          </a:xfrm>
          <a:prstGeom prst="rect">
            <a:avLst/>
          </a:prstGeom>
          <a:noFill/>
        </p:spPr>
        <p:txBody>
          <a:bodyPr wrap="square">
            <a:spAutoFit/>
          </a:bodyPr>
          <a:lstStyle/>
          <a:p>
            <a:pPr>
              <a:buNone/>
            </a:pPr>
            <a:r>
              <a:rPr lang="en-CA" sz="1100" b="1" dirty="0"/>
              <a:t>Permitted resources:</a:t>
            </a:r>
            <a:endParaRPr lang="en-CA" sz="1100" dirty="0"/>
          </a:p>
          <a:p>
            <a:pPr>
              <a:buFont typeface="Arial" panose="020B0604020202020204" pitchFamily="34" charset="0"/>
              <a:buChar char="•"/>
            </a:pPr>
            <a:r>
              <a:rPr lang="en-CA" sz="1100" dirty="0"/>
              <a:t>Up to 2 print dictionaries, including translation, phonetic, and other dictionaries.</a:t>
            </a:r>
          </a:p>
          <a:p>
            <a:pPr>
              <a:buFont typeface="Arial" panose="020B0604020202020204" pitchFamily="34" charset="0"/>
              <a:buChar char="•"/>
            </a:pPr>
            <a:r>
              <a:rPr lang="en-CA" sz="1100" dirty="0"/>
              <a:t>1 single sided, handwritten Evidence Chart with summary sentences.</a:t>
            </a:r>
          </a:p>
          <a:p>
            <a:pPr>
              <a:buFont typeface="Arial" panose="020B0604020202020204" pitchFamily="34" charset="0"/>
              <a:buChar char="•"/>
            </a:pPr>
            <a:r>
              <a:rPr lang="en-CA" sz="1100" dirty="0"/>
              <a:t>Computer with a </a:t>
            </a:r>
            <a:r>
              <a:rPr lang="en-CA" sz="1100" dirty="0" err="1"/>
              <a:t>Respondus</a:t>
            </a:r>
            <a:r>
              <a:rPr lang="en-CA" sz="1100" dirty="0"/>
              <a:t> lockdown browser.</a:t>
            </a:r>
          </a:p>
          <a:p>
            <a:pPr>
              <a:buFont typeface="Arial" panose="020B0604020202020204" pitchFamily="34" charset="0"/>
              <a:buChar char="•"/>
            </a:pPr>
            <a:r>
              <a:rPr lang="en-CA" sz="1100" dirty="0"/>
              <a:t>Print resources provided by the professor, including proof reading checklists and printed out primary texts (where appropriate).</a:t>
            </a:r>
          </a:p>
          <a:p>
            <a:pPr>
              <a:buNone/>
            </a:pPr>
            <a:r>
              <a:rPr lang="en-CA" sz="1100" dirty="0"/>
              <a:t>Choose 1 of the texts listed to analyze in response to the below prompt.</a:t>
            </a:r>
          </a:p>
          <a:p>
            <a:pPr>
              <a:buNone/>
            </a:pPr>
            <a:r>
              <a:rPr lang="en-CA" sz="1100" b="1" dirty="0"/>
              <a:t>Prompt:</a:t>
            </a:r>
            <a:r>
              <a:rPr lang="en-CA" sz="1100" dirty="0"/>
              <a:t> What is the relationship of speculation to technology in literary texts?</a:t>
            </a:r>
          </a:p>
          <a:p>
            <a:pPr>
              <a:buNone/>
            </a:pPr>
            <a:r>
              <a:rPr lang="en-CA" sz="1100" i="1" dirty="0"/>
              <a:t>Options:</a:t>
            </a:r>
            <a:endParaRPr lang="en-CA" sz="1100" dirty="0"/>
          </a:p>
          <a:p>
            <a:pPr>
              <a:buFont typeface="Arial" panose="020B0604020202020204" pitchFamily="34" charset="0"/>
              <a:buChar char="•"/>
            </a:pPr>
            <a:r>
              <a:rPr lang="en-CA" sz="1100" dirty="0"/>
              <a:t>“The Library of Babel,” Jorge Luis Borges</a:t>
            </a:r>
          </a:p>
          <a:p>
            <a:pPr>
              <a:buFont typeface="Arial" panose="020B0604020202020204" pitchFamily="34" charset="0"/>
              <a:buChar char="•"/>
            </a:pPr>
            <a:r>
              <a:rPr lang="en-CA" sz="1100" i="1" dirty="0"/>
              <a:t>The Book of Phoenix</a:t>
            </a:r>
            <a:r>
              <a:rPr lang="en-CA" sz="1100" dirty="0"/>
              <a:t>, </a:t>
            </a:r>
            <a:r>
              <a:rPr lang="en-CA" sz="1100" dirty="0" err="1"/>
              <a:t>Nnedi</a:t>
            </a:r>
            <a:r>
              <a:rPr lang="en-CA" sz="1100" dirty="0"/>
              <a:t> </a:t>
            </a:r>
            <a:r>
              <a:rPr lang="en-CA" sz="1100" dirty="0" err="1"/>
              <a:t>Okorafor</a:t>
            </a:r>
            <a:endParaRPr lang="en-CA" sz="1100" dirty="0"/>
          </a:p>
          <a:p>
            <a:pPr>
              <a:buNone/>
            </a:pPr>
            <a:r>
              <a:rPr lang="en-CA" sz="1100" b="1" dirty="0"/>
              <a:t>Write an essay that consists of:</a:t>
            </a:r>
            <a:endParaRPr lang="en-CA" sz="1100" dirty="0"/>
          </a:p>
          <a:p>
            <a:pPr>
              <a:buFont typeface="Arial" panose="020B0604020202020204" pitchFamily="34" charset="0"/>
              <a:buChar char="•"/>
            </a:pPr>
            <a:r>
              <a:rPr lang="en-CA" sz="1100" dirty="0"/>
              <a:t>An introduction with a strong, argumentative thesis, clear roadmap, and “so what” statement.</a:t>
            </a:r>
          </a:p>
          <a:p>
            <a:pPr>
              <a:buFont typeface="Arial" panose="020B0604020202020204" pitchFamily="34" charset="0"/>
              <a:buChar char="•"/>
            </a:pPr>
            <a:r>
              <a:rPr lang="en-CA" sz="1100" dirty="0"/>
              <a:t>~3 critical paragraphs with claims/sub-topic sentences that undertake your analysis.</a:t>
            </a:r>
          </a:p>
          <a:p>
            <a:pPr marL="742950" lvl="1" indent="-285750">
              <a:buFont typeface="Arial" panose="020B0604020202020204" pitchFamily="34" charset="0"/>
              <a:buChar char="•"/>
            </a:pPr>
            <a:r>
              <a:rPr lang="en-CA" sz="1100" dirty="0"/>
              <a:t>The structure of the paragraph should use a topic sentence, evidence-analysis pairs, and statement of significance as we learned in class.</a:t>
            </a:r>
          </a:p>
          <a:p>
            <a:pPr marL="742950" lvl="1" indent="-285750">
              <a:buFont typeface="Arial" panose="020B0604020202020204" pitchFamily="34" charset="0"/>
              <a:buChar char="•"/>
            </a:pPr>
            <a:r>
              <a:rPr lang="en-CA" sz="1100" dirty="0"/>
              <a:t>Statements of significance in the essay should say why the paragraph is important for your argument.</a:t>
            </a:r>
          </a:p>
          <a:p>
            <a:pPr marL="742950" lvl="1" indent="-285750">
              <a:buFont typeface="Arial" panose="020B0604020202020204" pitchFamily="34" charset="0"/>
              <a:buChar char="•"/>
            </a:pPr>
            <a:r>
              <a:rPr lang="en-CA" sz="1100" dirty="0"/>
              <a:t>Well framed use of primary evidence and analysis.</a:t>
            </a:r>
          </a:p>
          <a:p>
            <a:pPr>
              <a:buFont typeface="Arial" panose="020B0604020202020204" pitchFamily="34" charset="0"/>
              <a:buChar char="•"/>
            </a:pPr>
            <a:r>
              <a:rPr lang="en-CA" sz="1100" dirty="0"/>
              <a:t>A 4-5 sentence conclusion that expands from your essay’s argument to broader significance within the themes of the course.</a:t>
            </a:r>
          </a:p>
          <a:p>
            <a:pPr>
              <a:buNone/>
            </a:pPr>
            <a:r>
              <a:rPr lang="en-CA" sz="1100" dirty="0"/>
              <a:t>Essays should be no more than 1000 words.</a:t>
            </a:r>
          </a:p>
        </p:txBody>
      </p:sp>
    </p:spTree>
    <p:extLst>
      <p:ext uri="{BB962C8B-B14F-4D97-AF65-F5344CB8AC3E}">
        <p14:creationId xmlns:p14="http://schemas.microsoft.com/office/powerpoint/2010/main" val="235575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B3D4F-F6F2-FCC4-E5F8-F5FD941FDA6B}"/>
              </a:ext>
            </a:extLst>
          </p:cNvPr>
          <p:cNvSpPr>
            <a:spLocks noGrp="1"/>
          </p:cNvSpPr>
          <p:nvPr>
            <p:ph type="title"/>
          </p:nvPr>
        </p:nvSpPr>
        <p:spPr>
          <a:xfrm>
            <a:off x="619797" y="440142"/>
            <a:ext cx="3172575" cy="2540623"/>
          </a:xfrm>
        </p:spPr>
        <p:txBody>
          <a:bodyPr anchor="b">
            <a:normAutofit/>
          </a:bodyPr>
          <a:lstStyle/>
          <a:p>
            <a:r>
              <a:rPr lang="en-US" sz="3000" dirty="0"/>
              <a:t>Three Argumentative  Body Paragraphs </a:t>
            </a:r>
          </a:p>
        </p:txBody>
      </p:sp>
      <p:sp>
        <p:nvSpPr>
          <p:cNvPr id="3" name="Content Placeholder 2">
            <a:extLst>
              <a:ext uri="{FF2B5EF4-FFF2-40B4-BE49-F238E27FC236}">
                <a16:creationId xmlns:a16="http://schemas.microsoft.com/office/drawing/2014/main" id="{83D56143-32C0-394D-56FD-D8398604E8F0}"/>
              </a:ext>
            </a:extLst>
          </p:cNvPr>
          <p:cNvSpPr>
            <a:spLocks noGrp="1"/>
          </p:cNvSpPr>
          <p:nvPr>
            <p:ph idx="1"/>
          </p:nvPr>
        </p:nvSpPr>
        <p:spPr>
          <a:xfrm>
            <a:off x="4840646" y="174967"/>
            <a:ext cx="3646835" cy="4159535"/>
          </a:xfrm>
        </p:spPr>
        <p:txBody>
          <a:bodyPr anchor="ctr">
            <a:normAutofit/>
          </a:bodyPr>
          <a:lstStyle/>
          <a:p>
            <a:pPr marL="0" indent="0">
              <a:buNone/>
            </a:pPr>
            <a:r>
              <a:rPr lang="en-US" sz="1050" i="1" dirty="0"/>
              <a:t>Remember – each paragraph should contain one clear argument, relating to one theme (row) in your evidence chart.</a:t>
            </a:r>
          </a:p>
          <a:p>
            <a:pPr marL="0" indent="0">
              <a:buNone/>
            </a:pPr>
            <a:endParaRPr lang="en-US" sz="1050" dirty="0"/>
          </a:p>
          <a:p>
            <a:pPr marL="0" indent="0">
              <a:buNone/>
            </a:pPr>
            <a:r>
              <a:rPr lang="en-US" sz="1050" dirty="0"/>
              <a:t>• 1 strong and accurate topic sentence/claim for your paragraph. </a:t>
            </a:r>
          </a:p>
          <a:p>
            <a:pPr marL="0" indent="0">
              <a:buNone/>
            </a:pPr>
            <a:br>
              <a:rPr lang="en-US" sz="1050" dirty="0"/>
            </a:br>
            <a:r>
              <a:rPr lang="en-US" sz="1050" dirty="0"/>
              <a:t>• 4-5 well-written, observant sentences. </a:t>
            </a:r>
          </a:p>
          <a:p>
            <a:pPr marL="0" indent="0">
              <a:buNone/>
            </a:pPr>
            <a:br>
              <a:rPr lang="en-US" sz="1050" dirty="0"/>
            </a:br>
            <a:r>
              <a:rPr lang="en-US" sz="1050" dirty="0"/>
              <a:t>• Within those 4-5 sentences, you should include:</a:t>
            </a:r>
          </a:p>
          <a:p>
            <a:pPr marL="0" indent="0">
              <a:buNone/>
            </a:pPr>
            <a:br>
              <a:rPr lang="en-US" sz="1050" dirty="0"/>
            </a:br>
            <a:r>
              <a:rPr lang="en-US" sz="1050" dirty="0"/>
              <a:t> • At least 1 well-chosen, framed, and grammatically integrated quotation. </a:t>
            </a:r>
          </a:p>
          <a:p>
            <a:pPr marL="0" indent="0">
              <a:buNone/>
            </a:pPr>
            <a:endParaRPr lang="en-US" sz="1050" dirty="0"/>
          </a:p>
          <a:p>
            <a:pPr marL="0" indent="0">
              <a:buNone/>
            </a:pPr>
            <a:r>
              <a:rPr lang="en-US" sz="1050" dirty="0"/>
              <a:t>• Discussion or explanation of that quotation that is at least as long as the quotation. </a:t>
            </a:r>
          </a:p>
          <a:p>
            <a:pPr marL="0" indent="0">
              <a:buNone/>
            </a:pPr>
            <a:br>
              <a:rPr lang="en-US" sz="1050" dirty="0"/>
            </a:br>
            <a:r>
              <a:rPr lang="en-US" sz="1050" dirty="0"/>
              <a:t>• 1 final sentence that expands on the summary or indicates its implications for your thesis. *This is not the same thing a “connector” sentence that you may have learned in high school. </a:t>
            </a:r>
          </a:p>
        </p:txBody>
      </p:sp>
      <p:sp>
        <p:nvSpPr>
          <p:cNvPr id="5" name="文本框 4">
            <a:extLst>
              <a:ext uri="{FF2B5EF4-FFF2-40B4-BE49-F238E27FC236}">
                <a16:creationId xmlns:a16="http://schemas.microsoft.com/office/drawing/2014/main" id="{3E726175-EEBD-43AE-C219-767E1CA64F41}"/>
              </a:ext>
            </a:extLst>
          </p:cNvPr>
          <p:cNvSpPr txBox="1"/>
          <p:nvPr/>
        </p:nvSpPr>
        <p:spPr>
          <a:xfrm>
            <a:off x="4302029" y="4542202"/>
            <a:ext cx="4574949" cy="473206"/>
          </a:xfrm>
          <a:prstGeom prst="rect">
            <a:avLst/>
          </a:prstGeom>
          <a:noFill/>
        </p:spPr>
        <p:txBody>
          <a:bodyPr wrap="square">
            <a:spAutoFit/>
          </a:bodyPr>
          <a:lstStyle/>
          <a:p>
            <a:r>
              <a:rPr lang="en-US" sz="825" dirty="0"/>
              <a:t>These are not ‘They Say’ / ‘I Say’ / ‘Expansion’ paragraphs. Each paragraph should represent a single theme or row in your evidence chart. Each is an argumentative paragraph that bridges clearly back to your thesis. </a:t>
            </a:r>
          </a:p>
        </p:txBody>
      </p:sp>
    </p:spTree>
    <p:extLst>
      <p:ext uri="{BB962C8B-B14F-4D97-AF65-F5344CB8AC3E}">
        <p14:creationId xmlns:p14="http://schemas.microsoft.com/office/powerpoint/2010/main" val="721473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rot="10800000">
            <a:off x="8586788" y="4729163"/>
            <a:ext cx="304800" cy="192087"/>
          </a:xfrm>
          <a:prstGeom prst="rect">
            <a:avLst/>
          </a:prstGeom>
          <a:noFill/>
          <a:ln/>
        </p:spPr>
        <p:txBody>
          <a:bodyPr/>
          <a:lstStyle/>
          <a:p>
            <a:endParaRPr lang="en-CA"/>
          </a:p>
        </p:txBody>
      </p:sp>
      <p:sp>
        <p:nvSpPr>
          <p:cNvPr id="4" name="Shape 1"/>
          <p:cNvSpPr/>
          <p:nvPr/>
        </p:nvSpPr>
        <p:spPr>
          <a:xfrm>
            <a:off x="554720" y="348895"/>
            <a:ext cx="5712602" cy="553998"/>
          </a:xfrm>
          <a:prstGeom prst="rect">
            <a:avLst/>
          </a:prstGeom>
          <a:noFill/>
          <a:ln/>
        </p:spPr>
        <p:txBody>
          <a:bodyPr/>
          <a:lstStyle/>
          <a:p>
            <a:endParaRPr lang="en-CA"/>
          </a:p>
        </p:txBody>
      </p:sp>
      <p:sp>
        <p:nvSpPr>
          <p:cNvPr id="5" name="Shape 2"/>
          <p:cNvSpPr/>
          <p:nvPr/>
        </p:nvSpPr>
        <p:spPr>
          <a:xfrm>
            <a:off x="554720" y="936381"/>
            <a:ext cx="2743200" cy="1375056"/>
          </a:xfrm>
          <a:prstGeom prst="rect">
            <a:avLst/>
          </a:prstGeom>
          <a:noFill/>
          <a:ln/>
        </p:spPr>
        <p:txBody>
          <a:bodyPr/>
          <a:lstStyle/>
          <a:p>
            <a:endParaRPr lang="en-CA"/>
          </a:p>
        </p:txBody>
      </p:sp>
      <p:sp>
        <p:nvSpPr>
          <p:cNvPr id="6" name="Shape 3"/>
          <p:cNvSpPr/>
          <p:nvPr/>
        </p:nvSpPr>
        <p:spPr>
          <a:xfrm>
            <a:off x="3296320" y="936380"/>
            <a:ext cx="4945273" cy="307777"/>
          </a:xfrm>
          <a:prstGeom prst="rect">
            <a:avLst/>
          </a:prstGeom>
          <a:noFill/>
          <a:ln/>
        </p:spPr>
        <p:txBody>
          <a:bodyPr/>
          <a:lstStyle/>
          <a:p>
            <a:endParaRPr lang="en-CA"/>
          </a:p>
        </p:txBody>
      </p:sp>
      <p:sp>
        <p:nvSpPr>
          <p:cNvPr id="7" name="Shape 4"/>
          <p:cNvSpPr/>
          <p:nvPr/>
        </p:nvSpPr>
        <p:spPr>
          <a:xfrm>
            <a:off x="3296320" y="1260098"/>
            <a:ext cx="4921295" cy="523220"/>
          </a:xfrm>
          <a:prstGeom prst="rect">
            <a:avLst/>
          </a:prstGeom>
          <a:noFill/>
          <a:ln/>
        </p:spPr>
        <p:txBody>
          <a:bodyPr/>
          <a:lstStyle/>
          <a:p>
            <a:endParaRPr lang="en-CA"/>
          </a:p>
        </p:txBody>
      </p:sp>
      <p:sp>
        <p:nvSpPr>
          <p:cNvPr id="8" name="Shape 5"/>
          <p:cNvSpPr/>
          <p:nvPr/>
        </p:nvSpPr>
        <p:spPr>
          <a:xfrm>
            <a:off x="3296320" y="1767653"/>
            <a:ext cx="4749444" cy="307777"/>
          </a:xfrm>
          <a:prstGeom prst="rect">
            <a:avLst/>
          </a:prstGeom>
          <a:noFill/>
          <a:ln/>
        </p:spPr>
        <p:txBody>
          <a:bodyPr/>
          <a:lstStyle/>
          <a:p>
            <a:endParaRPr lang="en-CA"/>
          </a:p>
        </p:txBody>
      </p:sp>
      <p:sp>
        <p:nvSpPr>
          <p:cNvPr id="9" name="Shape 6"/>
          <p:cNvSpPr/>
          <p:nvPr/>
        </p:nvSpPr>
        <p:spPr>
          <a:xfrm>
            <a:off x="3296320" y="1767653"/>
            <a:ext cx="4749444" cy="307777"/>
          </a:xfrm>
          <a:prstGeom prst="rect">
            <a:avLst/>
          </a:prstGeom>
          <a:noFill/>
          <a:ln/>
        </p:spPr>
        <p:txBody>
          <a:bodyPr/>
          <a:lstStyle/>
          <a:p>
            <a:endParaRPr lang="en-CA"/>
          </a:p>
        </p:txBody>
      </p:sp>
      <p:sp>
        <p:nvSpPr>
          <p:cNvPr id="10" name="Shape 7"/>
          <p:cNvSpPr/>
          <p:nvPr/>
        </p:nvSpPr>
        <p:spPr>
          <a:xfrm>
            <a:off x="3296319" y="1247402"/>
            <a:ext cx="4921295" cy="523220"/>
          </a:xfrm>
          <a:prstGeom prst="rect">
            <a:avLst/>
          </a:prstGeom>
          <a:noFill/>
          <a:ln/>
        </p:spPr>
        <p:txBody>
          <a:bodyPr/>
          <a:lstStyle/>
          <a:p>
            <a:endParaRPr lang="en-CA"/>
          </a:p>
        </p:txBody>
      </p:sp>
      <p:sp>
        <p:nvSpPr>
          <p:cNvPr id="11" name="Shape 8"/>
          <p:cNvSpPr/>
          <p:nvPr/>
        </p:nvSpPr>
        <p:spPr>
          <a:xfrm>
            <a:off x="3296320" y="936380"/>
            <a:ext cx="4945273" cy="307777"/>
          </a:xfrm>
          <a:prstGeom prst="rect">
            <a:avLst/>
          </a:prstGeom>
          <a:noFill/>
          <a:ln/>
        </p:spPr>
        <p:txBody>
          <a:bodyPr/>
          <a:lstStyle/>
          <a:p>
            <a:endParaRPr lang="en-CA"/>
          </a:p>
        </p:txBody>
      </p:sp>
      <p:sp>
        <p:nvSpPr>
          <p:cNvPr id="12" name="Shape 9"/>
          <p:cNvSpPr/>
          <p:nvPr/>
        </p:nvSpPr>
        <p:spPr>
          <a:xfrm>
            <a:off x="554720" y="936381"/>
            <a:ext cx="2743200" cy="1375056"/>
          </a:xfrm>
          <a:prstGeom prst="rect">
            <a:avLst/>
          </a:prstGeom>
          <a:noFill/>
          <a:ln/>
        </p:spPr>
        <p:txBody>
          <a:bodyPr/>
          <a:lstStyle/>
          <a:p>
            <a:endParaRPr lang="en-CA"/>
          </a:p>
        </p:txBody>
      </p:sp>
      <p:sp>
        <p:nvSpPr>
          <p:cNvPr id="13" name="Shape 10"/>
          <p:cNvSpPr/>
          <p:nvPr/>
        </p:nvSpPr>
        <p:spPr>
          <a:xfrm>
            <a:off x="554720" y="348895"/>
            <a:ext cx="5712602" cy="553998"/>
          </a:xfrm>
          <a:prstGeom prst="rect">
            <a:avLst/>
          </a:prstGeom>
          <a:noFill/>
          <a:ln/>
        </p:spPr>
        <p:txBody>
          <a:bodyPr/>
          <a:lstStyle/>
          <a:p>
            <a:endParaRPr lang="en-CA"/>
          </a:p>
        </p:txBody>
      </p:sp>
      <p:pic>
        <p:nvPicPr>
          <p:cNvPr id="16" name="Image 2" descr="preencoded.png"/>
          <p:cNvPicPr>
            <a:picLocks noChangeAspect="1"/>
          </p:cNvPicPr>
          <p:nvPr/>
        </p:nvPicPr>
        <p:blipFill>
          <a:blip r:embed="rId3"/>
          <a:stretch>
            <a:fillRect/>
          </a:stretch>
        </p:blipFill>
        <p:spPr>
          <a:xfrm>
            <a:off x="781297" y="1944481"/>
            <a:ext cx="4270315" cy="2517799"/>
          </a:xfrm>
          <a:prstGeom prst="rect">
            <a:avLst/>
          </a:prstGeom>
        </p:spPr>
      </p:pic>
      <p:sp>
        <p:nvSpPr>
          <p:cNvPr id="17" name="Text 11"/>
          <p:cNvSpPr>
            <a:spLocks/>
          </p:cNvSpPr>
          <p:nvPr/>
        </p:nvSpPr>
        <p:spPr>
          <a:xfrm>
            <a:off x="861730" y="1367819"/>
            <a:ext cx="5206644" cy="307777"/>
          </a:xfrm>
          <a:prstGeom prst="rect">
            <a:avLst/>
          </a:prstGeom>
          <a:noFill/>
          <a:ln/>
        </p:spPr>
        <p:txBody>
          <a:bodyPr wrap="square" rtlCol="0" anchor="ctr"/>
          <a:lstStyle/>
          <a:p>
            <a:pPr marL="0" indent="0" algn="l">
              <a:lnSpc>
                <a:spcPts val="1498"/>
              </a:lnSpc>
              <a:buNone/>
            </a:pPr>
            <a:r>
              <a:rPr lang="en-US" sz="1238" dirty="0">
                <a:solidFill>
                  <a:srgbClr val="000000">
                    <a:alpha val="99000"/>
                  </a:srgbClr>
                </a:solidFill>
                <a:latin typeface="Inter" pitchFamily="34" charset="0"/>
                <a:ea typeface="Inter" pitchFamily="34" charset="-122"/>
                <a:cs typeface="Inter" pitchFamily="34" charset="-120"/>
                <a:hlinkClick r:id="rId4"/>
              </a:rPr>
              <a:t>Purdue OWL</a:t>
            </a:r>
            <a:endParaRPr lang="en-US" sz="1238" dirty="0"/>
          </a:p>
        </p:txBody>
      </p:sp>
      <p:sp>
        <p:nvSpPr>
          <p:cNvPr id="21" name="Text 15"/>
          <p:cNvSpPr/>
          <p:nvPr/>
        </p:nvSpPr>
        <p:spPr>
          <a:xfrm>
            <a:off x="554720" y="348895"/>
            <a:ext cx="6169802" cy="553998"/>
          </a:xfrm>
          <a:prstGeom prst="rect">
            <a:avLst/>
          </a:prstGeom>
          <a:noFill/>
          <a:ln/>
        </p:spPr>
        <p:txBody>
          <a:bodyPr wrap="square" rtlCol="0" anchor="ctr"/>
          <a:lstStyle/>
          <a:p>
            <a:pPr marL="0" indent="0" algn="l">
              <a:lnSpc>
                <a:spcPts val="3713"/>
              </a:lnSpc>
              <a:buNone/>
            </a:pPr>
            <a:r>
              <a:rPr lang="en-US" sz="2475" dirty="0">
                <a:solidFill>
                  <a:srgbClr val="0077C8">
                    <a:alpha val="99000"/>
                  </a:srgbClr>
                </a:solidFill>
                <a:latin typeface="Poppins" pitchFamily="34" charset="0"/>
                <a:ea typeface="Poppins" pitchFamily="34" charset="-122"/>
                <a:cs typeface="Poppins" pitchFamily="34" charset="-120"/>
              </a:rPr>
              <a:t>Citation Guide Resource</a:t>
            </a:r>
            <a:r>
              <a:rPr lang="en-US" sz="2475" dirty="0">
                <a:solidFill>
                  <a:srgbClr val="000000">
                    <a:alpha val="99000"/>
                  </a:srgbClr>
                </a:solidFill>
                <a:latin typeface="Poppins" pitchFamily="34" charset="0"/>
                <a:ea typeface="Poppins" pitchFamily="34" charset="-122"/>
                <a:cs typeface="Poppins" pitchFamily="34" charset="-120"/>
              </a:rPr>
              <a:t>​</a:t>
            </a:r>
            <a:endParaRPr lang="en-US" sz="24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A106C169-2166-63D7-C3CD-34AE4FD346E9}"/>
              </a:ext>
            </a:extLst>
          </p:cNvPr>
          <p:cNvGraphicFramePr>
            <a:graphicFrameLocks noGrp="1"/>
          </p:cNvGraphicFramePr>
          <p:nvPr>
            <p:ph idx="1"/>
            <p:extLst>
              <p:ext uri="{D42A27DB-BD31-4B8C-83A1-F6EECF244321}">
                <p14:modId xmlns:p14="http://schemas.microsoft.com/office/powerpoint/2010/main" val="315507721"/>
              </p:ext>
            </p:extLst>
          </p:nvPr>
        </p:nvGraphicFramePr>
        <p:xfrm>
          <a:off x="483042" y="1584435"/>
          <a:ext cx="8195872" cy="3144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文本框 2">
            <a:extLst>
              <a:ext uri="{FF2B5EF4-FFF2-40B4-BE49-F238E27FC236}">
                <a16:creationId xmlns:a16="http://schemas.microsoft.com/office/drawing/2014/main" id="{D1AEC24A-3E37-644A-B4BA-102D4F308F1E}"/>
              </a:ext>
            </a:extLst>
          </p:cNvPr>
          <p:cNvSpPr txBox="1"/>
          <p:nvPr/>
        </p:nvSpPr>
        <p:spPr>
          <a:xfrm>
            <a:off x="262569" y="1557019"/>
            <a:ext cx="4572000" cy="2585323"/>
          </a:xfrm>
          <a:prstGeom prst="rect">
            <a:avLst/>
          </a:prstGeom>
          <a:noFill/>
        </p:spPr>
        <p:txBody>
          <a:bodyPr wrap="square">
            <a:spAutoFit/>
          </a:bodyPr>
          <a:lstStyle/>
          <a:p>
            <a:pPr lvl="0"/>
            <a:r>
              <a:rPr lang="en-US" dirty="0"/>
              <a:t>The Book of Phoenix:</a:t>
            </a:r>
          </a:p>
          <a:p>
            <a:pPr lvl="1"/>
            <a:r>
              <a:rPr lang="en-US" dirty="0"/>
              <a:t>What new themes have you discovered in Book of Phoenix? </a:t>
            </a:r>
          </a:p>
          <a:p>
            <a:pPr lvl="1"/>
            <a:r>
              <a:rPr lang="en-US" dirty="0"/>
              <a:t>How have the themes from last class shown up within the plot?</a:t>
            </a:r>
          </a:p>
          <a:p>
            <a:pPr lvl="1"/>
            <a:r>
              <a:rPr lang="en-US" dirty="0"/>
              <a:t>Where does ‘story’ come up within </a:t>
            </a:r>
            <a:r>
              <a:rPr lang="en-US" i="1" dirty="0"/>
              <a:t>The Book of Phoenix</a:t>
            </a:r>
            <a:r>
              <a:rPr lang="en-US" dirty="0"/>
              <a:t>? </a:t>
            </a:r>
          </a:p>
          <a:p>
            <a:pPr lvl="2"/>
            <a:r>
              <a:rPr lang="en-US" dirty="0"/>
              <a:t>Narrative framing (a story within a story); Cultural stories/mythology</a:t>
            </a:r>
          </a:p>
        </p:txBody>
      </p:sp>
      <p:sp>
        <p:nvSpPr>
          <p:cNvPr id="6" name="文本框 5">
            <a:extLst>
              <a:ext uri="{FF2B5EF4-FFF2-40B4-BE49-F238E27FC236}">
                <a16:creationId xmlns:a16="http://schemas.microsoft.com/office/drawing/2014/main" id="{0D0FBB87-74E9-CB4B-7643-DF0F2B97C1C1}"/>
              </a:ext>
            </a:extLst>
          </p:cNvPr>
          <p:cNvSpPr txBox="1"/>
          <p:nvPr/>
        </p:nvSpPr>
        <p:spPr>
          <a:xfrm>
            <a:off x="4437961" y="1331189"/>
            <a:ext cx="4572000" cy="2585323"/>
          </a:xfrm>
          <a:prstGeom prst="rect">
            <a:avLst/>
          </a:prstGeom>
          <a:noFill/>
        </p:spPr>
        <p:txBody>
          <a:bodyPr wrap="square">
            <a:spAutoFit/>
          </a:bodyPr>
          <a:lstStyle/>
          <a:p>
            <a:pPr lvl="0"/>
            <a:r>
              <a:rPr lang="en-US" dirty="0"/>
              <a:t>They Say/I Say Chapters 8 &amp; 9:</a:t>
            </a:r>
          </a:p>
          <a:p>
            <a:pPr lvl="1"/>
            <a:r>
              <a:rPr lang="en-US" dirty="0"/>
              <a:t>What is the significance of using transitions within writing? </a:t>
            </a:r>
          </a:p>
          <a:p>
            <a:pPr lvl="1"/>
            <a:r>
              <a:rPr lang="en-US" dirty="0"/>
              <a:t>How does the ‘so what’ concept work when studying literature?</a:t>
            </a:r>
          </a:p>
          <a:p>
            <a:pPr lvl="2"/>
            <a:r>
              <a:rPr lang="en-US" dirty="0"/>
              <a:t>Who might find literary analysis important?</a:t>
            </a:r>
          </a:p>
          <a:p>
            <a:pPr lvl="2"/>
            <a:r>
              <a:rPr lang="en-US" dirty="0"/>
              <a:t>Does the ‘so what’ concept apply at all? Why or why not? </a:t>
            </a:r>
          </a:p>
        </p:txBody>
      </p:sp>
      <p:sp>
        <p:nvSpPr>
          <p:cNvPr id="8" name="文本框 7">
            <a:extLst>
              <a:ext uri="{FF2B5EF4-FFF2-40B4-BE49-F238E27FC236}">
                <a16:creationId xmlns:a16="http://schemas.microsoft.com/office/drawing/2014/main" id="{4FB96A7A-49B6-808B-92A8-C018AAAABEC5}"/>
              </a:ext>
            </a:extLst>
          </p:cNvPr>
          <p:cNvSpPr txBox="1"/>
          <p:nvPr/>
        </p:nvSpPr>
        <p:spPr>
          <a:xfrm>
            <a:off x="648159" y="283550"/>
            <a:ext cx="4572000" cy="369332"/>
          </a:xfrm>
          <a:prstGeom prst="rect">
            <a:avLst/>
          </a:prstGeom>
          <a:noFill/>
        </p:spPr>
        <p:txBody>
          <a:bodyPr wrap="square">
            <a:spAutoFit/>
          </a:bodyPr>
          <a:lstStyle/>
          <a:p>
            <a:r>
              <a:rPr lang="en-US" altLang="zh-CN" b="0" i="0" dirty="0">
                <a:effectLst/>
                <a:latin typeface="Segoe WPC"/>
              </a:rPr>
              <a:t>10</a:t>
            </a:r>
            <a:r>
              <a:rPr lang="zh-CN" altLang="en-US" dirty="0">
                <a:latin typeface="Segoe WPC"/>
              </a:rPr>
              <a:t> </a:t>
            </a:r>
            <a:r>
              <a:rPr lang="en-US" altLang="zh-CN" dirty="0">
                <a:latin typeface="Segoe WPC"/>
              </a:rPr>
              <a:t>Minutes Writing Prompt</a:t>
            </a:r>
            <a:endParaRPr lang="en-CA" dirty="0"/>
          </a:p>
        </p:txBody>
      </p:sp>
    </p:spTree>
    <p:extLst>
      <p:ext uri="{BB962C8B-B14F-4D97-AF65-F5344CB8AC3E}">
        <p14:creationId xmlns:p14="http://schemas.microsoft.com/office/powerpoint/2010/main" val="3209767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9CC40-0CAA-49C2-3088-02C74173BA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CA5B9-1083-5BEC-9292-03D528510904}"/>
              </a:ext>
            </a:extLst>
          </p:cNvPr>
          <p:cNvSpPr>
            <a:spLocks noGrp="1"/>
          </p:cNvSpPr>
          <p:nvPr>
            <p:ph type="title"/>
          </p:nvPr>
        </p:nvSpPr>
        <p:spPr>
          <a:xfrm>
            <a:off x="1037674" y="261649"/>
            <a:ext cx="7288583" cy="1182335"/>
          </a:xfrm>
        </p:spPr>
        <p:txBody>
          <a:bodyPr anchor="ctr">
            <a:normAutofit/>
          </a:bodyPr>
          <a:lstStyle/>
          <a:p>
            <a:r>
              <a:rPr lang="en-US" sz="2550" dirty="0">
                <a:solidFill>
                  <a:srgbClr val="FFFFFF"/>
                </a:solidFill>
              </a:rPr>
              <a:t>Using your evidence chart from last week, write a thesis and so what statements using the following templates:</a:t>
            </a:r>
          </a:p>
        </p:txBody>
      </p:sp>
      <p:graphicFrame>
        <p:nvGraphicFramePr>
          <p:cNvPr id="5" name="Content Placeholder 2">
            <a:extLst>
              <a:ext uri="{FF2B5EF4-FFF2-40B4-BE49-F238E27FC236}">
                <a16:creationId xmlns:a16="http://schemas.microsoft.com/office/drawing/2014/main" id="{0F75B909-9617-FF5F-B9A6-280A6AF115C3}"/>
              </a:ext>
            </a:extLst>
          </p:cNvPr>
          <p:cNvGraphicFramePr>
            <a:graphicFrameLocks noGrp="1"/>
          </p:cNvGraphicFramePr>
          <p:nvPr>
            <p:ph idx="1"/>
          </p:nvPr>
        </p:nvGraphicFramePr>
        <p:xfrm>
          <a:off x="483042" y="1961985"/>
          <a:ext cx="8195872" cy="2767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24644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5" name="墨迹 4">
                <a:extLst>
                  <a:ext uri="{FF2B5EF4-FFF2-40B4-BE49-F238E27FC236}">
                    <a16:creationId xmlns:a16="http://schemas.microsoft.com/office/drawing/2014/main" id="{E813C73A-388E-F477-CEA3-F993FEBBC919}"/>
                  </a:ext>
                </a:extLst>
              </p14:cNvPr>
              <p14:cNvContentPartPr/>
              <p14:nvPr/>
            </p14:nvContentPartPr>
            <p14:xfrm>
              <a:off x="8805562" y="1047637"/>
              <a:ext cx="360" cy="360"/>
            </p14:xfrm>
          </p:contentPart>
        </mc:Choice>
        <mc:Fallback xmlns="">
          <p:pic>
            <p:nvPicPr>
              <p:cNvPr id="5" name="墨迹 4">
                <a:extLst>
                  <a:ext uri="{FF2B5EF4-FFF2-40B4-BE49-F238E27FC236}">
                    <a16:creationId xmlns:a16="http://schemas.microsoft.com/office/drawing/2014/main" id="{E813C73A-388E-F477-CEA3-F993FEBBC919}"/>
                  </a:ext>
                </a:extLst>
              </p:cNvPr>
              <p:cNvPicPr/>
              <p:nvPr/>
            </p:nvPicPr>
            <p:blipFill>
              <a:blip r:embed="rId3"/>
              <a:stretch>
                <a:fillRect/>
              </a:stretch>
            </p:blipFill>
            <p:spPr>
              <a:xfrm>
                <a:off x="8799442" y="1041517"/>
                <a:ext cx="12600" cy="12600"/>
              </a:xfrm>
              <a:prstGeom prst="rect">
                <a:avLst/>
              </a:prstGeom>
            </p:spPr>
          </p:pic>
        </mc:Fallback>
      </mc:AlternateContent>
      <p:graphicFrame>
        <p:nvGraphicFramePr>
          <p:cNvPr id="2" name="表格 1">
            <a:extLst>
              <a:ext uri="{FF2B5EF4-FFF2-40B4-BE49-F238E27FC236}">
                <a16:creationId xmlns:a16="http://schemas.microsoft.com/office/drawing/2014/main" id="{81DCF626-2B8E-1F3F-3A6E-E3F8928EE687}"/>
              </a:ext>
            </a:extLst>
          </p:cNvPr>
          <p:cNvGraphicFramePr>
            <a:graphicFrameLocks noGrp="1"/>
          </p:cNvGraphicFramePr>
          <p:nvPr>
            <p:extLst>
              <p:ext uri="{D42A27DB-BD31-4B8C-83A1-F6EECF244321}">
                <p14:modId xmlns:p14="http://schemas.microsoft.com/office/powerpoint/2010/main" val="3502483701"/>
              </p:ext>
            </p:extLst>
          </p:nvPr>
        </p:nvGraphicFramePr>
        <p:xfrm>
          <a:off x="847075" y="297180"/>
          <a:ext cx="7153616" cy="4549140"/>
        </p:xfrm>
        <a:graphic>
          <a:graphicData uri="http://schemas.openxmlformats.org/drawingml/2006/table">
            <a:tbl>
              <a:tblPr firstRow="1" bandRow="1">
                <a:tableStyleId>{5C22544A-7EE6-4342-B048-85BDC9FD1C3A}</a:tableStyleId>
              </a:tblPr>
              <a:tblGrid>
                <a:gridCol w="1788404">
                  <a:extLst>
                    <a:ext uri="{9D8B030D-6E8A-4147-A177-3AD203B41FA5}">
                      <a16:colId xmlns:a16="http://schemas.microsoft.com/office/drawing/2014/main" val="2609771329"/>
                    </a:ext>
                  </a:extLst>
                </a:gridCol>
                <a:gridCol w="1788404">
                  <a:extLst>
                    <a:ext uri="{9D8B030D-6E8A-4147-A177-3AD203B41FA5}">
                      <a16:colId xmlns:a16="http://schemas.microsoft.com/office/drawing/2014/main" val="1141455656"/>
                    </a:ext>
                  </a:extLst>
                </a:gridCol>
                <a:gridCol w="1788404">
                  <a:extLst>
                    <a:ext uri="{9D8B030D-6E8A-4147-A177-3AD203B41FA5}">
                      <a16:colId xmlns:a16="http://schemas.microsoft.com/office/drawing/2014/main" val="3925591099"/>
                    </a:ext>
                  </a:extLst>
                </a:gridCol>
                <a:gridCol w="1788404">
                  <a:extLst>
                    <a:ext uri="{9D8B030D-6E8A-4147-A177-3AD203B41FA5}">
                      <a16:colId xmlns:a16="http://schemas.microsoft.com/office/drawing/2014/main" val="978901787"/>
                    </a:ext>
                  </a:extLst>
                </a:gridCol>
              </a:tblGrid>
              <a:tr h="195974">
                <a:tc>
                  <a:txBody>
                    <a:bodyPr/>
                    <a:lstStyle/>
                    <a:p>
                      <a:pPr rtl="0">
                        <a:buNone/>
                      </a:pPr>
                      <a:r>
                        <a:rPr lang="en-CA" sz="1050" b="1" dirty="0">
                          <a:solidFill>
                            <a:srgbClr val="1F1F1F"/>
                          </a:solidFill>
                          <a:effectLst/>
                          <a:latin typeface="Google Sans Text"/>
                        </a:rPr>
                        <a:t>Themes</a:t>
                      </a:r>
                      <a:endParaRPr lang="en-CA" sz="1050" dirty="0">
                        <a:solidFill>
                          <a:srgbClr val="1F1F1F"/>
                        </a:solidFill>
                        <a:effectLst/>
                        <a:latin typeface="Google Sans Text"/>
                      </a:endParaRPr>
                    </a:p>
                  </a:txBody>
                  <a:tcPr marL="57150" marR="57150" marT="38100" marB="38100" anchor="ctr"/>
                </a:tc>
                <a:tc>
                  <a:txBody>
                    <a:bodyPr/>
                    <a:lstStyle/>
                    <a:p>
                      <a:pPr rtl="0">
                        <a:buNone/>
                      </a:pPr>
                      <a:r>
                        <a:rPr lang="en-CA" sz="1050" b="1">
                          <a:solidFill>
                            <a:srgbClr val="1F1F1F"/>
                          </a:solidFill>
                          <a:effectLst/>
                          <a:latin typeface="Google Sans Text"/>
                        </a:rPr>
                        <a:t>Otherness</a:t>
                      </a:r>
                      <a:endParaRPr lang="en-CA" sz="1050">
                        <a:solidFill>
                          <a:srgbClr val="1F1F1F"/>
                        </a:solidFill>
                        <a:effectLst/>
                        <a:latin typeface="Google Sans Text"/>
                      </a:endParaRPr>
                    </a:p>
                  </a:txBody>
                  <a:tcPr marL="57150" marR="57150" marT="38100" marB="38100" anchor="ctr"/>
                </a:tc>
                <a:tc>
                  <a:txBody>
                    <a:bodyPr/>
                    <a:lstStyle/>
                    <a:p>
                      <a:pPr rtl="0">
                        <a:buNone/>
                      </a:pPr>
                      <a:r>
                        <a:rPr lang="en-CA" sz="1050" b="1">
                          <a:solidFill>
                            <a:srgbClr val="1F1F1F"/>
                          </a:solidFill>
                          <a:effectLst/>
                          <a:latin typeface="Google Sans Text"/>
                        </a:rPr>
                        <a:t>Storytelling</a:t>
                      </a:r>
                      <a:endParaRPr lang="en-CA" sz="1050">
                        <a:solidFill>
                          <a:srgbClr val="1F1F1F"/>
                        </a:solidFill>
                        <a:effectLst/>
                        <a:latin typeface="Google Sans Text"/>
                      </a:endParaRPr>
                    </a:p>
                  </a:txBody>
                  <a:tcPr marL="57150" marR="57150" marT="38100" marB="38100" anchor="ctr"/>
                </a:tc>
                <a:tc>
                  <a:txBody>
                    <a:bodyPr/>
                    <a:lstStyle/>
                    <a:p>
                      <a:pPr rtl="0">
                        <a:buNone/>
                      </a:pPr>
                      <a:r>
                        <a:rPr lang="en-CA" sz="1050" b="1">
                          <a:solidFill>
                            <a:srgbClr val="1F1F1F"/>
                          </a:solidFill>
                          <a:effectLst/>
                          <a:latin typeface="Google Sans Text"/>
                        </a:rPr>
                        <a:t>Death/Rebirth</a:t>
                      </a:r>
                      <a:endParaRPr lang="en-CA" sz="1050">
                        <a:solidFill>
                          <a:srgbClr val="1F1F1F"/>
                        </a:solidFill>
                        <a:effectLst/>
                        <a:latin typeface="Google Sans Text"/>
                      </a:endParaRPr>
                    </a:p>
                  </a:txBody>
                  <a:tcPr marL="57150" marR="57150" marT="38100" marB="38100" anchor="ctr"/>
                </a:tc>
                <a:extLst>
                  <a:ext uri="{0D108BD9-81ED-4DB2-BD59-A6C34878D82A}">
                    <a16:rowId xmlns:a16="http://schemas.microsoft.com/office/drawing/2014/main" val="597431102"/>
                  </a:ext>
                </a:extLst>
              </a:tr>
              <a:tr h="1656295">
                <a:tc>
                  <a:txBody>
                    <a:bodyPr/>
                    <a:lstStyle/>
                    <a:p>
                      <a:pPr rtl="0">
                        <a:buNone/>
                      </a:pPr>
                      <a:r>
                        <a:rPr lang="en-CA" sz="1050" b="1" dirty="0">
                          <a:solidFill>
                            <a:srgbClr val="1F1F1F"/>
                          </a:solidFill>
                          <a:effectLst/>
                          <a:latin typeface="Google Sans Text"/>
                        </a:rPr>
                        <a:t>Quotes</a:t>
                      </a:r>
                      <a:endParaRPr lang="en-CA" sz="1050" dirty="0">
                        <a:solidFill>
                          <a:srgbClr val="1F1F1F"/>
                        </a:solidFill>
                        <a:effectLst/>
                        <a:latin typeface="Google Sans Text"/>
                      </a:endParaRPr>
                    </a:p>
                  </a:txBody>
                  <a:tcPr marL="57150" marR="57150" marT="38100" marB="38100" anchor="ctr"/>
                </a:tc>
                <a:tc>
                  <a:txBody>
                    <a:bodyPr/>
                    <a:lstStyle/>
                    <a:p>
                      <a:pPr rtl="0">
                        <a:buNone/>
                      </a:pPr>
                      <a:r>
                        <a:rPr lang="en-CA" sz="1050" dirty="0">
                          <a:solidFill>
                            <a:srgbClr val="1F1F1F"/>
                          </a:solidFill>
                          <a:effectLst/>
                          <a:latin typeface="Google Sans Text"/>
                        </a:rPr>
                        <a:t>‘I could never fit in, so that wasn't the reason.”</a:t>
                      </a:r>
                    </a:p>
                    <a:p>
                      <a:pPr rtl="0">
                        <a:buNone/>
                      </a:pPr>
                      <a:br>
                        <a:rPr lang="en-CA" sz="1050" dirty="0">
                          <a:solidFill>
                            <a:srgbClr val="1F1F1F"/>
                          </a:solidFill>
                          <a:effectLst/>
                          <a:latin typeface="Google Sans Text"/>
                        </a:rPr>
                      </a:br>
                      <a:br>
                        <a:rPr lang="en-CA" sz="1050" dirty="0">
                          <a:solidFill>
                            <a:srgbClr val="1F1F1F"/>
                          </a:solidFill>
                          <a:effectLst/>
                          <a:latin typeface="Google Sans Text"/>
                        </a:rPr>
                      </a:br>
                      <a:endParaRPr lang="en-CA" sz="1050" dirty="0">
                        <a:solidFill>
                          <a:srgbClr val="1F1F1F"/>
                        </a:solidFill>
                        <a:effectLst/>
                        <a:latin typeface="Google Sans Text"/>
                      </a:endParaRPr>
                    </a:p>
                    <a:p>
                      <a:pPr rtl="0">
                        <a:buNone/>
                      </a:pPr>
                      <a:r>
                        <a:rPr lang="en-CA" sz="1050" dirty="0">
                          <a:solidFill>
                            <a:srgbClr val="1F1F1F"/>
                          </a:solidFill>
                          <a:effectLst/>
                          <a:latin typeface="Google Sans Text"/>
                        </a:rPr>
                        <a:t>“It felt good to be different from what I had been, yet the same</a:t>
                      </a:r>
                    </a:p>
                    <a:p>
                      <a:pPr rtl="0">
                        <a:buNone/>
                      </a:pPr>
                      <a:br>
                        <a:rPr lang="en-CA" sz="1050" dirty="0">
                          <a:solidFill>
                            <a:srgbClr val="1F1F1F"/>
                          </a:solidFill>
                          <a:effectLst/>
                          <a:latin typeface="Google Sans Text"/>
                        </a:rPr>
                      </a:br>
                      <a:endParaRPr lang="en-CA" sz="1050" dirty="0">
                        <a:solidFill>
                          <a:srgbClr val="1F1F1F"/>
                        </a:solidFill>
                        <a:effectLst/>
                        <a:latin typeface="Google Sans Text"/>
                      </a:endParaRPr>
                    </a:p>
                    <a:p>
                      <a:pPr rtl="0">
                        <a:buNone/>
                      </a:pPr>
                      <a:r>
                        <a:rPr lang="en-CA" sz="1050" dirty="0">
                          <a:solidFill>
                            <a:srgbClr val="1F1F1F"/>
                          </a:solidFill>
                          <a:effectLst/>
                          <a:latin typeface="Google Sans Text"/>
                        </a:rPr>
                        <a:t>That which was me would never change.”</a:t>
                      </a:r>
                    </a:p>
                  </a:txBody>
                  <a:tcPr marL="57150" marR="57150" marT="38100" marB="38100" anchor="ctr"/>
                </a:tc>
                <a:tc>
                  <a:txBody>
                    <a:bodyPr/>
                    <a:lstStyle/>
                    <a:p>
                      <a:pPr rtl="0">
                        <a:buNone/>
                      </a:pPr>
                      <a:r>
                        <a:rPr lang="en-CA" sz="1050">
                          <a:solidFill>
                            <a:srgbClr val="1F1F1F"/>
                          </a:solidFill>
                          <a:effectLst/>
                          <a:latin typeface="Google Sans Text"/>
                        </a:rPr>
                        <a:t>“You and the storyteller share everything, even your existence”</a:t>
                      </a:r>
                    </a:p>
                    <a:p>
                      <a:pPr rtl="0">
                        <a:buNone/>
                      </a:pPr>
                      <a:br>
                        <a:rPr lang="en-CA" sz="1050">
                          <a:solidFill>
                            <a:srgbClr val="1F1F1F"/>
                          </a:solidFill>
                          <a:effectLst/>
                          <a:latin typeface="Google Sans Text"/>
                        </a:rPr>
                      </a:br>
                      <a:br>
                        <a:rPr lang="en-CA" sz="1050">
                          <a:solidFill>
                            <a:srgbClr val="1F1F1F"/>
                          </a:solidFill>
                          <a:effectLst/>
                          <a:latin typeface="Google Sans Text"/>
                        </a:rPr>
                      </a:br>
                      <a:endParaRPr lang="en-CA" sz="1050">
                        <a:solidFill>
                          <a:srgbClr val="1F1F1F"/>
                        </a:solidFill>
                        <a:effectLst/>
                        <a:latin typeface="Google Sans Text"/>
                      </a:endParaRPr>
                    </a:p>
                    <a:p>
                      <a:pPr rtl="0">
                        <a:buNone/>
                      </a:pPr>
                      <a:r>
                        <a:rPr lang="en-CA" sz="1050">
                          <a:solidFill>
                            <a:srgbClr val="1F1F1F"/>
                          </a:solidFill>
                          <a:effectLst/>
                          <a:latin typeface="Google Sans Text"/>
                        </a:rPr>
                        <a:t>“One must stop time to listen to a story.”</a:t>
                      </a:r>
                    </a:p>
                  </a:txBody>
                  <a:tcPr marL="57150" marR="57150" marT="38100" marB="38100" anchor="ctr"/>
                </a:tc>
                <a:tc>
                  <a:txBody>
                    <a:bodyPr/>
                    <a:lstStyle/>
                    <a:p>
                      <a:pPr rtl="0">
                        <a:buNone/>
                      </a:pPr>
                      <a:r>
                        <a:rPr lang="en-CA" sz="1050">
                          <a:solidFill>
                            <a:srgbClr val="1F1F1F"/>
                          </a:solidFill>
                          <a:effectLst/>
                          <a:latin typeface="Google Sans Text"/>
                        </a:rPr>
                        <a:t>“That which was me could survive death. Over and over”</a:t>
                      </a:r>
                    </a:p>
                    <a:p>
                      <a:pPr rtl="0">
                        <a:buNone/>
                      </a:pPr>
                      <a:br>
                        <a:rPr lang="en-CA" sz="1050">
                          <a:solidFill>
                            <a:srgbClr val="1F1F1F"/>
                          </a:solidFill>
                          <a:effectLst/>
                          <a:latin typeface="Google Sans Text"/>
                        </a:rPr>
                      </a:br>
                      <a:br>
                        <a:rPr lang="en-CA" sz="1050">
                          <a:solidFill>
                            <a:srgbClr val="1F1F1F"/>
                          </a:solidFill>
                          <a:effectLst/>
                          <a:latin typeface="Google Sans Text"/>
                        </a:rPr>
                      </a:br>
                      <a:endParaRPr lang="en-CA" sz="1050">
                        <a:solidFill>
                          <a:srgbClr val="1F1F1F"/>
                        </a:solidFill>
                        <a:effectLst/>
                        <a:latin typeface="Google Sans Text"/>
                      </a:endParaRPr>
                    </a:p>
                    <a:p>
                      <a:pPr rtl="0">
                        <a:buNone/>
                      </a:pPr>
                      <a:r>
                        <a:rPr lang="en-CA" sz="1050">
                          <a:solidFill>
                            <a:srgbClr val="1F1F1F"/>
                          </a:solidFill>
                          <a:effectLst/>
                          <a:latin typeface="Google Sans Text"/>
                        </a:rPr>
                        <a:t>“The storyteller starts it again.”</a:t>
                      </a:r>
                    </a:p>
                  </a:txBody>
                  <a:tcPr marL="57150" marR="57150" marT="38100" marB="38100" anchor="ctr"/>
                </a:tc>
                <a:extLst>
                  <a:ext uri="{0D108BD9-81ED-4DB2-BD59-A6C34878D82A}">
                    <a16:rowId xmlns:a16="http://schemas.microsoft.com/office/drawing/2014/main" val="57991782"/>
                  </a:ext>
                </a:extLst>
              </a:tr>
              <a:tr h="1921808">
                <a:tc>
                  <a:txBody>
                    <a:bodyPr/>
                    <a:lstStyle/>
                    <a:p>
                      <a:pPr rtl="0">
                        <a:buNone/>
                      </a:pPr>
                      <a:r>
                        <a:rPr lang="en-CA" sz="1050" b="1">
                          <a:solidFill>
                            <a:srgbClr val="1F1F1F"/>
                          </a:solidFill>
                          <a:effectLst/>
                          <a:latin typeface="Google Sans Text"/>
                        </a:rPr>
                        <a:t>Context</a:t>
                      </a:r>
                      <a:endParaRPr lang="en-CA" sz="1050">
                        <a:solidFill>
                          <a:srgbClr val="1F1F1F"/>
                        </a:solidFill>
                        <a:effectLst/>
                        <a:latin typeface="Google Sans Text"/>
                      </a:endParaRPr>
                    </a:p>
                  </a:txBody>
                  <a:tcPr marL="57150" marR="57150" marT="38100" marB="38100" anchor="ctr"/>
                </a:tc>
                <a:tc>
                  <a:txBody>
                    <a:bodyPr/>
                    <a:lstStyle/>
                    <a:p>
                      <a:pPr rtl="0">
                        <a:buNone/>
                      </a:pPr>
                      <a:r>
                        <a:rPr lang="en-CA" sz="1050">
                          <a:solidFill>
                            <a:srgbClr val="1F1F1F"/>
                          </a:solidFill>
                          <a:effectLst/>
                          <a:latin typeface="Google Sans Text"/>
                        </a:rPr>
                        <a:t>That one will struggle to change to be included, and will feel excluded.</a:t>
                      </a:r>
                    </a:p>
                    <a:p>
                      <a:pPr rtl="0">
                        <a:buNone/>
                      </a:pPr>
                      <a:br>
                        <a:rPr lang="en-CA" sz="1050">
                          <a:solidFill>
                            <a:srgbClr val="1F1F1F"/>
                          </a:solidFill>
                          <a:effectLst/>
                          <a:latin typeface="Google Sans Text"/>
                        </a:rPr>
                      </a:br>
                      <a:endParaRPr lang="en-CA" sz="1050">
                        <a:solidFill>
                          <a:srgbClr val="1F1F1F"/>
                        </a:solidFill>
                        <a:effectLst/>
                        <a:latin typeface="Google Sans Text"/>
                      </a:endParaRPr>
                    </a:p>
                    <a:p>
                      <a:pPr rtl="0">
                        <a:buNone/>
                      </a:pPr>
                      <a:r>
                        <a:rPr lang="en-CA" sz="1050">
                          <a:solidFill>
                            <a:srgbClr val="1F1F1F"/>
                          </a:solidFill>
                          <a:effectLst/>
                          <a:latin typeface="Google Sans Text"/>
                        </a:rPr>
                        <a:t>Racism in the real world and the struggle for those who are different</a:t>
                      </a:r>
                    </a:p>
                  </a:txBody>
                  <a:tcPr marL="57150" marR="57150" marT="38100" marB="38100" anchor="ctr"/>
                </a:tc>
                <a:tc>
                  <a:txBody>
                    <a:bodyPr/>
                    <a:lstStyle/>
                    <a:p>
                      <a:pPr rtl="0">
                        <a:buNone/>
                      </a:pPr>
                      <a:r>
                        <a:rPr lang="en-CA" sz="1050">
                          <a:solidFill>
                            <a:srgbClr val="1F1F1F"/>
                          </a:solidFill>
                          <a:effectLst/>
                          <a:latin typeface="Google Sans Text"/>
                        </a:rPr>
                        <a:t>Storytelling has always been a major important aspect to humanity guiding people, the transference of knowledge and culture. This could be seen especially in indigenous cultures with oral traditions where story is converted to a deeper lesson.</a:t>
                      </a:r>
                    </a:p>
                  </a:txBody>
                  <a:tcPr marL="57150" marR="57150" marT="38100" marB="38100" anchor="ctr"/>
                </a:tc>
                <a:tc>
                  <a:txBody>
                    <a:bodyPr/>
                    <a:lstStyle/>
                    <a:p>
                      <a:pPr rtl="0">
                        <a:buNone/>
                      </a:pPr>
                      <a:r>
                        <a:rPr lang="en-CA" sz="1050" dirty="0">
                          <a:solidFill>
                            <a:srgbClr val="1F1F1F"/>
                          </a:solidFill>
                          <a:effectLst/>
                          <a:latin typeface="Google Sans Text"/>
                        </a:rPr>
                        <a:t>Phoenix died and was reborn.</a:t>
                      </a:r>
                    </a:p>
                    <a:p>
                      <a:pPr rtl="0">
                        <a:buNone/>
                      </a:pPr>
                      <a:br>
                        <a:rPr lang="en-CA" sz="1050" dirty="0">
                          <a:solidFill>
                            <a:srgbClr val="1F1F1F"/>
                          </a:solidFill>
                          <a:effectLst/>
                          <a:latin typeface="Google Sans Text"/>
                        </a:rPr>
                      </a:br>
                      <a:br>
                        <a:rPr lang="en-CA" sz="1050" dirty="0">
                          <a:solidFill>
                            <a:srgbClr val="1F1F1F"/>
                          </a:solidFill>
                          <a:effectLst/>
                          <a:latin typeface="Google Sans Text"/>
                        </a:rPr>
                      </a:br>
                      <a:endParaRPr lang="en-CA" sz="1050" dirty="0">
                        <a:solidFill>
                          <a:srgbClr val="1F1F1F"/>
                        </a:solidFill>
                        <a:effectLst/>
                        <a:latin typeface="Google Sans Text"/>
                      </a:endParaRPr>
                    </a:p>
                    <a:p>
                      <a:pPr rtl="0">
                        <a:buNone/>
                      </a:pPr>
                      <a:r>
                        <a:rPr lang="en-CA" sz="1050" dirty="0">
                          <a:solidFill>
                            <a:srgbClr val="1F1F1F"/>
                          </a:solidFill>
                          <a:effectLst/>
                          <a:latin typeface="Google Sans Text"/>
                        </a:rPr>
                        <a:t>Phoenix’s name is a symbol of rebirth and renewal.</a:t>
                      </a:r>
                    </a:p>
                    <a:p>
                      <a:pPr rtl="0">
                        <a:buNone/>
                      </a:pPr>
                      <a:br>
                        <a:rPr lang="en-CA" sz="1050" dirty="0">
                          <a:solidFill>
                            <a:srgbClr val="1F1F1F"/>
                          </a:solidFill>
                          <a:effectLst/>
                          <a:latin typeface="Google Sans Text"/>
                        </a:rPr>
                      </a:br>
                      <a:br>
                        <a:rPr lang="en-CA" sz="1050" dirty="0">
                          <a:solidFill>
                            <a:srgbClr val="1F1F1F"/>
                          </a:solidFill>
                          <a:effectLst/>
                          <a:latin typeface="Google Sans Text"/>
                        </a:rPr>
                      </a:br>
                      <a:endParaRPr lang="en-CA" sz="1050" dirty="0">
                        <a:solidFill>
                          <a:srgbClr val="1F1F1F"/>
                        </a:solidFill>
                        <a:effectLst/>
                        <a:latin typeface="Google Sans Text"/>
                      </a:endParaRPr>
                    </a:p>
                    <a:p>
                      <a:pPr rtl="0">
                        <a:buNone/>
                      </a:pPr>
                      <a:r>
                        <a:rPr lang="en-CA" sz="1050" dirty="0">
                          <a:solidFill>
                            <a:srgbClr val="1F1F1F"/>
                          </a:solidFill>
                          <a:effectLst/>
                          <a:latin typeface="Google Sans Text"/>
                        </a:rPr>
                        <a:t>Symbolizes transformation, the destruction of the old world was needed in order for a new and more futuristic world.</a:t>
                      </a:r>
                    </a:p>
                  </a:txBody>
                  <a:tcPr marL="57150" marR="57150" marT="38100" marB="38100" anchor="ctr"/>
                </a:tc>
                <a:extLst>
                  <a:ext uri="{0D108BD9-81ED-4DB2-BD59-A6C34878D82A}">
                    <a16:rowId xmlns:a16="http://schemas.microsoft.com/office/drawing/2014/main" val="3308270653"/>
                  </a:ext>
                </a:extLst>
              </a:tr>
            </a:tbl>
          </a:graphicData>
        </a:graphic>
      </p:graphicFrame>
    </p:spTree>
    <p:extLst>
      <p:ext uri="{BB962C8B-B14F-4D97-AF65-F5344CB8AC3E}">
        <p14:creationId xmlns:p14="http://schemas.microsoft.com/office/powerpoint/2010/main" val="635410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832C13E-ABED-7B38-E3A4-74084460B539}"/>
              </a:ext>
            </a:extLst>
          </p:cNvPr>
          <p:cNvSpPr txBox="1"/>
          <p:nvPr/>
        </p:nvSpPr>
        <p:spPr>
          <a:xfrm>
            <a:off x="1561274" y="532646"/>
            <a:ext cx="6220162" cy="369332"/>
          </a:xfrm>
          <a:prstGeom prst="rect">
            <a:avLst/>
          </a:prstGeom>
          <a:noFill/>
        </p:spPr>
        <p:txBody>
          <a:bodyPr wrap="square" rtlCol="0">
            <a:spAutoFit/>
          </a:bodyPr>
          <a:lstStyle/>
          <a:p>
            <a:pPr algn="ctr"/>
            <a:r>
              <a:rPr lang="en-US" dirty="0">
                <a:solidFill>
                  <a:srgbClr val="FFC000"/>
                </a:solidFill>
              </a:rPr>
              <a:t>Evidence chart and first impressions from Acheson’s Examples</a:t>
            </a:r>
          </a:p>
        </p:txBody>
      </p:sp>
      <p:graphicFrame>
        <p:nvGraphicFramePr>
          <p:cNvPr id="2" name="表格 1">
            <a:extLst>
              <a:ext uri="{FF2B5EF4-FFF2-40B4-BE49-F238E27FC236}">
                <a16:creationId xmlns:a16="http://schemas.microsoft.com/office/drawing/2014/main" id="{AA7A22CD-12E3-71CB-5559-827F176A6D57}"/>
              </a:ext>
            </a:extLst>
          </p:cNvPr>
          <p:cNvGraphicFramePr>
            <a:graphicFrameLocks noGrp="1"/>
          </p:cNvGraphicFramePr>
          <p:nvPr/>
        </p:nvGraphicFramePr>
        <p:xfrm>
          <a:off x="477318" y="1369792"/>
          <a:ext cx="4129580" cy="2867810"/>
        </p:xfrm>
        <a:graphic>
          <a:graphicData uri="http://schemas.openxmlformats.org/drawingml/2006/table">
            <a:tbl>
              <a:tblPr/>
              <a:tblGrid>
                <a:gridCol w="825916">
                  <a:extLst>
                    <a:ext uri="{9D8B030D-6E8A-4147-A177-3AD203B41FA5}">
                      <a16:colId xmlns:a16="http://schemas.microsoft.com/office/drawing/2014/main" val="760128789"/>
                    </a:ext>
                  </a:extLst>
                </a:gridCol>
                <a:gridCol w="825916">
                  <a:extLst>
                    <a:ext uri="{9D8B030D-6E8A-4147-A177-3AD203B41FA5}">
                      <a16:colId xmlns:a16="http://schemas.microsoft.com/office/drawing/2014/main" val="823841311"/>
                    </a:ext>
                  </a:extLst>
                </a:gridCol>
                <a:gridCol w="825916">
                  <a:extLst>
                    <a:ext uri="{9D8B030D-6E8A-4147-A177-3AD203B41FA5}">
                      <a16:colId xmlns:a16="http://schemas.microsoft.com/office/drawing/2014/main" val="3992897672"/>
                    </a:ext>
                  </a:extLst>
                </a:gridCol>
                <a:gridCol w="825916">
                  <a:extLst>
                    <a:ext uri="{9D8B030D-6E8A-4147-A177-3AD203B41FA5}">
                      <a16:colId xmlns:a16="http://schemas.microsoft.com/office/drawing/2014/main" val="1899802006"/>
                    </a:ext>
                  </a:extLst>
                </a:gridCol>
                <a:gridCol w="825916">
                  <a:extLst>
                    <a:ext uri="{9D8B030D-6E8A-4147-A177-3AD203B41FA5}">
                      <a16:colId xmlns:a16="http://schemas.microsoft.com/office/drawing/2014/main" val="842941589"/>
                    </a:ext>
                  </a:extLst>
                </a:gridCol>
              </a:tblGrid>
              <a:tr h="324807">
                <a:tc>
                  <a:txBody>
                    <a:bodyPr/>
                    <a:lstStyle/>
                    <a:p>
                      <a:pPr algn="l">
                        <a:buNone/>
                      </a:pPr>
                      <a:endParaRPr lang="en-CA" sz="800" dirty="0">
                        <a:effectLst/>
                      </a:endParaRP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2F2F2"/>
                    </a:solidFill>
                  </a:tcPr>
                </a:tc>
                <a:tc>
                  <a:txBody>
                    <a:bodyPr/>
                    <a:lstStyle/>
                    <a:p>
                      <a:pPr algn="l">
                        <a:buNone/>
                      </a:pPr>
                      <a:r>
                        <a:rPr lang="en-CA" sz="800">
                          <a:effectLst/>
                        </a:rPr>
                        <a:t>MATERIAL REALITY</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2F2F2"/>
                    </a:solidFill>
                  </a:tcPr>
                </a:tc>
                <a:tc>
                  <a:txBody>
                    <a:bodyPr/>
                    <a:lstStyle/>
                    <a:p>
                      <a:pPr algn="l">
                        <a:buNone/>
                      </a:pPr>
                      <a:r>
                        <a:rPr lang="en-CA" sz="800">
                          <a:effectLst/>
                        </a:rPr>
                        <a:t>MARRIAGE</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2F2F2"/>
                    </a:solidFill>
                  </a:tcPr>
                </a:tc>
                <a:tc>
                  <a:txBody>
                    <a:bodyPr/>
                    <a:lstStyle/>
                    <a:p>
                      <a:pPr algn="l">
                        <a:buNone/>
                      </a:pPr>
                      <a:r>
                        <a:rPr lang="en-CA" sz="800">
                          <a:effectLst/>
                        </a:rPr>
                        <a:t>SENSUOUSNESS</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2F2F2"/>
                    </a:solidFill>
                  </a:tcPr>
                </a:tc>
                <a:tc>
                  <a:txBody>
                    <a:bodyPr/>
                    <a:lstStyle/>
                    <a:p>
                      <a:pPr algn="l">
                        <a:buNone/>
                      </a:pPr>
                      <a:r>
                        <a:rPr lang="en-CA" sz="800" dirty="0">
                          <a:effectLst/>
                        </a:rPr>
                        <a:t>EMOTION</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909397087"/>
                  </a:ext>
                </a:extLst>
              </a:tr>
              <a:tr h="1180397">
                <a:tc>
                  <a:txBody>
                    <a:bodyPr/>
                    <a:lstStyle/>
                    <a:p>
                      <a:pPr algn="l">
                        <a:buNone/>
                      </a:pPr>
                      <a:r>
                        <a:rPr lang="en-CA" sz="800" dirty="0">
                          <a:effectLst/>
                        </a:rPr>
                        <a:t>Poem</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“the plums” 2</a:t>
                      </a:r>
                      <a:br>
                        <a:rPr lang="en-CA" sz="800" dirty="0">
                          <a:effectLst/>
                        </a:rPr>
                      </a:br>
                      <a:r>
                        <a:rPr lang="en-CA" sz="800" dirty="0">
                          <a:effectLst/>
                        </a:rPr>
                        <a:t>“the icebox” 4</a:t>
                      </a:r>
                      <a:br>
                        <a:rPr lang="en-CA" sz="800" dirty="0">
                          <a:effectLst/>
                        </a:rPr>
                      </a:br>
                      <a:r>
                        <a:rPr lang="en-CA" sz="800" dirty="0">
                          <a:effectLst/>
                        </a:rPr>
                        <a:t>“breakfast” 8</a:t>
                      </a:r>
                      <a:br>
                        <a:rPr lang="en-CA" sz="800" dirty="0">
                          <a:effectLst/>
                        </a:rPr>
                      </a:br>
                      <a:r>
                        <a:rPr lang="en-CA" sz="800" dirty="0">
                          <a:effectLst/>
                        </a:rPr>
                        <a:t>“that” 3, “which” 5</a:t>
                      </a:r>
                      <a:br>
                        <a:rPr lang="en-CA" sz="800" dirty="0">
                          <a:effectLst/>
                        </a:rPr>
                      </a:br>
                      <a:r>
                        <a:rPr lang="en-CA" sz="800" dirty="0">
                          <a:effectLst/>
                        </a:rPr>
                        <a:t>(deictics)</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Title</a:t>
                      </a:r>
                      <a:br>
                        <a:rPr lang="en-CA" sz="800" dirty="0">
                          <a:effectLst/>
                        </a:rPr>
                      </a:br>
                      <a:r>
                        <a:rPr lang="en-CA" sz="800" dirty="0">
                          <a:effectLst/>
                        </a:rPr>
                        <a:t>“I/me,” “you”</a:t>
                      </a:r>
                      <a:br>
                        <a:rPr lang="en-CA" sz="800" dirty="0">
                          <a:effectLst/>
                        </a:rPr>
                      </a:br>
                      <a:r>
                        <a:rPr lang="en-CA" sz="800" dirty="0">
                          <a:effectLst/>
                        </a:rPr>
                        <a:t>“icebox” 4,</a:t>
                      </a:r>
                      <a:br>
                        <a:rPr lang="en-CA" sz="800" dirty="0">
                          <a:effectLst/>
                        </a:rPr>
                      </a:br>
                      <a:r>
                        <a:rPr lang="en-CA" sz="800" dirty="0">
                          <a:effectLst/>
                        </a:rPr>
                        <a:t>“breakfast” 8</a:t>
                      </a:r>
                      <a:br>
                        <a:rPr lang="en-CA" sz="800" dirty="0">
                          <a:effectLst/>
                        </a:rPr>
                      </a:br>
                      <a:r>
                        <a:rPr lang="en-CA" sz="800" dirty="0">
                          <a:effectLst/>
                        </a:rPr>
                        <a:t>(domesticity)</a:t>
                      </a:r>
                      <a:br>
                        <a:rPr lang="en-CA" sz="800" dirty="0">
                          <a:effectLst/>
                        </a:rPr>
                      </a:br>
                      <a:r>
                        <a:rPr lang="en-CA" sz="800" dirty="0">
                          <a:effectLst/>
                        </a:rPr>
                        <a:t>“you were probably saving” 6–7</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a:effectLst/>
                        </a:rPr>
                        <a:t>“I have eaten” 1</a:t>
                      </a:r>
                      <a:br>
                        <a:rPr lang="en-CA" sz="800">
                          <a:effectLst/>
                        </a:rPr>
                      </a:br>
                      <a:r>
                        <a:rPr lang="en-CA" sz="800">
                          <a:effectLst/>
                        </a:rPr>
                        <a:t>“delicious” 10</a:t>
                      </a:r>
                      <a:br>
                        <a:rPr lang="en-CA" sz="800">
                          <a:effectLst/>
                        </a:rPr>
                      </a:br>
                      <a:r>
                        <a:rPr lang="en-CA" sz="800">
                          <a:effectLst/>
                        </a:rPr>
                        <a:t>“sweet” 11</a:t>
                      </a:r>
                      <a:br>
                        <a:rPr lang="en-CA" sz="800">
                          <a:effectLst/>
                        </a:rPr>
                      </a:br>
                      <a:r>
                        <a:rPr lang="en-CA" sz="800">
                          <a:effectLst/>
                        </a:rPr>
                        <a:t>“cold” 12</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a:effectLst/>
                        </a:rPr>
                        <a:t>Title</a:t>
                      </a:r>
                      <a:br>
                        <a:rPr lang="en-CA" sz="800">
                          <a:effectLst/>
                        </a:rPr>
                      </a:br>
                      <a:r>
                        <a:rPr lang="en-CA" sz="800">
                          <a:effectLst/>
                        </a:rPr>
                        <a:t>“I/me,” “you”</a:t>
                      </a:r>
                      <a:br>
                        <a:rPr lang="en-CA" sz="800">
                          <a:effectLst/>
                        </a:rPr>
                      </a:br>
                      <a:r>
                        <a:rPr lang="en-CA" sz="800">
                          <a:effectLst/>
                        </a:rPr>
                        <a:t>“Forgive me” 9</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882579001"/>
                  </a:ext>
                </a:extLst>
              </a:tr>
              <a:tr h="467406">
                <a:tc>
                  <a:txBody>
                    <a:bodyPr/>
                    <a:lstStyle/>
                    <a:p>
                      <a:pPr algn="l">
                        <a:buNone/>
                      </a:pPr>
                      <a:r>
                        <a:rPr lang="en-CA" sz="800">
                          <a:effectLst/>
                        </a:rPr>
                        <a:t>Reference Works</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Dictionary: Anglo-Saxon words</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Biography: Williams’s marriage</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Dictionary: plum</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a:effectLst/>
                        </a:rPr>
                        <a:t>Edition: “Reply”</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057227919"/>
                  </a:ext>
                </a:extLst>
              </a:tr>
              <a:tr h="895200">
                <a:tc>
                  <a:txBody>
                    <a:bodyPr/>
                    <a:lstStyle/>
                    <a:p>
                      <a:pPr algn="l">
                        <a:buNone/>
                      </a:pPr>
                      <a:r>
                        <a:rPr lang="en-CA" sz="800">
                          <a:effectLst/>
                        </a:rPr>
                        <a:t>Social and Historical Contexts</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Women’s work</a:t>
                      </a:r>
                      <a:br>
                        <a:rPr lang="en-CA" sz="800" dirty="0">
                          <a:effectLst/>
                        </a:rPr>
                      </a:br>
                      <a:r>
                        <a:rPr lang="en-CA" sz="800" dirty="0">
                          <a:effectLst/>
                        </a:rPr>
                        <a:t>labour intensive</a:t>
                      </a:r>
                      <a:br>
                        <a:rPr lang="en-CA" sz="800" dirty="0">
                          <a:effectLst/>
                        </a:rPr>
                      </a:br>
                      <a:r>
                        <a:rPr lang="en-CA" sz="800" dirty="0">
                          <a:effectLst/>
                        </a:rPr>
                        <a:t>Food an important part of women’s lives</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Nuclear family</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Intimacy in marriage</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tc>
                  <a:txBody>
                    <a:bodyPr/>
                    <a:lstStyle/>
                    <a:p>
                      <a:pPr algn="l">
                        <a:buNone/>
                      </a:pPr>
                      <a:r>
                        <a:rPr lang="en-CA" sz="800" dirty="0">
                          <a:effectLst/>
                        </a:rPr>
                        <a:t>Wife isolated</a:t>
                      </a:r>
                    </a:p>
                  </a:txBody>
                  <a:tcPr marL="22530" marR="22530" marT="22530" marB="22530" anchor="ctr">
                    <a:lnL w="4763" cap="flat" cmpd="sng" algn="ctr">
                      <a:solidFill>
                        <a:srgbClr val="DDDDDD"/>
                      </a:solidFill>
                      <a:prstDash val="solid"/>
                      <a:round/>
                      <a:headEnd type="none" w="med" len="med"/>
                      <a:tailEnd type="none" w="med" len="med"/>
                    </a:lnL>
                    <a:lnR w="4763" cap="flat" cmpd="sng" algn="ctr">
                      <a:solidFill>
                        <a:srgbClr val="DDDDDD"/>
                      </a:solidFill>
                      <a:prstDash val="solid"/>
                      <a:round/>
                      <a:headEnd type="none" w="med" len="med"/>
                      <a:tailEnd type="none" w="med" len="med"/>
                    </a:lnR>
                    <a:lnT w="4763" cap="flat" cmpd="sng" algn="ctr">
                      <a:solidFill>
                        <a:srgbClr val="DDDDDD"/>
                      </a:solidFill>
                      <a:prstDash val="solid"/>
                      <a:round/>
                      <a:headEnd type="none" w="med" len="med"/>
                      <a:tailEnd type="none" w="med" len="med"/>
                    </a:lnT>
                    <a:lnB w="4763"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75968291"/>
                  </a:ext>
                </a:extLst>
              </a:tr>
            </a:tbl>
          </a:graphicData>
        </a:graphic>
      </p:graphicFrame>
      <p:sp>
        <p:nvSpPr>
          <p:cNvPr id="4" name="文本框 3">
            <a:extLst>
              <a:ext uri="{FF2B5EF4-FFF2-40B4-BE49-F238E27FC236}">
                <a16:creationId xmlns:a16="http://schemas.microsoft.com/office/drawing/2014/main" id="{647C0874-70BB-D4FA-CECA-452924638835}"/>
              </a:ext>
            </a:extLst>
          </p:cNvPr>
          <p:cNvSpPr txBox="1"/>
          <p:nvPr/>
        </p:nvSpPr>
        <p:spPr>
          <a:xfrm>
            <a:off x="567673" y="1008927"/>
            <a:ext cx="3747716" cy="253916"/>
          </a:xfrm>
          <a:prstGeom prst="rect">
            <a:avLst/>
          </a:prstGeom>
          <a:noFill/>
        </p:spPr>
        <p:txBody>
          <a:bodyPr wrap="square">
            <a:spAutoFit/>
          </a:bodyPr>
          <a:lstStyle/>
          <a:p>
            <a:r>
              <a:rPr lang="en-CA" sz="1000" dirty="0"/>
              <a:t>Third Version of My Chart: Adding Evidence About Social Context</a:t>
            </a:r>
          </a:p>
        </p:txBody>
      </p:sp>
      <p:sp>
        <p:nvSpPr>
          <p:cNvPr id="6" name="Rectangle 1">
            <a:extLst>
              <a:ext uri="{FF2B5EF4-FFF2-40B4-BE49-F238E27FC236}">
                <a16:creationId xmlns:a16="http://schemas.microsoft.com/office/drawing/2014/main" id="{69A4EDEA-C2B6-3503-C0FC-EF113FC38B11}"/>
              </a:ext>
            </a:extLst>
          </p:cNvPr>
          <p:cNvSpPr>
            <a:spLocks noChangeArrowheads="1"/>
          </p:cNvSpPr>
          <p:nvPr/>
        </p:nvSpPr>
        <p:spPr bwMode="auto">
          <a:xfrm>
            <a:off x="4871981" y="1415816"/>
            <a:ext cx="372603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FIRST IMPRESSIONS, REVIEWED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My first impressions, from my close reading of the poem, were as follows: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rPr>
              <a:t>“This Is Just To Say” is about sensual, moral, and interpersonal experience in the material, everyday world.</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chemeClr val="tx1"/>
                </a:solidFill>
                <a:effectLst/>
                <a:latin typeface="Arial" panose="020B0604020202020204" pitchFamily="34" charset="0"/>
              </a:rPr>
              <a:t>“This Is Just To Say” is about relationships between people and about how these relationships are shaped by use of language.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chemeClr val="tx1"/>
                </a:solidFill>
                <a:effectLst/>
                <a:latin typeface="Arial" panose="020B0604020202020204" pitchFamily="34" charset="0"/>
              </a:rPr>
              <a:t>“This Is Just To Say” is about poetry and how it is different or the same as everyday acts of communication.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7202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337E8-F1BC-91A9-163B-517A63F4FB77}"/>
              </a:ext>
            </a:extLst>
          </p:cNvPr>
          <p:cNvSpPr>
            <a:spLocks noGrp="1"/>
          </p:cNvSpPr>
          <p:nvPr>
            <p:ph type="title"/>
          </p:nvPr>
        </p:nvSpPr>
        <p:spPr>
          <a:xfrm>
            <a:off x="1037674" y="261649"/>
            <a:ext cx="7288583" cy="1182335"/>
          </a:xfrm>
        </p:spPr>
        <p:txBody>
          <a:bodyPr anchor="ctr">
            <a:normAutofit/>
          </a:bodyPr>
          <a:lstStyle/>
          <a:p>
            <a:r>
              <a:rPr lang="en-US" sz="3000" dirty="0"/>
              <a:t>Important Notes</a:t>
            </a:r>
          </a:p>
        </p:txBody>
      </p:sp>
      <p:sp>
        <p:nvSpPr>
          <p:cNvPr id="4" name="文本框 3">
            <a:extLst>
              <a:ext uri="{FF2B5EF4-FFF2-40B4-BE49-F238E27FC236}">
                <a16:creationId xmlns:a16="http://schemas.microsoft.com/office/drawing/2014/main" id="{9B91A74A-2BB4-D3A2-1BD5-1214668F7B9F}"/>
              </a:ext>
            </a:extLst>
          </p:cNvPr>
          <p:cNvSpPr txBox="1"/>
          <p:nvPr/>
        </p:nvSpPr>
        <p:spPr>
          <a:xfrm>
            <a:off x="1617643" y="1241320"/>
            <a:ext cx="4572000" cy="923330"/>
          </a:xfrm>
          <a:prstGeom prst="rect">
            <a:avLst/>
          </a:prstGeom>
          <a:noFill/>
        </p:spPr>
        <p:txBody>
          <a:bodyPr wrap="square">
            <a:spAutoFit/>
          </a:bodyPr>
          <a:lstStyle/>
          <a:p>
            <a:pPr lvl="0"/>
            <a:r>
              <a:rPr lang="en-US" dirty="0"/>
              <a:t>Next week is reading week! No readings, but please do prepare for the in-class essay if you are writing it</a:t>
            </a:r>
          </a:p>
        </p:txBody>
      </p:sp>
      <p:sp>
        <p:nvSpPr>
          <p:cNvPr id="7" name="文本框 6">
            <a:extLst>
              <a:ext uri="{FF2B5EF4-FFF2-40B4-BE49-F238E27FC236}">
                <a16:creationId xmlns:a16="http://schemas.microsoft.com/office/drawing/2014/main" id="{BFF7E481-E006-6EB3-43F3-0FBAD731BF7F}"/>
              </a:ext>
            </a:extLst>
          </p:cNvPr>
          <p:cNvSpPr txBox="1"/>
          <p:nvPr/>
        </p:nvSpPr>
        <p:spPr>
          <a:xfrm>
            <a:off x="2294978" y="2249273"/>
            <a:ext cx="4572000" cy="646331"/>
          </a:xfrm>
          <a:prstGeom prst="rect">
            <a:avLst/>
          </a:prstGeom>
          <a:noFill/>
        </p:spPr>
        <p:txBody>
          <a:bodyPr wrap="square">
            <a:spAutoFit/>
          </a:bodyPr>
          <a:lstStyle/>
          <a:p>
            <a:pPr lvl="0"/>
            <a:r>
              <a:rPr lang="en-US" dirty="0"/>
              <a:t>Grade contract Renegotiation due on February 23</a:t>
            </a:r>
            <a:r>
              <a:rPr lang="en-US" baseline="30000" dirty="0"/>
              <a:t>rd</a:t>
            </a:r>
            <a:endParaRPr lang="en-US" dirty="0"/>
          </a:p>
        </p:txBody>
      </p:sp>
      <p:sp>
        <p:nvSpPr>
          <p:cNvPr id="9" name="文本框 8">
            <a:extLst>
              <a:ext uri="{FF2B5EF4-FFF2-40B4-BE49-F238E27FC236}">
                <a16:creationId xmlns:a16="http://schemas.microsoft.com/office/drawing/2014/main" id="{6BC83572-5070-0881-A1D5-6662873244F4}"/>
              </a:ext>
            </a:extLst>
          </p:cNvPr>
          <p:cNvSpPr txBox="1"/>
          <p:nvPr/>
        </p:nvSpPr>
        <p:spPr>
          <a:xfrm>
            <a:off x="2208882" y="2932319"/>
            <a:ext cx="4572000" cy="646331"/>
          </a:xfrm>
          <a:prstGeom prst="rect">
            <a:avLst/>
          </a:prstGeom>
          <a:noFill/>
        </p:spPr>
        <p:txBody>
          <a:bodyPr wrap="square">
            <a:spAutoFit/>
          </a:bodyPr>
          <a:lstStyle/>
          <a:p>
            <a:pPr lvl="0"/>
            <a:r>
              <a:rPr lang="en-US" dirty="0"/>
              <a:t>In-Class Essay on the 23</a:t>
            </a:r>
            <a:r>
              <a:rPr lang="en-US" baseline="30000" dirty="0"/>
              <a:t>rd</a:t>
            </a:r>
            <a:r>
              <a:rPr lang="en-US" dirty="0"/>
              <a:t> (If you are with C contract, skip this class)</a:t>
            </a:r>
          </a:p>
        </p:txBody>
      </p:sp>
      <p:sp>
        <p:nvSpPr>
          <p:cNvPr id="13" name="文本框 12">
            <a:extLst>
              <a:ext uri="{FF2B5EF4-FFF2-40B4-BE49-F238E27FC236}">
                <a16:creationId xmlns:a16="http://schemas.microsoft.com/office/drawing/2014/main" id="{5C62F589-38B1-5CE3-0D0E-709D6D18C3DA}"/>
              </a:ext>
            </a:extLst>
          </p:cNvPr>
          <p:cNvSpPr txBox="1"/>
          <p:nvPr/>
        </p:nvSpPr>
        <p:spPr>
          <a:xfrm>
            <a:off x="2330067" y="3706549"/>
            <a:ext cx="4572000" cy="646331"/>
          </a:xfrm>
          <a:prstGeom prst="rect">
            <a:avLst/>
          </a:prstGeom>
          <a:noFill/>
        </p:spPr>
        <p:txBody>
          <a:bodyPr wrap="square">
            <a:spAutoFit/>
          </a:bodyPr>
          <a:lstStyle/>
          <a:p>
            <a:pPr lvl="0"/>
            <a:r>
              <a:rPr lang="en-US" dirty="0"/>
              <a:t>No tutorial on Week 8. I will still be posting questions for the readings that week.</a:t>
            </a:r>
          </a:p>
        </p:txBody>
      </p:sp>
    </p:spTree>
    <p:extLst>
      <p:ext uri="{BB962C8B-B14F-4D97-AF65-F5344CB8AC3E}">
        <p14:creationId xmlns:p14="http://schemas.microsoft.com/office/powerpoint/2010/main" val="3425229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698" y="261649"/>
            <a:ext cx="7533017" cy="658297"/>
          </a:xfrm>
        </p:spPr>
        <p:txBody>
          <a:bodyPr anchor="ctr">
            <a:normAutofit/>
          </a:bodyPr>
          <a:lstStyle/>
          <a:p>
            <a:r>
              <a:rPr lang="en-US" sz="3000" dirty="0"/>
              <a:t>Introductions – what’s the deal?</a:t>
            </a:r>
          </a:p>
        </p:txBody>
      </p:sp>
      <p:sp>
        <p:nvSpPr>
          <p:cNvPr id="4" name="文本框 3">
            <a:extLst>
              <a:ext uri="{FF2B5EF4-FFF2-40B4-BE49-F238E27FC236}">
                <a16:creationId xmlns:a16="http://schemas.microsoft.com/office/drawing/2014/main" id="{873148A7-5813-78FC-2686-0D173A437B87}"/>
              </a:ext>
            </a:extLst>
          </p:cNvPr>
          <p:cNvSpPr txBox="1"/>
          <p:nvPr/>
        </p:nvSpPr>
        <p:spPr>
          <a:xfrm>
            <a:off x="647700" y="2290606"/>
            <a:ext cx="7696200" cy="646331"/>
          </a:xfrm>
          <a:prstGeom prst="rect">
            <a:avLst/>
          </a:prstGeom>
          <a:noFill/>
        </p:spPr>
        <p:txBody>
          <a:bodyPr wrap="square">
            <a:spAutoFit/>
          </a:bodyPr>
          <a:lstStyle/>
          <a:p>
            <a:pPr lvl="0"/>
            <a:r>
              <a:rPr lang="en-US" dirty="0"/>
              <a:t>Roadmap Template: “To demonstrate this, first I will {paragraph 1]. Then I will [paragraph 2], followed by [paragraph 3]. </a:t>
            </a:r>
          </a:p>
        </p:txBody>
      </p:sp>
      <p:sp>
        <p:nvSpPr>
          <p:cNvPr id="9" name="文本框 8">
            <a:extLst>
              <a:ext uri="{FF2B5EF4-FFF2-40B4-BE49-F238E27FC236}">
                <a16:creationId xmlns:a16="http://schemas.microsoft.com/office/drawing/2014/main" id="{AC725604-5DA9-B666-496A-46322D4FA2C4}"/>
              </a:ext>
            </a:extLst>
          </p:cNvPr>
          <p:cNvSpPr txBox="1"/>
          <p:nvPr/>
        </p:nvSpPr>
        <p:spPr>
          <a:xfrm>
            <a:off x="747713" y="1251197"/>
            <a:ext cx="7353300" cy="369332"/>
          </a:xfrm>
          <a:prstGeom prst="rect">
            <a:avLst/>
          </a:prstGeom>
          <a:noFill/>
        </p:spPr>
        <p:txBody>
          <a:bodyPr wrap="square">
            <a:spAutoFit/>
          </a:bodyPr>
          <a:lstStyle/>
          <a:p>
            <a:pPr lvl="0"/>
            <a:r>
              <a:rPr lang="en-US" dirty="0"/>
              <a:t>Thesis Template: “In this essay, I will argue that [BLANK] “</a:t>
            </a:r>
          </a:p>
        </p:txBody>
      </p:sp>
      <p:sp>
        <p:nvSpPr>
          <p:cNvPr id="13" name="文本框 12">
            <a:extLst>
              <a:ext uri="{FF2B5EF4-FFF2-40B4-BE49-F238E27FC236}">
                <a16:creationId xmlns:a16="http://schemas.microsoft.com/office/drawing/2014/main" id="{F659A387-B1D7-FE26-1104-9C2E040F4B22}"/>
              </a:ext>
            </a:extLst>
          </p:cNvPr>
          <p:cNvSpPr txBox="1"/>
          <p:nvPr/>
        </p:nvSpPr>
        <p:spPr>
          <a:xfrm>
            <a:off x="700088" y="3529662"/>
            <a:ext cx="7861627" cy="646331"/>
          </a:xfrm>
          <a:prstGeom prst="rect">
            <a:avLst/>
          </a:prstGeom>
          <a:noFill/>
        </p:spPr>
        <p:txBody>
          <a:bodyPr wrap="square">
            <a:spAutoFit/>
          </a:bodyPr>
          <a:lstStyle/>
          <a:p>
            <a:pPr lvl="0"/>
            <a:r>
              <a:rPr lang="en-US" dirty="0"/>
              <a:t>So What Template: “This argument is significant because [So What Statement].</a:t>
            </a:r>
          </a:p>
        </p:txBody>
      </p:sp>
    </p:spTree>
    <p:extLst>
      <p:ext uri="{BB962C8B-B14F-4D97-AF65-F5344CB8AC3E}">
        <p14:creationId xmlns:p14="http://schemas.microsoft.com/office/powerpoint/2010/main" val="387305834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369</TotalTime>
  <Words>1852</Words>
  <Application>Microsoft Office PowerPoint</Application>
  <PresentationFormat>全屏显示(16:9)</PresentationFormat>
  <Paragraphs>176</Paragraphs>
  <Slides>16</Slides>
  <Notes>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16</vt:i4>
      </vt:variant>
    </vt:vector>
  </HeadingPairs>
  <TitlesOfParts>
    <vt:vector size="24" baseType="lpstr">
      <vt:lpstr>Google Sans Text</vt:lpstr>
      <vt:lpstr>Segoe WPC</vt:lpstr>
      <vt:lpstr>Aptos</vt:lpstr>
      <vt:lpstr>Aptos Display</vt:lpstr>
      <vt:lpstr>Arial</vt:lpstr>
      <vt:lpstr>Inter</vt:lpstr>
      <vt:lpstr>Poppins</vt:lpstr>
      <vt:lpstr>Office 主题​​</vt:lpstr>
      <vt:lpstr>PowerPoint 演示文稿</vt:lpstr>
      <vt:lpstr>PowerPoint 演示文稿</vt:lpstr>
      <vt:lpstr>PowerPoint 演示文稿</vt:lpstr>
      <vt:lpstr>PowerPoint 演示文稿</vt:lpstr>
      <vt:lpstr>Review – Last week we looked at themes</vt:lpstr>
      <vt:lpstr>What is a ‘theme’ in literature?</vt:lpstr>
      <vt:lpstr>PowerPoint 演示文稿</vt:lpstr>
      <vt:lpstr>Essay 2</vt:lpstr>
      <vt:lpstr>Three Argumentative  Body Paragraphs </vt:lpstr>
      <vt:lpstr>PowerPoint 演示文稿</vt:lpstr>
      <vt:lpstr>PowerPoint 演示文稿</vt:lpstr>
      <vt:lpstr>Using your evidence chart from last week, write a thesis and so what statements using the following templates:</vt:lpstr>
      <vt:lpstr>PowerPoint 演示文稿</vt:lpstr>
      <vt:lpstr>PowerPoint 演示文稿</vt:lpstr>
      <vt:lpstr>Important Notes</vt:lpstr>
      <vt:lpstr>Introductions – what’s the deal?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Zhehao Sun</cp:lastModifiedBy>
  <cp:revision>20</cp:revision>
  <dcterms:created xsi:type="dcterms:W3CDTF">2026-01-14T07:27:48Z</dcterms:created>
  <dcterms:modified xsi:type="dcterms:W3CDTF">2026-02-11T06:55:15Z</dcterms:modified>
</cp:coreProperties>
</file>